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311" r:id="rId8"/>
    <p:sldId id="302" r:id="rId9"/>
    <p:sldId id="306" r:id="rId10"/>
    <p:sldId id="313" r:id="rId11"/>
    <p:sldId id="312" r:id="rId12"/>
    <p:sldId id="305" r:id="rId13"/>
    <p:sldId id="315" r:id="rId14"/>
    <p:sldId id="303" r:id="rId15"/>
    <p:sldId id="314" r:id="rId16"/>
    <p:sldId id="301" r:id="rId17"/>
    <p:sldId id="307" r:id="rId18"/>
    <p:sldId id="308" r:id="rId19"/>
    <p:sldId id="316" r:id="rId20"/>
    <p:sldId id="304" r:id="rId21"/>
    <p:sldId id="320" r:id="rId22"/>
    <p:sldId id="318" r:id="rId23"/>
    <p:sldId id="319" r:id="rId24"/>
    <p:sldId id="321" r:id="rId25"/>
    <p:sldId id="289" r:id="rId26"/>
    <p:sldId id="261" r:id="rId27"/>
  </p:sldIdLst>
  <p:sldSz cx="12192000" cy="6858000"/>
  <p:notesSz cx="6858000" cy="9144000"/>
  <p:embeddedFontLst>
    <p:embeddedFont>
      <p:font typeface="Helvetica Neue" panose="020B0604020202020204" charset="0"/>
      <p:regular r:id="rId29"/>
      <p:bold r:id="rId30"/>
      <p:italic r:id="rId31"/>
      <p:boldItalic r:id="rId32"/>
    </p:embeddedFont>
    <p:embeddedFont>
      <p:font typeface="Helvetica Neue Light" panose="020B0604020202020204" charset="0"/>
      <p:regular r:id="rId33"/>
      <p:bold r:id="rId34"/>
      <p:italic r:id="rId35"/>
      <p:boldItalic r:id="rId36"/>
    </p:embeddedFont>
    <p:embeddedFont>
      <p:font typeface="Manrope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h9VR97KJQ+WksNuSOp9ZuQxzPL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font" Target="fonts/font6.fntdata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1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53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346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131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355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3512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4612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0091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8708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712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038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6853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6378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5347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0173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265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949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6362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9811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6661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8477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ctrTitle"/>
          </p:nvPr>
        </p:nvSpPr>
        <p:spPr>
          <a:xfrm>
            <a:off x="2548581" y="2505673"/>
            <a:ext cx="70947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3690730" y="3532213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11460295" y="6473109"/>
            <a:ext cx="731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kshop title slide">
  <p:cSld name="Workshop title slid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0947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2" descr="A logo with white dot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80843" y="236128"/>
            <a:ext cx="2653569" cy="132678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 txBox="1"/>
          <p:nvPr/>
        </p:nvSpPr>
        <p:spPr>
          <a:xfrm>
            <a:off x="0" y="6521547"/>
            <a:ext cx="48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Canadian Bioinformatics Workshops | bioinformatics.ca</a:t>
            </a: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782641" y="3276720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45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6492874"/>
            <a:ext cx="12192000" cy="365100"/>
          </a:xfrm>
          <a:prstGeom prst="rect">
            <a:avLst/>
          </a:prstGeom>
          <a:solidFill>
            <a:srgbClr val="7024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9"/>
          <p:cNvSpPr txBox="1"/>
          <p:nvPr/>
        </p:nvSpPr>
        <p:spPr>
          <a:xfrm>
            <a:off x="0" y="6521547"/>
            <a:ext cx="48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Canadian Bioinformatics Workshops | bioinformatics.ca</a:t>
            </a:r>
            <a:endParaRPr sz="1400" b="0" i="0" u="none" strike="noStrike" cap="non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" name="Google Shape;20;p9" descr="Purple circles on a black background&#10;&#10;AI-generated content may be incorrect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352340" y="0"/>
            <a:ext cx="839659" cy="83965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0" y="0"/>
            <a:ext cx="8610600" cy="6858000"/>
          </a:xfrm>
          <a:prstGeom prst="rect">
            <a:avLst/>
          </a:prstGeom>
          <a:gradFill>
            <a:gsLst>
              <a:gs pos="0">
                <a:srgbClr val="24393F"/>
              </a:gs>
              <a:gs pos="54000">
                <a:srgbClr val="70247F"/>
              </a:gs>
              <a:gs pos="100000">
                <a:srgbClr val="B40805"/>
              </a:gs>
            </a:gsLst>
            <a:path path="circle">
              <a:fillToRect l="100000" t="100000"/>
            </a:path>
            <a:tileRect r="-100000" b="-100000"/>
          </a:gradFill>
          <a:ln w="19050" cap="flat" cmpd="sng">
            <a:solidFill>
              <a:srgbClr val="08283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24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6801238" y="3429000"/>
            <a:ext cx="4567235" cy="78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4400" b="1">
                <a:latin typeface="Helvetica Neue"/>
                <a:ea typeface="Helvetica Neue"/>
                <a:cs typeface="Helvetica Neue"/>
                <a:sym typeface="Helvetica Neue"/>
              </a:rPr>
              <a:t>bioinformatics.ca</a:t>
            </a:r>
            <a:endParaRPr/>
          </a:p>
        </p:txBody>
      </p:sp>
      <p:pic>
        <p:nvPicPr>
          <p:cNvPr id="83" name="Google Shape;83;p1" descr="A logo with white do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2297" r="12122"/>
          <a:stretch/>
        </p:blipFill>
        <p:spPr>
          <a:xfrm>
            <a:off x="670379" y="1341316"/>
            <a:ext cx="5766816" cy="381509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6648092" y="4210755"/>
            <a:ext cx="4873529" cy="41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bioinformaticsdotca.github.io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523913" y="46551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5493" y="271515"/>
            <a:ext cx="4021014" cy="603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ctrTitle"/>
          </p:nvPr>
        </p:nvSpPr>
        <p:spPr>
          <a:xfrm>
            <a:off x="212377" y="3135079"/>
            <a:ext cx="8093915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</a:pPr>
            <a:r>
              <a:rPr lang="en-US" b="1" dirty="0"/>
              <a:t>Module #1b:</a:t>
            </a:r>
            <a:br>
              <a:rPr lang="en-US" b="1" dirty="0"/>
            </a:br>
            <a:r>
              <a:rPr lang="en-US" b="1" dirty="0"/>
              <a:t>Sequencing Technology Applications</a:t>
            </a:r>
            <a:endParaRPr dirty="0"/>
          </a:p>
        </p:txBody>
      </p:sp>
      <p:sp>
        <p:nvSpPr>
          <p:cNvPr id="96" name="Google Shape;96;p3"/>
          <p:cNvSpPr txBox="1">
            <a:spLocks noGrp="1"/>
          </p:cNvSpPr>
          <p:nvPr>
            <p:ph type="subTitle" idx="1"/>
          </p:nvPr>
        </p:nvSpPr>
        <p:spPr>
          <a:xfrm>
            <a:off x="1782641" y="4227244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Dr. Erin Pleasance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CBW High-Throughput Genomics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November 4-6, 2026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</p:txBody>
      </p:sp>
      <p:pic>
        <p:nvPicPr>
          <p:cNvPr id="98" name="Google Shape;98;p3" title="HTG_logo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9561" y="557625"/>
            <a:ext cx="2881750" cy="28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5C7BE7E-53ED-49D9-AB10-8FB74D7BC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213" y="3780581"/>
            <a:ext cx="2698292" cy="1312201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b="0" i="0" u="none" strike="noStrike" baseline="0" dirty="0">
                <a:latin typeface="Helvetica Neue Light" panose="020B0604020202020204" charset="0"/>
              </a:rPr>
              <a:t>Considerations in </a:t>
            </a:r>
            <a:r>
              <a:rPr lang="en-US" sz="2400" b="0" i="0" u="none" strike="noStrike" baseline="0" dirty="0" err="1">
                <a:latin typeface="Helvetica Neue Light" panose="020B0604020202020204" charset="0"/>
              </a:rPr>
              <a:t>analysing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large genomic datasets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Data sharing in genomics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Overview of applications of sequencing technologies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Considerations in choosing your approach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Genomics produces a lot of data</a:t>
            </a:r>
            <a:br>
              <a:rPr lang="en-US" dirty="0"/>
            </a:br>
            <a:r>
              <a:rPr lang="en-US" dirty="0"/>
              <a:t>… this brings complexities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Data storage size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Data sharing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Statistical considerations</a:t>
            </a:r>
            <a:endParaRPr lang="en-US" sz="2000" dirty="0">
              <a:latin typeface="Helvetica Neue Light" panose="020B0604020202020204" charset="0"/>
            </a:endParaRPr>
          </a:p>
          <a:p>
            <a:pPr lvl="1"/>
            <a:endParaRPr lang="en-US" sz="2000" b="0" i="0" u="none" strike="noStrike" baseline="0" dirty="0">
              <a:latin typeface="Helvetica Neue Light" panose="020B0604020202020204" charset="0"/>
            </a:endParaRPr>
          </a:p>
          <a:p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72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size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9399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One Illumina </a:t>
            </a:r>
            <a:r>
              <a:rPr lang="en-US" sz="2400" dirty="0" err="1">
                <a:latin typeface="Helvetica Neue Light" panose="020B0604020202020204" charset="0"/>
              </a:rPr>
              <a:t>NovaSeqX</a:t>
            </a:r>
            <a:r>
              <a:rPr lang="en-US" sz="2400" dirty="0">
                <a:latin typeface="Helvetica Neue Light" panose="020B0604020202020204" charset="0"/>
              </a:rPr>
              <a:t> 25B </a:t>
            </a:r>
            <a:r>
              <a:rPr lang="en-US" sz="2400" dirty="0" err="1">
                <a:latin typeface="Helvetica Neue Light" panose="020B0604020202020204" charset="0"/>
              </a:rPr>
              <a:t>flowcell</a:t>
            </a:r>
            <a:r>
              <a:rPr lang="en-US" sz="2400" dirty="0">
                <a:latin typeface="Helvetica Neue Light" panose="020B0604020202020204" charset="0"/>
              </a:rPr>
              <a:t> can create 10 Tb      (10,000,000,000,000 bases) in one run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Files are large – </a:t>
            </a:r>
            <a:r>
              <a:rPr lang="en-US" sz="2400" dirty="0" err="1">
                <a:latin typeface="Helvetica Neue Light" panose="020B0604020202020204" charset="0"/>
              </a:rPr>
              <a:t>eg.</a:t>
            </a:r>
            <a:r>
              <a:rPr lang="en-US" sz="2400" dirty="0">
                <a:latin typeface="Helvetica Neue Light" panose="020B0604020202020204" charset="0"/>
              </a:rPr>
              <a:t> one human genome bam/cram can be easily 50-300 GB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Storage costs are signific</a:t>
            </a:r>
            <a:r>
              <a:rPr lang="en-US" sz="2400" dirty="0">
                <a:latin typeface="Helvetica Neue Light" panose="020B0604020202020204" charset="0"/>
              </a:rPr>
              <a:t>ant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Data processing can require significant compute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Decisions about </a:t>
            </a:r>
            <a:r>
              <a:rPr lang="en-US" sz="2400" dirty="0">
                <a:latin typeface="Helvetica Neue Light" panose="020B0604020202020204" charset="0"/>
              </a:rPr>
              <a:t>local vs. cloud storage/processing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0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Some common genomics databases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SRA (NCBI): Publicly available large sequencing datasets 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EGA, </a:t>
            </a:r>
            <a:r>
              <a:rPr lang="en-US" sz="2400" dirty="0" err="1">
                <a:latin typeface="Helvetica Neue Light" panose="020B0604020202020204" charset="0"/>
              </a:rPr>
              <a:t>dbGAP</a:t>
            </a:r>
            <a:r>
              <a:rPr lang="en-US" sz="2400" dirty="0">
                <a:latin typeface="Helvetica Neue Light" panose="020B0604020202020204" charset="0"/>
              </a:rPr>
              <a:t>: Individual sequencing datasets with metadata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GEO: Other genomics data </a:t>
            </a:r>
            <a:r>
              <a:rPr lang="en-US" sz="2400" b="0" i="0" u="none" strike="noStrike" baseline="0" dirty="0" err="1">
                <a:latin typeface="Helvetica Neue Light" panose="020B0604020202020204" charset="0"/>
              </a:rPr>
              <a:t>eg.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expression data</a:t>
            </a:r>
          </a:p>
          <a:p>
            <a:pPr algn="l"/>
            <a:r>
              <a:rPr lang="en-US" sz="2400" dirty="0" err="1">
                <a:latin typeface="Helvetica Neue Light" panose="020B0604020202020204" charset="0"/>
              </a:rPr>
              <a:t>dbSNP</a:t>
            </a:r>
            <a:r>
              <a:rPr lang="en-US" sz="2400" dirty="0">
                <a:latin typeface="Helvetica Neue Light" panose="020B0604020202020204" charset="0"/>
              </a:rPr>
              <a:t>, DGV, </a:t>
            </a:r>
            <a:r>
              <a:rPr lang="en-US" sz="2400" dirty="0" err="1">
                <a:latin typeface="Helvetica Neue Light" panose="020B0604020202020204" charset="0"/>
              </a:rPr>
              <a:t>ClinVar</a:t>
            </a:r>
            <a:r>
              <a:rPr lang="en-US" sz="2400" dirty="0">
                <a:latin typeface="Helvetica Neue Light" panose="020B0604020202020204" charset="0"/>
              </a:rPr>
              <a:t>: Databases of variation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94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sharing in 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Data sharing is central to genomics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Findable, Accessible, Interoperable, and Reusable (FAIR) principles</a:t>
            </a:r>
          </a:p>
          <a:p>
            <a:pPr lvl="1"/>
            <a:r>
              <a:rPr lang="en-US" sz="2000" b="0" i="0" u="none" strike="noStrike" baseline="0" dirty="0">
                <a:latin typeface="Helvetica Neue Light" panose="020B0604020202020204" charset="0"/>
              </a:rPr>
              <a:t>Findable: Data are in a searchable database, with a unique ID, and metadata</a:t>
            </a:r>
          </a:p>
          <a:p>
            <a:pPr lvl="1"/>
            <a:r>
              <a:rPr lang="en-US" sz="2000" b="0" i="0" u="none" strike="noStrike" baseline="0" dirty="0">
                <a:latin typeface="Helvetica Neue Light" panose="020B0604020202020204" charset="0"/>
              </a:rPr>
              <a:t>Accessible: Data and metadata can be accessed in a standard way, with authorization as appropriate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Interoperable: Data and metadata are in standard format using standard ontologies</a:t>
            </a:r>
          </a:p>
          <a:p>
            <a:pPr lvl="1"/>
            <a:r>
              <a:rPr lang="en-US" sz="2000" b="0" i="0" u="none" strike="noStrike" baseline="0" dirty="0">
                <a:latin typeface="Helvetica Neue Light" panose="020B0604020202020204" charset="0"/>
              </a:rPr>
              <a:t>Reusable: Clear licensing, clear metadata, meet community standards</a:t>
            </a:r>
          </a:p>
          <a:p>
            <a:pPr lvl="1"/>
            <a:r>
              <a:rPr lang="en-US" sz="2000" b="0" i="0" u="none" strike="noStrike" baseline="0" dirty="0">
                <a:latin typeface="Helvetica Neue Light" panose="020B0604020202020204" charset="0"/>
              </a:rPr>
              <a:t>See https://www.nature.com/articles/sdata201618</a:t>
            </a:r>
          </a:p>
          <a:p>
            <a:pPr lvl="1"/>
            <a:endParaRPr lang="en-US" sz="2000" dirty="0">
              <a:latin typeface="Helvetica Neue Light" panose="020B0604020202020204" charset="0"/>
            </a:endParaRPr>
          </a:p>
          <a:p>
            <a:r>
              <a:rPr lang="en-US" sz="2400" b="0" i="0" u="none" strike="noStrike" baseline="0" dirty="0">
                <a:latin typeface="Helvetica Neue Light" panose="020B0604020202020204" charset="0"/>
              </a:rPr>
              <a:t>Required by many journals for publication</a:t>
            </a:r>
          </a:p>
          <a:p>
            <a:r>
              <a:rPr lang="en-US" sz="2400" dirty="0">
                <a:latin typeface="Helvetica Neue Light" panose="020B0604020202020204" charset="0"/>
              </a:rPr>
              <a:t>Code sharing is also commonly required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55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Data sharing and privacy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275008" y="1825625"/>
            <a:ext cx="300445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Genomic data can be inherently identifiable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Manage through anonymization and access control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074" name="Picture 2" descr="Fig. 1: Taxonomy of known privacy attacks in genomic data sharing.">
            <a:extLst>
              <a:ext uri="{FF2B5EF4-FFF2-40B4-BE49-F238E27FC236}">
                <a16:creationId xmlns:a16="http://schemas.microsoft.com/office/drawing/2014/main" id="{A1E721F5-E106-4300-87F1-AF05C7E98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858" y="1653342"/>
            <a:ext cx="7888467" cy="469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FE572-14E9-4DE3-AAF9-0B7D81E61DE3}"/>
              </a:ext>
            </a:extLst>
          </p:cNvPr>
          <p:cNvSpPr txBox="1"/>
          <p:nvPr/>
        </p:nvSpPr>
        <p:spPr>
          <a:xfrm>
            <a:off x="9927772" y="6041469"/>
            <a:ext cx="208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32601475</a:t>
            </a:r>
          </a:p>
        </p:txBody>
      </p:sp>
    </p:spTree>
    <p:extLst>
      <p:ext uri="{BB962C8B-B14F-4D97-AF65-F5344CB8AC3E}">
        <p14:creationId xmlns:p14="http://schemas.microsoft.com/office/powerpoint/2010/main" val="42025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EC2B81-9B16-47B4-89A2-02465E1C4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1" b="6498"/>
          <a:stretch/>
        </p:blipFill>
        <p:spPr bwMode="auto">
          <a:xfrm>
            <a:off x="2129704" y="68752"/>
            <a:ext cx="7187221" cy="625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5BFAF0-6267-4FD0-9F83-4224DF2B7751}"/>
              </a:ext>
            </a:extLst>
          </p:cNvPr>
          <p:cNvSpPr txBox="1"/>
          <p:nvPr/>
        </p:nvSpPr>
        <p:spPr>
          <a:xfrm>
            <a:off x="9789978" y="5881152"/>
            <a:ext cx="2061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35072136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31878-BE87-45B9-BA11-7B05FC391711}"/>
              </a:ext>
            </a:extLst>
          </p:cNvPr>
          <p:cNvSpPr txBox="1"/>
          <p:nvPr/>
        </p:nvSpPr>
        <p:spPr>
          <a:xfrm>
            <a:off x="209426" y="5665709"/>
            <a:ext cx="3123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Helvetica Neue Light" panose="020B0604020202020204" charset="0"/>
              </a:rPr>
              <a:t>Global Alliance for Genomics and Health (GA4GH)</a:t>
            </a:r>
            <a:endParaRPr lang="en-CA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6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Scientific principles</a:t>
            </a:r>
            <a:br>
              <a:rPr lang="en-US" dirty="0"/>
            </a:br>
            <a:r>
              <a:rPr lang="en-US" dirty="0"/>
              <a:t>in 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85135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Positive controls, negative controls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Measure false positives, false negatives and report sensitivity, specificity </a:t>
            </a:r>
            <a:r>
              <a:rPr lang="en-US" sz="2400" dirty="0" err="1">
                <a:latin typeface="Helvetica Neue Light" panose="020B0604020202020204" charset="0"/>
              </a:rPr>
              <a:t>etc</a:t>
            </a:r>
            <a:endParaRPr lang="en-US" sz="240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Appropriate statistics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E5C3187E-7822-4186-A629-30E96B5A7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133" y="99159"/>
            <a:ext cx="3477425" cy="63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F2513D-2228-424B-8B7B-8507156670AD}"/>
              </a:ext>
            </a:extLst>
          </p:cNvPr>
          <p:cNvSpPr txBox="1"/>
          <p:nvPr/>
        </p:nvSpPr>
        <p:spPr>
          <a:xfrm>
            <a:off x="6495189" y="6104426"/>
            <a:ext cx="5645561" cy="323646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8" tIns="53578" rIns="53578" bIns="53578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Adapted from Wikipedia.org and manishmazumder5.substack.com</a:t>
            </a:r>
            <a:endParaRPr kumimoji="0" lang="en-CA" b="0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 panose="020B060402020202020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53930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Statistical challenges with large datasets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95014" y="1333786"/>
            <a:ext cx="11543440" cy="508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Statistical significance with alpha = 0.05 assumes you are doing </a:t>
            </a:r>
            <a:r>
              <a:rPr lang="en-US" sz="2400" b="1" i="0" u="none" strike="noStrike" baseline="0" dirty="0">
                <a:latin typeface="Helvetica Neue Light" panose="020B0604020202020204" charset="0"/>
              </a:rPr>
              <a:t>one test</a:t>
            </a:r>
          </a:p>
          <a:p>
            <a:pPr algn="l"/>
            <a:r>
              <a:rPr lang="en-US" sz="2400" i="0" u="none" strike="noStrike" baseline="0" dirty="0">
                <a:latin typeface="Helvetica Neue Light" panose="020B0604020202020204" charset="0"/>
              </a:rPr>
              <a:t>What if you are testing every gene </a:t>
            </a:r>
            <a:r>
              <a:rPr lang="en-US" sz="2400" dirty="0">
                <a:latin typeface="Helvetica Neue Light" panose="020B0604020202020204" charset="0"/>
              </a:rPr>
              <a:t>for differential expression</a:t>
            </a:r>
            <a:r>
              <a:rPr lang="en-US" sz="2400" i="0" u="none" strike="noStrike" baseline="0" dirty="0">
                <a:latin typeface="Helvetica Neue Light" panose="020B0604020202020204" charset="0"/>
              </a:rPr>
              <a:t>? Every organism in a microbiome sample? Every base for the presence of a motif?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4098" name="Picture 2" descr="Fig. 2">
            <a:extLst>
              <a:ext uri="{FF2B5EF4-FFF2-40B4-BE49-F238E27FC236}">
                <a16:creationId xmlns:a16="http://schemas.microsoft.com/office/drawing/2014/main" id="{093211BD-371C-49FF-8885-7715B5A21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473" y="3176337"/>
            <a:ext cx="4971417" cy="319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5BFD65-FE58-489D-9B8E-2A3BB354BF3F}"/>
              </a:ext>
            </a:extLst>
          </p:cNvPr>
          <p:cNvSpPr txBox="1"/>
          <p:nvPr/>
        </p:nvSpPr>
        <p:spPr>
          <a:xfrm>
            <a:off x="8415148" y="5883248"/>
            <a:ext cx="1787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31015469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63F5B-A3EA-4DA5-BF11-6E307D8D4161}"/>
              </a:ext>
            </a:extLst>
          </p:cNvPr>
          <p:cNvSpPr txBox="1"/>
          <p:nvPr/>
        </p:nvSpPr>
        <p:spPr>
          <a:xfrm>
            <a:off x="5479525" y="3508274"/>
            <a:ext cx="22917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Probability of having a “significant” test that is actually a false positive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13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Statistical approaches with large datasets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95014" y="1333786"/>
            <a:ext cx="11543440" cy="508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Consider </a:t>
            </a:r>
            <a:r>
              <a:rPr lang="en-US" sz="2400" b="1" dirty="0">
                <a:latin typeface="Helvetica Neue Light" panose="020B0604020202020204" charset="0"/>
              </a:rPr>
              <a:t>Bonferroni correction </a:t>
            </a:r>
            <a:r>
              <a:rPr lang="en-US" sz="2400" dirty="0">
                <a:latin typeface="Helvetica Neue Light" panose="020B0604020202020204" charset="0"/>
              </a:rPr>
              <a:t>or </a:t>
            </a:r>
            <a:r>
              <a:rPr lang="en-US" sz="2400" b="1" dirty="0">
                <a:latin typeface="Helvetica Neue Light" panose="020B0604020202020204" charset="0"/>
              </a:rPr>
              <a:t>False Discovery Rate (FDR) </a:t>
            </a:r>
            <a:r>
              <a:rPr lang="en-US" sz="2400" dirty="0">
                <a:latin typeface="Helvetica Neue Light" panose="020B0604020202020204" charset="0"/>
              </a:rPr>
              <a:t>adjusted p value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A useful collection of commentaries: Nature Methods’ Points of Significance https://www.nature.com/collections/qghhqm/pointsofsignificance</a:t>
            </a:r>
            <a:endParaRPr lang="en-US" sz="240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480E4-0B4F-4FE2-87B3-72C319CED682}"/>
              </a:ext>
            </a:extLst>
          </p:cNvPr>
          <p:cNvSpPr txBox="1"/>
          <p:nvPr/>
        </p:nvSpPr>
        <p:spPr>
          <a:xfrm>
            <a:off x="5527488" y="5892193"/>
            <a:ext cx="4789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https://biostatsquid.com/multiple-testing-correction-fdr/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499834E-1F0B-4CE2-A18C-7553DA717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228" y="2995702"/>
            <a:ext cx="4980216" cy="280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814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Statistical approaches with large datasets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158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Simulations/bootstrapping/shuffling are useful to make null distributions if your data doesn’t follow a known distribution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FB29D-4448-42CA-9D1B-808241090C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67857" b="1521"/>
          <a:stretch/>
        </p:blipFill>
        <p:spPr>
          <a:xfrm>
            <a:off x="1381913" y="2789123"/>
            <a:ext cx="3918857" cy="3142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12DDCF-658D-484C-8621-6E89137FEC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06" t="1" r="254" b="1521"/>
          <a:stretch/>
        </p:blipFill>
        <p:spPr>
          <a:xfrm>
            <a:off x="5644528" y="2789123"/>
            <a:ext cx="3808855" cy="3142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B54ED1-912B-425F-8E06-5C14DD7EEE17}"/>
              </a:ext>
            </a:extLst>
          </p:cNvPr>
          <p:cNvSpPr txBox="1"/>
          <p:nvPr/>
        </p:nvSpPr>
        <p:spPr>
          <a:xfrm>
            <a:off x="9817687" y="6007002"/>
            <a:ext cx="1787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31015469</a:t>
            </a:r>
          </a:p>
        </p:txBody>
      </p:sp>
    </p:spTree>
    <p:extLst>
      <p:ext uri="{BB962C8B-B14F-4D97-AF65-F5344CB8AC3E}">
        <p14:creationId xmlns:p14="http://schemas.microsoft.com/office/powerpoint/2010/main" val="301411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Using AI in 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397498"/>
            <a:ext cx="10927080" cy="483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ML (machine learning) models have been used for decades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Things to be aware of: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How many features do you have compared to your training data? Do you need to do feature reduction?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Is your data overfit?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Is the model interpretable? (</a:t>
            </a:r>
            <a:r>
              <a:rPr lang="en-US" sz="1600" dirty="0" err="1">
                <a:latin typeface="Helvetica Neue Light" panose="020B0604020202020204" charset="0"/>
              </a:rPr>
              <a:t>Eg.</a:t>
            </a:r>
            <a:r>
              <a:rPr lang="en-US" sz="1600" dirty="0">
                <a:latin typeface="Helvetica Neue Light" panose="020B0604020202020204" charset="0"/>
              </a:rPr>
              <a:t> use SHAP)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Do you have an independent validation set?</a:t>
            </a:r>
            <a:endParaRPr lang="en-US" sz="2000" dirty="0">
              <a:latin typeface="Helvetica Neue Light" panose="020B0604020202020204" charset="0"/>
            </a:endParaRPr>
          </a:p>
          <a:p>
            <a:r>
              <a:rPr lang="en-US" sz="2400" b="0" i="0" u="none" strike="noStrike" baseline="0" dirty="0">
                <a:latin typeface="Helvetica Neue Light" panose="020B0604020202020204" charset="0"/>
              </a:rPr>
              <a:t>LLMs (large language models) are now being applied everywhere</a:t>
            </a:r>
          </a:p>
          <a:p>
            <a:pPr lvl="1"/>
            <a:r>
              <a:rPr lang="en-US" sz="2000" b="0" i="0" u="none" strike="noStrike" baseline="0" dirty="0">
                <a:latin typeface="Helvetica Neue Light" panose="020B0604020202020204" charset="0"/>
              </a:rPr>
              <a:t>Things to be aware of: </a:t>
            </a:r>
          </a:p>
          <a:p>
            <a:pPr lvl="2"/>
            <a:r>
              <a:rPr lang="en-US" sz="1600" b="0" i="0" u="none" strike="noStrike" baseline="0" dirty="0">
                <a:latin typeface="Helvetica Neue Light" panose="020B0604020202020204" charset="0"/>
              </a:rPr>
              <a:t>Hallucinations</a:t>
            </a:r>
          </a:p>
          <a:p>
            <a:pPr lvl="2"/>
            <a:r>
              <a:rPr lang="en-US" sz="1600" b="0" i="0" u="none" strike="noStrike" baseline="0" dirty="0">
                <a:latin typeface="Helvetica Neue Light" panose="020B0604020202020204" charset="0"/>
              </a:rPr>
              <a:t>Reproducibility</a:t>
            </a: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Transparency / </a:t>
            </a:r>
            <a:r>
              <a:rPr lang="en-US" sz="1600" dirty="0" err="1">
                <a:latin typeface="Helvetica Neue Light" panose="020B0604020202020204" charset="0"/>
              </a:rPr>
              <a:t>explainability</a:t>
            </a:r>
            <a:endParaRPr lang="en-US" sz="1600" dirty="0">
              <a:latin typeface="Helvetica Neue Light" panose="020B0604020202020204" charset="0"/>
            </a:endParaRPr>
          </a:p>
          <a:p>
            <a:pPr lvl="2"/>
            <a:r>
              <a:rPr lang="en-US" sz="1600" dirty="0">
                <a:latin typeface="Helvetica Neue Light" panose="020B0604020202020204" charset="0"/>
              </a:rPr>
              <a:t>Be aware of token usage, it can get expensive</a:t>
            </a:r>
          </a:p>
          <a:p>
            <a:pPr lvl="2"/>
            <a:r>
              <a:rPr lang="en-US" sz="1600" b="0" i="0" u="none" strike="noStrike" baseline="0" dirty="0">
                <a:latin typeface="Helvetica Neue Light" panose="020B0604020202020204" charset="0"/>
              </a:rPr>
              <a:t>Privacy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131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. 1: AlphaGenome model architecture, training regimes and comprehensive evaluation performance.">
            <a:extLst>
              <a:ext uri="{FF2B5EF4-FFF2-40B4-BE49-F238E27FC236}">
                <a16:creationId xmlns:a16="http://schemas.microsoft.com/office/drawing/2014/main" id="{B59AE897-7324-4206-8472-D4F916AF6C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" r="49261" b="50257"/>
          <a:stretch/>
        </p:blipFill>
        <p:spPr bwMode="auto">
          <a:xfrm>
            <a:off x="371815" y="1484869"/>
            <a:ext cx="6039168" cy="484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Using AI in 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524687" y="1690688"/>
            <a:ext cx="5443138" cy="203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 err="1">
                <a:latin typeface="Helvetica Neue Light" panose="020B0604020202020204" charset="0"/>
              </a:rPr>
              <a:t>AlphaGenome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recently published predictions for every possible base change in the human genome</a:t>
            </a:r>
            <a:endParaRPr lang="en-US" sz="20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62654-A3BD-46FC-BB2A-6D215C1A5848}"/>
              </a:ext>
            </a:extLst>
          </p:cNvPr>
          <p:cNvSpPr txBox="1"/>
          <p:nvPr/>
        </p:nvSpPr>
        <p:spPr>
          <a:xfrm>
            <a:off x="133403" y="6112978"/>
            <a:ext cx="1802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75000"/>
                  </a:schemeClr>
                </a:solidFill>
                <a:latin typeface="Helvetica Neue Light" panose="020B0604020202020204" charset="0"/>
              </a:rPr>
              <a:t>PMID: 41606153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BA083-7D77-4652-9E32-89606898E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107" y="3257360"/>
            <a:ext cx="2192341" cy="26104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F0B4D-5F77-42A8-A648-29F5BB0C250D}"/>
              </a:ext>
            </a:extLst>
          </p:cNvPr>
          <p:cNvSpPr txBox="1"/>
          <p:nvPr/>
        </p:nvSpPr>
        <p:spPr>
          <a:xfrm>
            <a:off x="6602046" y="6103506"/>
            <a:ext cx="5538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75000"/>
                  </a:schemeClr>
                </a:solidFill>
                <a:latin typeface="Helvetica Neue Light" panose="020B0604020202020204" charset="0"/>
              </a:rPr>
              <a:t>https://www.medrxiv.org/content/10.64898/2026.09.16.26363192v1</a:t>
            </a:r>
          </a:p>
        </p:txBody>
      </p:sp>
    </p:spTree>
    <p:extLst>
      <p:ext uri="{BB962C8B-B14F-4D97-AF65-F5344CB8AC3E}">
        <p14:creationId xmlns:p14="http://schemas.microsoft.com/office/powerpoint/2010/main" val="49113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Using AI in genomics: coding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329184" y="1397498"/>
            <a:ext cx="4194048" cy="418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algn="l"/>
            <a:r>
              <a:rPr lang="en-US" sz="3200" dirty="0">
                <a:latin typeface="Helvetica Neue Light" panose="020B0604020202020204" charset="0"/>
              </a:rPr>
              <a:t>Code completion</a:t>
            </a:r>
          </a:p>
          <a:p>
            <a:pPr algn="l"/>
            <a:r>
              <a:rPr lang="en-US" sz="3200" b="0" i="0" u="none" strike="noStrike" baseline="0" dirty="0">
                <a:latin typeface="Helvetica Neue Light" panose="020B0604020202020204" charset="0"/>
              </a:rPr>
              <a:t>Documentation</a:t>
            </a:r>
          </a:p>
          <a:p>
            <a:pPr algn="l"/>
            <a:r>
              <a:rPr lang="en-US" sz="3200" dirty="0">
                <a:latin typeface="Helvetica Neue Light" panose="020B0604020202020204" charset="0"/>
              </a:rPr>
              <a:t>Code review</a:t>
            </a:r>
          </a:p>
          <a:p>
            <a:pPr algn="l"/>
            <a:r>
              <a:rPr lang="en-US" sz="3200" b="0" i="0" u="none" strike="noStrike" baseline="0" dirty="0">
                <a:latin typeface="Helvetica Neue Light" panose="020B0604020202020204" charset="0"/>
              </a:rPr>
              <a:t>Coding English first (vibe coding)</a:t>
            </a:r>
          </a:p>
          <a:p>
            <a:pPr algn="l"/>
            <a:endParaRPr lang="en-US" sz="3200" dirty="0">
              <a:latin typeface="Helvetica Neue Light" panose="020B0604020202020204" charset="0"/>
            </a:endParaRPr>
          </a:p>
          <a:p>
            <a:pPr algn="l"/>
            <a:r>
              <a:rPr lang="en-US" sz="3200" b="0" i="0" u="none" strike="noStrike" baseline="0" dirty="0">
                <a:latin typeface="Helvetica Neue Light" panose="020B0604020202020204" charset="0"/>
              </a:rPr>
              <a:t>Examples:</a:t>
            </a:r>
          </a:p>
          <a:p>
            <a:pPr lvl="1"/>
            <a:r>
              <a:rPr lang="en-US" sz="2800" b="0" i="0" u="none" strike="noStrike" baseline="0" dirty="0" err="1">
                <a:latin typeface="Helvetica Neue Light" panose="020B0604020202020204" charset="0"/>
              </a:rPr>
              <a:t>Github</a:t>
            </a:r>
            <a:r>
              <a:rPr lang="en-US" sz="2800" b="0" i="0" u="none" strike="noStrike" baseline="0" dirty="0">
                <a:latin typeface="Helvetica Neue Light" panose="020B0604020202020204" charset="0"/>
              </a:rPr>
              <a:t> Copilot</a:t>
            </a:r>
          </a:p>
          <a:p>
            <a:pPr lvl="1"/>
            <a:r>
              <a:rPr lang="en-US" sz="2800" b="0" i="0" u="none" strike="noStrike" baseline="0" dirty="0">
                <a:latin typeface="Helvetica Neue Light" panose="020B0604020202020204" charset="0"/>
              </a:rPr>
              <a:t>Claude Code CLI</a:t>
            </a:r>
          </a:p>
          <a:p>
            <a:pPr algn="l"/>
            <a:endParaRPr lang="en-US" sz="3200" dirty="0">
              <a:latin typeface="Helvetica Neue Light" panose="020B0604020202020204" charset="0"/>
            </a:endParaRPr>
          </a:p>
          <a:p>
            <a:pPr algn="l"/>
            <a:endParaRPr lang="en-US" sz="32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7DD34-5482-41B2-96CC-0D46DFBBEB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05" t="5324" b="22369"/>
          <a:stretch/>
        </p:blipFill>
        <p:spPr>
          <a:xfrm>
            <a:off x="5032248" y="1269017"/>
            <a:ext cx="7108502" cy="4328352"/>
          </a:xfrm>
          <a:prstGeom prst="rect">
            <a:avLst/>
          </a:prstGeom>
        </p:spPr>
      </p:pic>
      <p:sp>
        <p:nvSpPr>
          <p:cNvPr id="9" name="Google Shape;105;p4">
            <a:extLst>
              <a:ext uri="{FF2B5EF4-FFF2-40B4-BE49-F238E27FC236}">
                <a16:creationId xmlns:a16="http://schemas.microsoft.com/office/drawing/2014/main" id="{CBBD00BB-77E4-4948-A99B-E89FBF52DB4F}"/>
              </a:ext>
            </a:extLst>
          </p:cNvPr>
          <p:cNvSpPr txBox="1">
            <a:spLocks/>
          </p:cNvSpPr>
          <p:nvPr/>
        </p:nvSpPr>
        <p:spPr>
          <a:xfrm>
            <a:off x="329184" y="5461743"/>
            <a:ext cx="11811566" cy="1029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700" dirty="0">
                <a:latin typeface="Helvetica Neue Light" panose="020B0604020202020204" charset="0"/>
              </a:rPr>
              <a:t>You are ultimately responsible for making sure your code is correct. AI can make assumptions</a:t>
            </a:r>
          </a:p>
          <a:p>
            <a:endParaRPr lang="en-US" sz="2700" dirty="0">
              <a:latin typeface="Helvetica Neue Light" panose="020B0604020202020204" charset="0"/>
            </a:endParaRPr>
          </a:p>
          <a:p>
            <a:endParaRPr lang="en-US" sz="2700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Sequencing applications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204216" y="1795524"/>
            <a:ext cx="424586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Type of organism/sample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Type of molecule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Specialized prep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22E49D0-1664-45D9-863D-0D8475B4F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384" y="1671800"/>
            <a:ext cx="7544366" cy="473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962A34-9656-46E6-9D43-BFDFE13F32DF}"/>
              </a:ext>
            </a:extLst>
          </p:cNvPr>
          <p:cNvSpPr txBox="1"/>
          <p:nvPr/>
        </p:nvSpPr>
        <p:spPr>
          <a:xfrm>
            <a:off x="10205572" y="5992973"/>
            <a:ext cx="1935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37508427</a:t>
            </a:r>
          </a:p>
        </p:txBody>
      </p:sp>
    </p:spTree>
    <p:extLst>
      <p:ext uri="{BB962C8B-B14F-4D97-AF65-F5344CB8AC3E}">
        <p14:creationId xmlns:p14="http://schemas.microsoft.com/office/powerpoint/2010/main" val="3383535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Human 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231648" y="1470488"/>
            <a:ext cx="6217920" cy="489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l"/>
            <a:r>
              <a:rPr lang="en-US" sz="2400" b="1" i="0" u="none" strike="noStrike" baseline="0" dirty="0">
                <a:latin typeface="Helvetica Neue Light" panose="020B0604020202020204" charset="0"/>
              </a:rPr>
              <a:t>WGS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: whole genome sequencing (~3 Gb)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Often 30X coverage, more for </a:t>
            </a:r>
            <a:r>
              <a:rPr lang="en-US" sz="2000" dirty="0" err="1">
                <a:latin typeface="Helvetica Neue Light" panose="020B0604020202020204" charset="0"/>
              </a:rPr>
              <a:t>tumour</a:t>
            </a:r>
            <a:r>
              <a:rPr lang="en-US" sz="2000" dirty="0">
                <a:latin typeface="Helvetica Neue Light" panose="020B0604020202020204" charset="0"/>
              </a:rPr>
              <a:t> samples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Also commonly used for </a:t>
            </a:r>
            <a:r>
              <a:rPr lang="en-US" sz="2000" b="1" dirty="0">
                <a:latin typeface="Helvetica Neue Light" panose="020B0604020202020204" charset="0"/>
              </a:rPr>
              <a:t>novel genome assembly</a:t>
            </a:r>
          </a:p>
          <a:p>
            <a:r>
              <a:rPr lang="en-US" sz="2400" b="1" i="0" u="none" strike="noStrike" baseline="0" dirty="0">
                <a:latin typeface="Helvetica Neue Light" panose="020B0604020202020204" charset="0"/>
              </a:rPr>
              <a:t>WES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: whole exome sequencing (~30 Mb)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Usually go for 200+ X coverage</a:t>
            </a:r>
          </a:p>
          <a:p>
            <a:r>
              <a:rPr lang="en-US" sz="2400" b="1" dirty="0">
                <a:latin typeface="Helvetica Neue Light" panose="020B0604020202020204" charset="0"/>
              </a:rPr>
              <a:t>Targeted panels </a:t>
            </a:r>
            <a:r>
              <a:rPr lang="en-US" sz="2400" dirty="0">
                <a:latin typeface="Helvetica Neue Light" panose="020B0604020202020204" charset="0"/>
              </a:rPr>
              <a:t>(~1-5 Mb; dozens to 100s of genes)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Coverage typically &gt; 1000X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In library prep or using adaptive sampling</a:t>
            </a:r>
          </a:p>
          <a:p>
            <a:r>
              <a:rPr lang="en-US" sz="2400" b="1" dirty="0">
                <a:latin typeface="Helvetica Neue Light" panose="020B0604020202020204" charset="0"/>
              </a:rPr>
              <a:t>RNA-Seq 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Usually convert RNA -&gt; cDNA for sequencing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Some tech can do direct RNA sequencing</a:t>
            </a:r>
          </a:p>
          <a:p>
            <a:pPr marL="1028700" lvl="2" indent="0">
              <a:buNone/>
            </a:pPr>
            <a:endParaRPr lang="en-US" sz="1600" b="0" i="0" u="none" strike="noStrike" baseline="0" dirty="0">
              <a:latin typeface="Helvetica Neue Light" panose="020B0604020202020204" charset="0"/>
            </a:endParaRPr>
          </a:p>
          <a:p>
            <a:pPr lvl="1"/>
            <a:endParaRPr lang="en-US" sz="20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EF682AB-EA78-4E3D-BB5B-68611800A8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55" b="48535"/>
          <a:stretch/>
        </p:blipFill>
        <p:spPr bwMode="auto">
          <a:xfrm>
            <a:off x="6449568" y="1915641"/>
            <a:ext cx="5510784" cy="243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582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Epigenomics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70740" y="1423446"/>
            <a:ext cx="5952744" cy="261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DNA methylation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Bisulfite sequencing (Illumina), direct sequencing (Oxford Nanopore, PacBio)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Histone modifications</a:t>
            </a:r>
          </a:p>
          <a:p>
            <a:pPr lvl="1"/>
            <a:r>
              <a:rPr lang="en-US" sz="2000" b="0" i="0" u="none" strike="noStrike" baseline="0" dirty="0">
                <a:latin typeface="Helvetica Neue Light" panose="020B0604020202020204" charset="0"/>
              </a:rPr>
              <a:t>Chromatin immunoprecipitation (</a:t>
            </a:r>
            <a:r>
              <a:rPr lang="en-US" sz="2000" b="0" i="0" u="none" strike="noStrike" baseline="0" dirty="0" err="1">
                <a:latin typeface="Helvetica Neue Light" panose="020B0604020202020204" charset="0"/>
              </a:rPr>
              <a:t>ChIP</a:t>
            </a:r>
            <a:r>
              <a:rPr lang="en-US" sz="2000" b="0" i="0" u="none" strike="noStrike" baseline="0" dirty="0">
                <a:latin typeface="Helvetica Neue Light" panose="020B0604020202020204" charset="0"/>
              </a:rPr>
              <a:t>-Seq)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Open chromatin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ATAC-seq</a:t>
            </a:r>
            <a:endParaRPr lang="en-US" sz="20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2133CB9-587E-4F0A-9C33-2C41B6294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6" t="50950" r="26634" b="26906"/>
          <a:stretch/>
        </p:blipFill>
        <p:spPr bwMode="auto">
          <a:xfrm>
            <a:off x="5486400" y="230188"/>
            <a:ext cx="4996148" cy="119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37540D-F633-4BEF-9F76-9D564CBDA386}"/>
              </a:ext>
            </a:extLst>
          </p:cNvPr>
          <p:cNvSpPr txBox="1"/>
          <p:nvPr/>
        </p:nvSpPr>
        <p:spPr>
          <a:xfrm>
            <a:off x="1010358" y="5911803"/>
            <a:ext cx="1773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600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39779955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BC0084-89B0-4E96-9E41-133F37024D91}"/>
              </a:ext>
            </a:extLst>
          </p:cNvPr>
          <p:cNvGrpSpPr/>
          <p:nvPr/>
        </p:nvGrpSpPr>
        <p:grpSpPr>
          <a:xfrm>
            <a:off x="6264288" y="1558383"/>
            <a:ext cx="5927712" cy="4063679"/>
            <a:chOff x="6264288" y="1558383"/>
            <a:chExt cx="5927712" cy="40636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A76CF8-ED64-4EB6-B05C-59F73DEF8E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9459"/>
            <a:stretch/>
          </p:blipFill>
          <p:spPr>
            <a:xfrm>
              <a:off x="6264288" y="1558383"/>
              <a:ext cx="5702808" cy="406367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16ED0D-EAAD-4111-A9A0-8BC6DCAF9F39}"/>
                </a:ext>
              </a:extLst>
            </p:cNvPr>
            <p:cNvSpPr/>
            <p:nvPr/>
          </p:nvSpPr>
          <p:spPr>
            <a:xfrm>
              <a:off x="11167872" y="2913888"/>
              <a:ext cx="1024128" cy="27081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E39B153-AF18-4C2B-8AD2-6EF09FEC8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294" y="3846756"/>
            <a:ext cx="3526712" cy="26178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F98356-2B3F-4C46-A242-BA938F6C148A}"/>
              </a:ext>
            </a:extLst>
          </p:cNvPr>
          <p:cNvSpPr txBox="1"/>
          <p:nvPr/>
        </p:nvSpPr>
        <p:spPr>
          <a:xfrm>
            <a:off x="8941956" y="5926827"/>
            <a:ext cx="1773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600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32240773</a:t>
            </a:r>
          </a:p>
        </p:txBody>
      </p:sp>
    </p:spTree>
    <p:extLst>
      <p:ext uri="{BB962C8B-B14F-4D97-AF65-F5344CB8AC3E}">
        <p14:creationId xmlns:p14="http://schemas.microsoft.com/office/powerpoint/2010/main" val="2590264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Specialized approaches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326136" y="1690688"/>
            <a:ext cx="406298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Single-cell sequencing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Spatial profiling 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622EA-488F-4CD0-929B-29874CD881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87" b="54544"/>
          <a:stretch/>
        </p:blipFill>
        <p:spPr>
          <a:xfrm>
            <a:off x="4012753" y="1426465"/>
            <a:ext cx="7341048" cy="2267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A06E3-4802-4945-BA62-F8988A2CF1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987"/>
          <a:stretch/>
        </p:blipFill>
        <p:spPr>
          <a:xfrm>
            <a:off x="3856084" y="3977670"/>
            <a:ext cx="7341048" cy="2386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2B085B-459D-4F74-8289-C950C59E3115}"/>
              </a:ext>
            </a:extLst>
          </p:cNvPr>
          <p:cNvSpPr txBox="1"/>
          <p:nvPr/>
        </p:nvSpPr>
        <p:spPr>
          <a:xfrm>
            <a:off x="10465873" y="6093182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40817395</a:t>
            </a:r>
          </a:p>
        </p:txBody>
      </p:sp>
    </p:spTree>
    <p:extLst>
      <p:ext uri="{BB962C8B-B14F-4D97-AF65-F5344CB8AC3E}">
        <p14:creationId xmlns:p14="http://schemas.microsoft.com/office/powerpoint/2010/main" val="54386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CA" dirty="0"/>
              <a:t>Metagenomics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326136" y="1690688"/>
            <a:ext cx="66598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Amplicon-based (16S/18S/ITS)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Shotgun (short read or long read)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4F4C933-74FB-4776-915D-B21BCBDE2F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80" r="27278"/>
          <a:stretch/>
        </p:blipFill>
        <p:spPr bwMode="auto">
          <a:xfrm>
            <a:off x="5398484" y="439643"/>
            <a:ext cx="5486400" cy="1251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gure 1.">
            <a:extLst>
              <a:ext uri="{FF2B5EF4-FFF2-40B4-BE49-F238E27FC236}">
                <a16:creationId xmlns:a16="http://schemas.microsoft.com/office/drawing/2014/main" id="{389F308E-A0EC-4FDE-ADD6-89EC2A3B4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851" y="2941733"/>
            <a:ext cx="8618747" cy="297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A71C6C-A7FA-4A3F-AFCC-E95D8F37F0C8}"/>
              </a:ext>
            </a:extLst>
          </p:cNvPr>
          <p:cNvSpPr txBox="1"/>
          <p:nvPr/>
        </p:nvSpPr>
        <p:spPr>
          <a:xfrm>
            <a:off x="9966960" y="5915201"/>
            <a:ext cx="205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600" b="0" i="0" dirty="0">
                <a:solidFill>
                  <a:schemeClr val="tx2">
                    <a:lumMod val="50000"/>
                  </a:schemeClr>
                </a:solidFill>
                <a:effectLst/>
                <a:latin typeface="Helvetica Neue Light" panose="020B0604020202020204" charset="0"/>
              </a:rPr>
              <a:t>PMID: 31398336</a:t>
            </a:r>
          </a:p>
        </p:txBody>
      </p:sp>
    </p:spTree>
    <p:extLst>
      <p:ext uri="{BB962C8B-B14F-4D97-AF65-F5344CB8AC3E}">
        <p14:creationId xmlns:p14="http://schemas.microsoft.com/office/powerpoint/2010/main" val="1999079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Scenarios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We will go through a few example scenarios and discuss what approaches might be relevant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You will be discussing in groups of 3-4 people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The slide deck we go through will be posted at the end of today’s workshop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0341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Short stretch break</a:t>
            </a:r>
            <a:endParaRPr dirty="0"/>
          </a:p>
        </p:txBody>
      </p:sp>
      <p:sp>
        <p:nvSpPr>
          <p:cNvPr id="120" name="Google Shape;120;p6"/>
          <p:cNvSpPr txBox="1">
            <a:spLocks noGrp="1"/>
          </p:cNvSpPr>
          <p:nvPr>
            <p:ph type="body" idx="1"/>
          </p:nvPr>
        </p:nvSpPr>
        <p:spPr>
          <a:xfrm>
            <a:off x="4386275" y="4087063"/>
            <a:ext cx="3419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Workshop Sponsors</a:t>
            </a:r>
            <a:endParaRPr/>
          </a:p>
        </p:txBody>
      </p:sp>
      <p:pic>
        <p:nvPicPr>
          <p:cNvPr id="121" name="Google Shape;121;p6" title="cih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90" y="4826757"/>
            <a:ext cx="3500780" cy="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 title="oic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8232" y="4787446"/>
            <a:ext cx="1256757" cy="91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 title="genomecanad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8627" y="4826745"/>
            <a:ext cx="1724888" cy="8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 title="ontariogenomic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2488" y="4852281"/>
            <a:ext cx="1956783" cy="78270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3962" y="4944438"/>
            <a:ext cx="2519149" cy="5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9081</TotalTime>
  <Words>883</Words>
  <Application>Microsoft Office PowerPoint</Application>
  <PresentationFormat>Widescreen</PresentationFormat>
  <Paragraphs>179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Helvetica Neue Light</vt:lpstr>
      <vt:lpstr>Arial</vt:lpstr>
      <vt:lpstr>Helvetica Neue</vt:lpstr>
      <vt:lpstr>Manrope</vt:lpstr>
      <vt:lpstr>1_Custom Design</vt:lpstr>
      <vt:lpstr>Office Theme</vt:lpstr>
      <vt:lpstr>Custom Design</vt:lpstr>
      <vt:lpstr>PowerPoint Presentation</vt:lpstr>
      <vt:lpstr>PowerPoint Presentation</vt:lpstr>
      <vt:lpstr>Module #1b: Sequencing Technology Applications</vt:lpstr>
      <vt:lpstr>Learning Objectives</vt:lpstr>
      <vt:lpstr>Genomics produces a lot of data … this brings complexities</vt:lpstr>
      <vt:lpstr>Data size</vt:lpstr>
      <vt:lpstr>Some common genomics databases</vt:lpstr>
      <vt:lpstr>Data sharing in genomics</vt:lpstr>
      <vt:lpstr>Data sharing and privacy</vt:lpstr>
      <vt:lpstr>PowerPoint Presentation</vt:lpstr>
      <vt:lpstr>Scientific principles in genomics</vt:lpstr>
      <vt:lpstr>Statistical challenges with large datasets</vt:lpstr>
      <vt:lpstr>Statistical approaches with large datasets</vt:lpstr>
      <vt:lpstr>Statistical approaches with large datasets</vt:lpstr>
      <vt:lpstr>Using AI in genomics</vt:lpstr>
      <vt:lpstr>Using AI in genomics</vt:lpstr>
      <vt:lpstr>Using AI in genomics: coding</vt:lpstr>
      <vt:lpstr>Sequencing applications</vt:lpstr>
      <vt:lpstr>Human genomics</vt:lpstr>
      <vt:lpstr>Epigenomics</vt:lpstr>
      <vt:lpstr>Specialized approaches</vt:lpstr>
      <vt:lpstr>Metagenomics</vt:lpstr>
      <vt:lpstr>Scenarios</vt:lpstr>
      <vt:lpstr>Short stretch 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Nia Hughes</dc:creator>
  <cp:lastModifiedBy>Erin Pleasance</cp:lastModifiedBy>
  <cp:revision>111</cp:revision>
  <dcterms:created xsi:type="dcterms:W3CDTF">2025-05-15T14:28:53Z</dcterms:created>
  <dcterms:modified xsi:type="dcterms:W3CDTF">2026-10-23T18:44:22Z</dcterms:modified>
</cp:coreProperties>
</file>