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62" r:id="rId3"/>
  </p:sldMasterIdLst>
  <p:notesMasterIdLst>
    <p:notesMasterId r:id="rId40"/>
  </p:notesMasterIdLst>
  <p:sldIdLst>
    <p:sldId id="256" r:id="rId4"/>
    <p:sldId id="257" r:id="rId5"/>
    <p:sldId id="258" r:id="rId6"/>
    <p:sldId id="259" r:id="rId7"/>
    <p:sldId id="262" r:id="rId8"/>
    <p:sldId id="263" r:id="rId9"/>
    <p:sldId id="264" r:id="rId10"/>
    <p:sldId id="273" r:id="rId11"/>
    <p:sldId id="274" r:id="rId12"/>
    <p:sldId id="275" r:id="rId13"/>
    <p:sldId id="276" r:id="rId14"/>
    <p:sldId id="277" r:id="rId15"/>
    <p:sldId id="278" r:id="rId16"/>
    <p:sldId id="305" r:id="rId17"/>
    <p:sldId id="279" r:id="rId18"/>
    <p:sldId id="283" r:id="rId19"/>
    <p:sldId id="293" r:id="rId20"/>
    <p:sldId id="294" r:id="rId21"/>
    <p:sldId id="295" r:id="rId22"/>
    <p:sldId id="298" r:id="rId23"/>
    <p:sldId id="292" r:id="rId24"/>
    <p:sldId id="291" r:id="rId25"/>
    <p:sldId id="287" r:id="rId26"/>
    <p:sldId id="288" r:id="rId27"/>
    <p:sldId id="286" r:id="rId28"/>
    <p:sldId id="284" r:id="rId29"/>
    <p:sldId id="282" r:id="rId30"/>
    <p:sldId id="285" r:id="rId31"/>
    <p:sldId id="299" r:id="rId32"/>
    <p:sldId id="269" r:id="rId33"/>
    <p:sldId id="300" r:id="rId34"/>
    <p:sldId id="270" r:id="rId35"/>
    <p:sldId id="301" r:id="rId36"/>
    <p:sldId id="302" r:id="rId37"/>
    <p:sldId id="304" r:id="rId38"/>
    <p:sldId id="261" r:id="rId39"/>
  </p:sldIdLst>
  <p:sldSz cx="12192000" cy="6858000"/>
  <p:notesSz cx="6858000" cy="9144000"/>
  <p:embeddedFontLs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Courier New OS" panose="020B0604020202020204" charset="0"/>
      <p:regular r:id="rId45"/>
    </p:embeddedFont>
    <p:embeddedFont>
      <p:font typeface="Helvetica" panose="020B0604020202020204" pitchFamily="34" charset="0"/>
      <p:regular r:id="rId46"/>
      <p:bold r:id="rId47"/>
      <p:italic r:id="rId48"/>
      <p:boldItalic r:id="rId49"/>
    </p:embeddedFont>
    <p:embeddedFont>
      <p:font typeface="Helvetica Bold Italics" panose="020B0604020202020204" charset="0"/>
      <p:regular r:id="rId50"/>
    </p:embeddedFont>
    <p:embeddedFont>
      <p:font typeface="Helvetica Neue" panose="020B0604020202020204" charset="0"/>
      <p:regular r:id="rId51"/>
      <p:bold r:id="rId52"/>
      <p:italic r:id="rId53"/>
      <p:boldItalic r:id="rId54"/>
    </p:embeddedFont>
    <p:embeddedFont>
      <p:font typeface="Helvetica Neue Light" panose="020B0604020202020204" charset="0"/>
      <p:regular r:id="rId55"/>
      <p:bold r:id="rId56"/>
      <p:italic r:id="rId57"/>
      <p:boldItalic r:id="rId58"/>
    </p:embeddedFont>
    <p:embeddedFont>
      <p:font typeface="Manrope" panose="020B0604020202020204" charset="0"/>
      <p:regular r:id="rId59"/>
      <p:bold r:id="rId60"/>
    </p:embeddedFont>
    <p:embeddedFont>
      <p:font typeface="Verdana" panose="020B0604030504040204" pitchFamily="34" charset="0"/>
      <p:regular r:id="rId61"/>
      <p:bold r:id="rId62"/>
      <p:italic r:id="rId63"/>
      <p:boldItalic r:id="rId64"/>
    </p:embeddedFont>
    <p:embeddedFont>
      <p:font typeface="Verdana Bold" panose="020B0804030504040204" pitchFamily="34" charset="0"/>
      <p:bold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h9VR97KJQ+WksNuSOp9ZuQxzPL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63" Type="http://schemas.openxmlformats.org/officeDocument/2006/relationships/font" Target="fonts/font23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66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61" Type="http://schemas.openxmlformats.org/officeDocument/2006/relationships/font" Target="fonts/font21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font" Target="fonts/font20.fntdata"/><Relationship Id="rId65" Type="http://schemas.openxmlformats.org/officeDocument/2006/relationships/font" Target="fonts/font2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64" Type="http://schemas.openxmlformats.org/officeDocument/2006/relationships/font" Target="fonts/font24.fntdata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font" Target="fonts/font11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6.fntdata"/><Relationship Id="rId59" Type="http://schemas.openxmlformats.org/officeDocument/2006/relationships/font" Target="fonts/font19.fntdata"/><Relationship Id="rId67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font" Target="fonts/font22.fntdata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831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7629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8572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4868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547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541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473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9993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3722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000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2368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8922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6835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4304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8333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8291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25972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84963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2542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6178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26590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09454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38122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80758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44074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12535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96665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7198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68539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51316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10554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>
            <a:spLocks noGrp="1"/>
          </p:cNvSpPr>
          <p:nvPr>
            <p:ph type="ctrTitle"/>
          </p:nvPr>
        </p:nvSpPr>
        <p:spPr>
          <a:xfrm>
            <a:off x="2548581" y="2505673"/>
            <a:ext cx="7094700" cy="10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ubTitle" idx="1"/>
          </p:nvPr>
        </p:nvSpPr>
        <p:spPr>
          <a:xfrm>
            <a:off x="3690730" y="3532213"/>
            <a:ext cx="4810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 Ligh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11460295" y="6473109"/>
            <a:ext cx="731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orkshop title slide">
  <p:cSld name="Workshop title slid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ctrTitle"/>
          </p:nvPr>
        </p:nvSpPr>
        <p:spPr>
          <a:xfrm>
            <a:off x="640492" y="2250180"/>
            <a:ext cx="7094700" cy="10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2" descr="A logo with white dots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80843" y="236128"/>
            <a:ext cx="2653569" cy="132678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2"/>
          <p:cNvSpPr txBox="1"/>
          <p:nvPr/>
        </p:nvSpPr>
        <p:spPr>
          <a:xfrm>
            <a:off x="0" y="6521547"/>
            <a:ext cx="48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Canadian Bioinformatics Workshops | bioinformatics.ca</a:t>
            </a:r>
            <a:endParaRPr sz="1400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2"/>
          <p:cNvSpPr txBox="1">
            <a:spLocks noGrp="1"/>
          </p:cNvSpPr>
          <p:nvPr>
            <p:ph type="subTitle" idx="1"/>
          </p:nvPr>
        </p:nvSpPr>
        <p:spPr>
          <a:xfrm>
            <a:off x="1782641" y="3276720"/>
            <a:ext cx="4810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93F"/>
            </a:gs>
            <a:gs pos="45000">
              <a:srgbClr val="70247F"/>
            </a:gs>
            <a:gs pos="100000">
              <a:srgbClr val="B40805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/>
          <p:nvPr/>
        </p:nvSpPr>
        <p:spPr>
          <a:xfrm>
            <a:off x="0" y="6492874"/>
            <a:ext cx="12192000" cy="365100"/>
          </a:xfrm>
          <a:prstGeom prst="rect">
            <a:avLst/>
          </a:prstGeom>
          <a:solidFill>
            <a:srgbClr val="7024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9"/>
          <p:cNvSpPr txBox="1"/>
          <p:nvPr/>
        </p:nvSpPr>
        <p:spPr>
          <a:xfrm>
            <a:off x="0" y="6521547"/>
            <a:ext cx="481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Canadian Bioinformatics Workshops | bioinformatics.ca</a:t>
            </a:r>
            <a:endParaRPr sz="1400" b="0" i="0" u="none" strike="noStrike" cap="none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0" name="Google Shape;20;p9" descr="Purple circles on a black background&#10;&#10;AI-generated content may be incorrect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352340" y="0"/>
            <a:ext cx="839659" cy="83965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9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/>
          <p:nvPr/>
        </p:nvSpPr>
        <p:spPr>
          <a:xfrm>
            <a:off x="0" y="0"/>
            <a:ext cx="8610600" cy="6858000"/>
          </a:xfrm>
          <a:prstGeom prst="rect">
            <a:avLst/>
          </a:prstGeom>
          <a:gradFill>
            <a:gsLst>
              <a:gs pos="0">
                <a:srgbClr val="24393F"/>
              </a:gs>
              <a:gs pos="54000">
                <a:srgbClr val="70247F"/>
              </a:gs>
              <a:gs pos="100000">
                <a:srgbClr val="B40805"/>
              </a:gs>
            </a:gsLst>
            <a:path path="circle">
              <a:fillToRect l="100000" t="100000"/>
            </a:path>
            <a:tileRect r="-100000" b="-100000"/>
          </a:gradFill>
          <a:ln w="19050" cap="flat" cmpd="sng">
            <a:solidFill>
              <a:srgbClr val="08283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  <a:defRPr sz="4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1.jpeg"/><Relationship Id="rId9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393F"/>
            </a:gs>
            <a:gs pos="24000">
              <a:srgbClr val="70247F"/>
            </a:gs>
            <a:gs pos="100000">
              <a:srgbClr val="B40805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subTitle" idx="1"/>
          </p:nvPr>
        </p:nvSpPr>
        <p:spPr>
          <a:xfrm>
            <a:off x="6801238" y="3429000"/>
            <a:ext cx="4567235" cy="781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4400" b="1">
                <a:latin typeface="Helvetica Neue"/>
                <a:ea typeface="Helvetica Neue"/>
                <a:cs typeface="Helvetica Neue"/>
                <a:sym typeface="Helvetica Neue"/>
              </a:rPr>
              <a:t>bioinformatics.ca</a:t>
            </a:r>
            <a:endParaRPr/>
          </a:p>
        </p:txBody>
      </p:sp>
      <p:pic>
        <p:nvPicPr>
          <p:cNvPr id="83" name="Google Shape;83;p1" descr="A logo with white dot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2297" r="12122"/>
          <a:stretch/>
        </p:blipFill>
        <p:spPr>
          <a:xfrm>
            <a:off x="670379" y="1341316"/>
            <a:ext cx="5766816" cy="381509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 txBox="1"/>
          <p:nvPr/>
        </p:nvSpPr>
        <p:spPr>
          <a:xfrm>
            <a:off x="6648092" y="4210755"/>
            <a:ext cx="4873529" cy="416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bioinformaticsdotca.github.io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523913" y="46551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5493" y="271515"/>
            <a:ext cx="4021014" cy="6033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ctrTitle"/>
          </p:nvPr>
        </p:nvSpPr>
        <p:spPr>
          <a:xfrm>
            <a:off x="640492" y="2250180"/>
            <a:ext cx="7094838" cy="102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 Light"/>
              <a:buNone/>
            </a:pPr>
            <a:r>
              <a:rPr lang="en-US" b="1" dirty="0"/>
              <a:t>Module #1a:</a:t>
            </a:r>
            <a:br>
              <a:rPr lang="en-US" b="1" dirty="0"/>
            </a:br>
            <a:r>
              <a:rPr lang="en-US" b="1" dirty="0"/>
              <a:t>Intro to Sequencing Technologies</a:t>
            </a:r>
            <a:endParaRPr dirty="0"/>
          </a:p>
        </p:txBody>
      </p:sp>
      <p:sp>
        <p:nvSpPr>
          <p:cNvPr id="96" name="Google Shape;96;p3"/>
          <p:cNvSpPr txBox="1">
            <a:spLocks noGrp="1"/>
          </p:cNvSpPr>
          <p:nvPr>
            <p:ph type="subTitle" idx="1"/>
          </p:nvPr>
        </p:nvSpPr>
        <p:spPr>
          <a:xfrm>
            <a:off x="1782641" y="3342345"/>
            <a:ext cx="4810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Dr. Erin Pleasance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CBW High-Throughput Genomics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November 4-6, 2026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dirty="0"/>
          </a:p>
        </p:txBody>
      </p:sp>
      <p:pic>
        <p:nvPicPr>
          <p:cNvPr id="98" name="Google Shape;98;p3" title="HTG_logo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9561" y="557625"/>
            <a:ext cx="2881750" cy="28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D5C7BE7E-53ED-49D9-AB10-8FB74D7BC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213" y="3780581"/>
            <a:ext cx="2698292" cy="1312201"/>
          </a:xfrm>
          <a:prstGeom prst="rect">
            <a:avLst/>
          </a:prstGeom>
          <a:ln w="3175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0C8C05-0693-4FDA-B92F-68B3E2991F04}"/>
              </a:ext>
            </a:extLst>
          </p:cNvPr>
          <p:cNvSpPr txBox="1"/>
          <p:nvPr/>
        </p:nvSpPr>
        <p:spPr>
          <a:xfrm>
            <a:off x="9060213" y="6111089"/>
            <a:ext cx="2881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B0604020202020204" charset="0"/>
              </a:rPr>
              <a:t>Some slides adapted from Jared Simpson and previous instructors</a:t>
            </a:r>
            <a:endParaRPr lang="en-CA" dirty="0">
              <a:solidFill>
                <a:schemeClr val="tx1">
                  <a:lumMod val="50000"/>
                  <a:lumOff val="50000"/>
                </a:schemeClr>
              </a:solidFill>
              <a:latin typeface="Helvetica Neue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102540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Sequencing trends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Understand the technology behind Illumina, Nanopore and PacBio sequencing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Compare and contrast the approaches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B</a:t>
            </a:r>
            <a:r>
              <a:rPr lang="en-US" sz="2400" dirty="0">
                <a:latin typeface="Helvetica Neue Light" panose="020B0604020202020204" charset="0"/>
              </a:rPr>
              <a:t>e aware of newer technologies becoming available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Understand basic sequencing reads and quality measures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DNA sequencing history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DFDF870-1D88-4AF4-9120-FDB7F67422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3"/>
          <a:stretch/>
        </p:blipFill>
        <p:spPr bwMode="auto">
          <a:xfrm>
            <a:off x="542266" y="1899599"/>
            <a:ext cx="8572500" cy="3772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B49DB0-5101-474A-A7B1-1893558F2FC4}"/>
              </a:ext>
            </a:extLst>
          </p:cNvPr>
          <p:cNvSpPr txBox="1"/>
          <p:nvPr/>
        </p:nvSpPr>
        <p:spPr>
          <a:xfrm>
            <a:off x="210493" y="5739973"/>
            <a:ext cx="6106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https://www.criver.com/eureka/history-dna-sequencing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F6695-1AEF-4B88-8D4D-81E9478F3ECA}"/>
              </a:ext>
            </a:extLst>
          </p:cNvPr>
          <p:cNvSpPr txBox="1"/>
          <p:nvPr/>
        </p:nvSpPr>
        <p:spPr>
          <a:xfrm>
            <a:off x="9278293" y="2093530"/>
            <a:ext cx="270321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1"/>
                </a:solidFill>
                <a:latin typeface="Helvetica Neue Light" panose="020B0604020202020204" charset="0"/>
              </a:rPr>
              <a:t>Newer technologies competing in short-read space:</a:t>
            </a:r>
          </a:p>
          <a:p>
            <a:endParaRPr lang="en-CA" dirty="0">
              <a:solidFill>
                <a:schemeClr val="tx1"/>
              </a:solidFill>
              <a:latin typeface="Helvetica Neue Light" panose="020B0604020202020204" charset="0"/>
            </a:endParaRPr>
          </a:p>
          <a:p>
            <a:endParaRPr lang="en-CA" b="1" dirty="0">
              <a:solidFill>
                <a:schemeClr val="tx1"/>
              </a:solidFill>
              <a:latin typeface="Helvetica Neue Light" panose="020B0604020202020204" charset="0"/>
            </a:endParaRPr>
          </a:p>
          <a:p>
            <a:r>
              <a:rPr lang="en-CA" b="1" dirty="0">
                <a:solidFill>
                  <a:schemeClr val="tx1"/>
                </a:solidFill>
                <a:latin typeface="Helvetica Neue Light" panose="020B0604020202020204" charset="0"/>
              </a:rPr>
              <a:t>2022</a:t>
            </a:r>
          </a:p>
          <a:p>
            <a:r>
              <a:rPr lang="en-CA" dirty="0">
                <a:solidFill>
                  <a:schemeClr val="tx1"/>
                </a:solidFill>
                <a:latin typeface="Helvetica Neue Light" panose="020B0604020202020204" charset="0"/>
              </a:rPr>
              <a:t>AVITI (Element Biosciences)</a:t>
            </a:r>
          </a:p>
          <a:p>
            <a:endParaRPr lang="en-CA" dirty="0">
              <a:solidFill>
                <a:schemeClr val="tx1"/>
              </a:solidFill>
              <a:latin typeface="Helvetica Neue Light" panose="020B0604020202020204" charset="0"/>
            </a:endParaRPr>
          </a:p>
          <a:p>
            <a:r>
              <a:rPr lang="en-CA" b="1" dirty="0">
                <a:solidFill>
                  <a:schemeClr val="tx1"/>
                </a:solidFill>
                <a:latin typeface="Helvetica Neue Light" panose="020B0604020202020204" charset="0"/>
              </a:rPr>
              <a:t>2023</a:t>
            </a:r>
          </a:p>
          <a:p>
            <a:r>
              <a:rPr lang="en-CA" dirty="0">
                <a:solidFill>
                  <a:schemeClr val="tx1"/>
                </a:solidFill>
                <a:latin typeface="Helvetica Neue Light" panose="020B0604020202020204" charset="0"/>
              </a:rPr>
              <a:t>Complete Genomics</a:t>
            </a:r>
          </a:p>
          <a:p>
            <a:endParaRPr lang="en-CA" dirty="0">
              <a:solidFill>
                <a:schemeClr val="tx1"/>
              </a:solidFill>
              <a:latin typeface="Helvetica Neue Light" panose="020B0604020202020204" charset="0"/>
            </a:endParaRPr>
          </a:p>
          <a:p>
            <a:r>
              <a:rPr lang="en-CA" b="1" dirty="0">
                <a:solidFill>
                  <a:schemeClr val="tx1"/>
                </a:solidFill>
                <a:latin typeface="Helvetica Neue Light" panose="020B0604020202020204" charset="0"/>
              </a:rPr>
              <a:t>2024</a:t>
            </a:r>
          </a:p>
          <a:p>
            <a:r>
              <a:rPr lang="en-CA" dirty="0">
                <a:solidFill>
                  <a:schemeClr val="tx1"/>
                </a:solidFill>
                <a:latin typeface="Helvetica Neue Light" panose="020B0604020202020204" charset="0"/>
              </a:rPr>
              <a:t>Ultima</a:t>
            </a:r>
          </a:p>
          <a:p>
            <a:endParaRPr lang="en-CA" dirty="0">
              <a:solidFill>
                <a:schemeClr val="tx1"/>
              </a:solidFill>
              <a:latin typeface="Helvetica Neue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934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Throughput and cost</a:t>
            </a:r>
            <a:endParaRPr dirty="0"/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A0F8BF-51BD-436B-9E88-7197719ACC79}"/>
              </a:ext>
            </a:extLst>
          </p:cNvPr>
          <p:cNvSpPr/>
          <p:nvPr/>
        </p:nvSpPr>
        <p:spPr>
          <a:xfrm>
            <a:off x="6746941" y="202291"/>
            <a:ext cx="1183912" cy="10472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Human genome project complete</a:t>
            </a:r>
            <a:endParaRPr lang="en-CA" sz="1200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D65EBD-FB91-4C29-8FF9-117C4D6C3E0C}"/>
              </a:ext>
            </a:extLst>
          </p:cNvPr>
          <p:cNvSpPr/>
          <p:nvPr/>
        </p:nvSpPr>
        <p:spPr>
          <a:xfrm>
            <a:off x="6752207" y="1972372"/>
            <a:ext cx="1183912" cy="9434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1,000 genomes project complete</a:t>
            </a:r>
            <a:endParaRPr lang="en-CA" sz="1200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18C61F-5008-41A9-B061-D74D1231B726}"/>
              </a:ext>
            </a:extLst>
          </p:cNvPr>
          <p:cNvSpPr/>
          <p:nvPr/>
        </p:nvSpPr>
        <p:spPr>
          <a:xfrm>
            <a:off x="6746941" y="3288285"/>
            <a:ext cx="1189178" cy="957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100,000 genomes project complete</a:t>
            </a:r>
            <a:endParaRPr lang="en-CA" sz="1200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3B428A-C056-41E6-BD9C-6E9BA1AF5381}"/>
              </a:ext>
            </a:extLst>
          </p:cNvPr>
          <p:cNvCxnSpPr/>
          <p:nvPr/>
        </p:nvCxnSpPr>
        <p:spPr>
          <a:xfrm>
            <a:off x="7930853" y="2842923"/>
            <a:ext cx="416374" cy="0"/>
          </a:xfrm>
          <a:prstGeom prst="straightConnector1">
            <a:avLst/>
          </a:prstGeom>
          <a:ln w="38100">
            <a:solidFill>
              <a:schemeClr val="bg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An infographic showing the falling cost of genomic sequencing from $450m in 2003 to under $100 in 2025.">
            <a:extLst>
              <a:ext uri="{FF2B5EF4-FFF2-40B4-BE49-F238E27FC236}">
                <a16:creationId xmlns:a16="http://schemas.microsoft.com/office/drawing/2014/main" id="{B02A2E9F-F97E-462C-8137-E180BEE8DC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31"/>
          <a:stretch/>
        </p:blipFill>
        <p:spPr bwMode="auto">
          <a:xfrm>
            <a:off x="8356553" y="166499"/>
            <a:ext cx="2613025" cy="617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704C93-7FE4-4248-8689-92974A387D9E}"/>
              </a:ext>
            </a:extLst>
          </p:cNvPr>
          <p:cNvSpPr txBox="1"/>
          <p:nvPr/>
        </p:nvSpPr>
        <p:spPr>
          <a:xfrm>
            <a:off x="5734202" y="5738061"/>
            <a:ext cx="26130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https://www.fiosgenomics.com/genomics-sequencing-data-analysis-a-cost-timeline/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3634F7-52F6-4DEC-AEEA-626309FC838E}"/>
              </a:ext>
            </a:extLst>
          </p:cNvPr>
          <p:cNvSpPr txBox="1"/>
          <p:nvPr/>
        </p:nvSpPr>
        <p:spPr>
          <a:xfrm>
            <a:off x="254833" y="5548162"/>
            <a:ext cx="19351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PMID: 37508427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85D02B-973F-465B-9F1F-786AD1359D3A}"/>
              </a:ext>
            </a:extLst>
          </p:cNvPr>
          <p:cNvSpPr/>
          <p:nvPr/>
        </p:nvSpPr>
        <p:spPr>
          <a:xfrm>
            <a:off x="6744308" y="4542211"/>
            <a:ext cx="1189178" cy="957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All Of Us /</a:t>
            </a:r>
          </a:p>
          <a:p>
            <a:pPr algn="ctr"/>
            <a:r>
              <a:rPr lang="en-US" sz="1200" dirty="0">
                <a:solidFill>
                  <a:schemeClr val="bg2">
                    <a:lumMod val="75000"/>
                    <a:lumOff val="25000"/>
                  </a:schemeClr>
                </a:solidFill>
                <a:latin typeface="Helvetica Neue Light" panose="020B0604020202020204" charset="0"/>
              </a:rPr>
              <a:t>1+ Million Genomes</a:t>
            </a:r>
            <a:endParaRPr lang="en-CA" sz="1200" dirty="0">
              <a:solidFill>
                <a:schemeClr val="bg2">
                  <a:lumMod val="75000"/>
                  <a:lumOff val="25000"/>
                </a:schemeClr>
              </a:solidFill>
              <a:latin typeface="Helvetica Neue Light" panose="020B0604020202020204" charset="0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C335DA0E-06FD-44FE-BC44-EEFA3BB2A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52" y="1692453"/>
            <a:ext cx="5359652" cy="380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42315B-7D60-4808-8E5C-4FCF51FD2A1A}"/>
              </a:ext>
            </a:extLst>
          </p:cNvPr>
          <p:cNvCxnSpPr/>
          <p:nvPr/>
        </p:nvCxnSpPr>
        <p:spPr>
          <a:xfrm>
            <a:off x="7940179" y="3382361"/>
            <a:ext cx="416374" cy="0"/>
          </a:xfrm>
          <a:prstGeom prst="straightConnector1">
            <a:avLst/>
          </a:prstGeom>
          <a:ln w="38100">
            <a:solidFill>
              <a:schemeClr val="bg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1C64A-D838-46BB-B8C0-CC78A3088DC4}"/>
              </a:ext>
            </a:extLst>
          </p:cNvPr>
          <p:cNvCxnSpPr/>
          <p:nvPr/>
        </p:nvCxnSpPr>
        <p:spPr>
          <a:xfrm>
            <a:off x="7930853" y="619546"/>
            <a:ext cx="416374" cy="0"/>
          </a:xfrm>
          <a:prstGeom prst="straightConnector1">
            <a:avLst/>
          </a:prstGeom>
          <a:ln w="38100">
            <a:solidFill>
              <a:schemeClr val="bg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14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>
                <a:latin typeface="Helvetica Neue Light" panose="020B0604020202020204" charset="0"/>
              </a:rPr>
              <a:t>Established players in sequencing</a:t>
            </a:r>
            <a:endParaRPr lang="en-US"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 Light" panose="020B0604020202020204" charset="0"/>
              </a:rPr>
              <a:t>Illumina</a:t>
            </a:r>
          </a:p>
          <a:p>
            <a:pPr marL="6350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 Light" panose="020B0604020202020204" charset="0"/>
              </a:rPr>
              <a:t>Oxford Nanopore</a:t>
            </a:r>
          </a:p>
          <a:p>
            <a:pPr marL="6350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 Light" panose="020B0604020202020204" charset="0"/>
              </a:rPr>
              <a:t>PacBio</a:t>
            </a:r>
          </a:p>
          <a:p>
            <a:pPr algn="l"/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8823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>
                <a:latin typeface="Helvetica Neue Light" panose="020B0604020202020204" charset="0"/>
              </a:rPr>
              <a:t>DNA sequencing: DNA polymerase</a:t>
            </a:r>
            <a:endParaRPr lang="en-US" dirty="0"/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453984-7FBF-4483-9DBE-9B189E721E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34" t="28087" r="20842" b="2796"/>
          <a:stretch/>
        </p:blipFill>
        <p:spPr>
          <a:xfrm>
            <a:off x="2145671" y="1484352"/>
            <a:ext cx="7451002" cy="500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>
                <a:latin typeface="Helvetica Neue Light" panose="020B0604020202020204" charset="0"/>
              </a:rPr>
              <a:t>Illumina sequencing by synthesis</a:t>
            </a:r>
            <a:endParaRPr lang="en-US" dirty="0"/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14FE50-C40B-4B95-A986-E5972F0BE1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54" t="26314" r="23738" b="2796"/>
          <a:stretch/>
        </p:blipFill>
        <p:spPr>
          <a:xfrm>
            <a:off x="2471595" y="1367072"/>
            <a:ext cx="6609031" cy="484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70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>
                <a:latin typeface="Helvetica Neue Light" panose="020B0604020202020204" charset="0"/>
              </a:rPr>
              <a:t>Illumina sequencing by synthesis</a:t>
            </a:r>
            <a:endParaRPr lang="en-US" dirty="0"/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90D4D8-1C12-4273-BA7D-7C7C188D52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569" t="29098" r="19727" b="2796"/>
          <a:stretch/>
        </p:blipFill>
        <p:spPr>
          <a:xfrm>
            <a:off x="2009869" y="1484769"/>
            <a:ext cx="7278986" cy="465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08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>
                <a:latin typeface="Helvetica Neue Light" panose="020B0604020202020204" charset="0"/>
              </a:rPr>
              <a:t>Illumina sequencing by synthesis</a:t>
            </a:r>
            <a:endParaRPr lang="en-US" dirty="0"/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52CA84-70CD-4777-8DD0-B686E8E636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935" t="28170" r="17351" b="2531"/>
          <a:stretch/>
        </p:blipFill>
        <p:spPr>
          <a:xfrm>
            <a:off x="1837853" y="1421394"/>
            <a:ext cx="7767873" cy="473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803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>
                <a:latin typeface="Helvetica Neue Light" panose="020B0604020202020204" charset="0"/>
              </a:rPr>
              <a:t>Illumina sequencing by synthesis</a:t>
            </a:r>
            <a:endParaRPr lang="en-US" dirty="0"/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F9CE6C-4ABE-43D7-BED7-C24C586C58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828" t="28700" r="18762" b="3856"/>
          <a:stretch/>
        </p:blipFill>
        <p:spPr>
          <a:xfrm>
            <a:off x="2055135" y="1575301"/>
            <a:ext cx="7487217" cy="460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74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Homopolymers are tricky to sequence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426465"/>
            <a:ext cx="10515600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Polymerases can slip on long sequences of the same nucleotide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Get lots of indels</a:t>
            </a:r>
            <a:r>
              <a:rPr lang="en-US" sz="2400" b="0" i="0" u="none" strike="noStrike" baseline="0" dirty="0">
                <a:latin typeface="Helvetica Neue Light" panose="020B0604020202020204" charset="0"/>
              </a:rPr>
              <a:t> 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209C53-81DE-400A-8302-7AA3D04ACB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500" t="32759" r="1500" b="9503"/>
          <a:stretch/>
        </p:blipFill>
        <p:spPr>
          <a:xfrm>
            <a:off x="0" y="2663290"/>
            <a:ext cx="12193217" cy="361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Illumina read profile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Read pairs facing inwards 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Length usually 150 bp each end of pair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Accuracy &gt; 99.9%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Only ACTG, no modified bases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381163A-0481-4963-B77B-B988ACA67E77}"/>
              </a:ext>
            </a:extLst>
          </p:cNvPr>
          <p:cNvCxnSpPr/>
          <p:nvPr/>
        </p:nvCxnSpPr>
        <p:spPr>
          <a:xfrm>
            <a:off x="5144237" y="2176862"/>
            <a:ext cx="725621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967587-41D8-4827-B73B-2E993C42E46B}"/>
              </a:ext>
            </a:extLst>
          </p:cNvPr>
          <p:cNvCxnSpPr>
            <a:cxnSpLocks/>
          </p:cNvCxnSpPr>
          <p:nvPr/>
        </p:nvCxnSpPr>
        <p:spPr>
          <a:xfrm flipH="1">
            <a:off x="6479458" y="2176862"/>
            <a:ext cx="758066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254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Illumina summary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42267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High throughput, high accuracy, low cost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Different platforms for different needs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Most commonly used technology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Read length limited to ~150 bp each pair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No base modifications read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BCEA59-E3EB-4FA6-8C96-7DCFF6294B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37" t="40265" r="64058" b="7962"/>
          <a:stretch/>
        </p:blipFill>
        <p:spPr>
          <a:xfrm>
            <a:off x="7798925" y="447203"/>
            <a:ext cx="1779642" cy="29080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EC75D4-65E5-468D-A263-B3FB1E2E7D50}"/>
              </a:ext>
            </a:extLst>
          </p:cNvPr>
          <p:cNvSpPr txBox="1"/>
          <p:nvPr/>
        </p:nvSpPr>
        <p:spPr>
          <a:xfrm>
            <a:off x="9985971" y="1901247"/>
            <a:ext cx="1683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Helvetica Neue Light" panose="020B0604020202020204" charset="0"/>
              </a:rPr>
              <a:t>NovaSeq</a:t>
            </a:r>
            <a:r>
              <a:rPr lang="en-US" dirty="0">
                <a:latin typeface="Helvetica Neue Light" panose="020B0604020202020204" charset="0"/>
              </a:rPr>
              <a:t> X Plus</a:t>
            </a:r>
            <a:endParaRPr lang="en-CA" dirty="0">
              <a:latin typeface="Helvetica Neue Light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BBF674-F154-4662-BDCD-121516DE1071}"/>
              </a:ext>
            </a:extLst>
          </p:cNvPr>
          <p:cNvSpPr txBox="1"/>
          <p:nvPr/>
        </p:nvSpPr>
        <p:spPr>
          <a:xfrm>
            <a:off x="10204939" y="4905489"/>
            <a:ext cx="2733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Helvetica Neue Light" panose="020B0604020202020204" charset="0"/>
              </a:rPr>
              <a:t>MiSeq</a:t>
            </a:r>
            <a:r>
              <a:rPr lang="en-US" dirty="0">
                <a:latin typeface="Helvetica Neue Light" panose="020B0604020202020204" charset="0"/>
              </a:rPr>
              <a:t> i100</a:t>
            </a:r>
            <a:endParaRPr lang="en-CA" dirty="0">
              <a:latin typeface="Helvetica Neue Light" panose="020B0604020202020204" charset="0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78335BE2-E801-4DB5-8139-58C5DD325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079" y="4081533"/>
            <a:ext cx="1779642" cy="177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63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Oxford Nanopore (ONT) sequencing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5863958" y="1825625"/>
            <a:ext cx="548984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Unique nanopore technology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Not sequencing by synthesis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AEBA3-EF97-463C-AE5F-FDE79B42411D}"/>
              </a:ext>
            </a:extLst>
          </p:cNvPr>
          <p:cNvSpPr txBox="1"/>
          <p:nvPr/>
        </p:nvSpPr>
        <p:spPr>
          <a:xfrm>
            <a:off x="520268" y="5269141"/>
            <a:ext cx="4564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https://nanoporetech.com/platform/technology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AFA1CE-4868-4AE5-B6D2-11CFCDBE8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4" y="1805465"/>
            <a:ext cx="4688527" cy="264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81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Oxford Nanopore sequencing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6489290" y="1825625"/>
            <a:ext cx="486451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Native DNA or RNA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No amplification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Size selection not necessary</a:t>
            </a:r>
          </a:p>
          <a:p>
            <a:pPr algn="l"/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F8065-974B-4815-9541-A33ED07A01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b="61290"/>
          <a:stretch/>
        </p:blipFill>
        <p:spPr>
          <a:xfrm>
            <a:off x="943402" y="1690688"/>
            <a:ext cx="4377815" cy="3797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B106FE-D624-45AA-A560-FCE445A8CAC6}"/>
              </a:ext>
            </a:extLst>
          </p:cNvPr>
          <p:cNvSpPr txBox="1"/>
          <p:nvPr/>
        </p:nvSpPr>
        <p:spPr>
          <a:xfrm>
            <a:off x="3014899" y="5869186"/>
            <a:ext cx="150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PMID: 32504078</a:t>
            </a:r>
          </a:p>
        </p:txBody>
      </p:sp>
    </p:spTree>
    <p:extLst>
      <p:ext uri="{BB962C8B-B14F-4D97-AF65-F5344CB8AC3E}">
        <p14:creationId xmlns:p14="http://schemas.microsoft.com/office/powerpoint/2010/main" val="1580604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Oxford Nanopore sequencing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6489290" y="1825625"/>
            <a:ext cx="486451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Motor protein moves DNA through the pore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Detect changes in electrical signal depending on sequence in the pore (“squiggle”)</a:t>
            </a:r>
          </a:p>
          <a:p>
            <a:pPr algn="l"/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106FE-D624-45AA-A560-FCE445A8CAC6}"/>
              </a:ext>
            </a:extLst>
          </p:cNvPr>
          <p:cNvSpPr txBox="1"/>
          <p:nvPr/>
        </p:nvSpPr>
        <p:spPr>
          <a:xfrm>
            <a:off x="4855497" y="5869186"/>
            <a:ext cx="150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PMID: 32504078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4D9B19-0EC0-41B4-A90C-572BD6BE98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850"/>
          <a:stretch/>
        </p:blipFill>
        <p:spPr>
          <a:xfrm>
            <a:off x="1031894" y="1392247"/>
            <a:ext cx="3522408" cy="490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38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Oxford Nanopore sequencing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6489290" y="1825625"/>
            <a:ext cx="536251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Signal depends on multiple bases</a:t>
            </a:r>
          </a:p>
          <a:p>
            <a:pPr algn="l"/>
            <a:r>
              <a:rPr lang="en-US" sz="2400" dirty="0" err="1">
                <a:latin typeface="Helvetica Neue Light" panose="020B0604020202020204" charset="0"/>
              </a:rPr>
              <a:t>Basecaller</a:t>
            </a:r>
            <a:r>
              <a:rPr lang="en-US" sz="2400" dirty="0">
                <a:latin typeface="Helvetica Neue Light" panose="020B0604020202020204" charset="0"/>
              </a:rPr>
              <a:t> decodes</a:t>
            </a:r>
          </a:p>
          <a:p>
            <a:pPr algn="l"/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C834A-6A64-4365-B8F9-A38549614A3E}"/>
              </a:ext>
            </a:extLst>
          </p:cNvPr>
          <p:cNvSpPr txBox="1"/>
          <p:nvPr/>
        </p:nvSpPr>
        <p:spPr>
          <a:xfrm>
            <a:off x="661851" y="5959365"/>
            <a:ext cx="4246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https://nanoporetech.com/platform/technology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C2ED7-3DF2-44DD-AEB5-9142C5046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74" y="1517006"/>
            <a:ext cx="3774127" cy="21280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F0698F-4A9A-4654-868D-992AD61A9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889" y="3724022"/>
            <a:ext cx="2786495" cy="179655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47FAC5F-05EF-43FC-AD68-EEB4FFCBB8B9}"/>
              </a:ext>
            </a:extLst>
          </p:cNvPr>
          <p:cNvGrpSpPr/>
          <p:nvPr/>
        </p:nvGrpSpPr>
        <p:grpSpPr>
          <a:xfrm>
            <a:off x="7083160" y="3072019"/>
            <a:ext cx="2635283" cy="2975837"/>
            <a:chOff x="5995472" y="2830145"/>
            <a:chExt cx="1871132" cy="221543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BC9101F-70D2-4381-A025-EE82E93EC0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66216"/>
            <a:stretch/>
          </p:blipFill>
          <p:spPr>
            <a:xfrm>
              <a:off x="5995473" y="2830145"/>
              <a:ext cx="1871131" cy="121091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CB31768-1A1B-4CE7-B382-912D46A349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71996"/>
            <a:stretch/>
          </p:blipFill>
          <p:spPr>
            <a:xfrm>
              <a:off x="5995472" y="4041816"/>
              <a:ext cx="1871131" cy="10037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7346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Oxford Nanopore sequencing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6489290" y="1825625"/>
            <a:ext cx="536251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Includes base modifications: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5mC in DNA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m6A in RNA</a:t>
            </a:r>
          </a:p>
          <a:p>
            <a:pPr lvl="1"/>
            <a:r>
              <a:rPr lang="en-US" sz="2000" dirty="0">
                <a:latin typeface="Helvetica Neue Light" panose="020B0604020202020204" charset="0"/>
              </a:rPr>
              <a:t>Others with variable accuracy</a:t>
            </a:r>
          </a:p>
          <a:p>
            <a:pPr lvl="1"/>
            <a:endParaRPr lang="en-US" sz="2000" dirty="0">
              <a:latin typeface="Helvetica Neue Light" panose="020B0604020202020204" charset="0"/>
            </a:endParaRPr>
          </a:p>
          <a:p>
            <a:pPr algn="l"/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40962" name="Picture 2" descr="Fig. 1">
            <a:extLst>
              <a:ext uri="{FF2B5EF4-FFF2-40B4-BE49-F238E27FC236}">
                <a16:creationId xmlns:a16="http://schemas.microsoft.com/office/drawing/2014/main" id="{9771C8D9-F74F-42D8-82F8-DF97DA3202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52300" r="41424" b="51044"/>
          <a:stretch/>
        </p:blipFill>
        <p:spPr bwMode="auto">
          <a:xfrm>
            <a:off x="252939" y="-1275397"/>
            <a:ext cx="5743947" cy="5576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Fig. 1">
            <a:extLst>
              <a:ext uri="{FF2B5EF4-FFF2-40B4-BE49-F238E27FC236}">
                <a16:creationId xmlns:a16="http://schemas.microsoft.com/office/drawing/2014/main" id="{FAB64FA5-8BAA-4452-BD5D-7C5EF409F6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97" t="8475" r="13751" b="52840"/>
          <a:stretch/>
        </p:blipFill>
        <p:spPr bwMode="auto">
          <a:xfrm>
            <a:off x="5633884" y="3686184"/>
            <a:ext cx="3420153" cy="264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050F71-B910-4F18-A482-32422B7183E7}"/>
              </a:ext>
            </a:extLst>
          </p:cNvPr>
          <p:cNvSpPr txBox="1"/>
          <p:nvPr/>
        </p:nvSpPr>
        <p:spPr>
          <a:xfrm>
            <a:off x="531270" y="5869186"/>
            <a:ext cx="150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PMID: 31602005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063063-F1E2-49A9-A26B-DCA4A6E34094}"/>
              </a:ext>
            </a:extLst>
          </p:cNvPr>
          <p:cNvSpPr/>
          <p:nvPr/>
        </p:nvSpPr>
        <p:spPr>
          <a:xfrm>
            <a:off x="0" y="1409945"/>
            <a:ext cx="808211" cy="536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2872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Oxford Nanopore read profile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91642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Single end</a:t>
            </a:r>
          </a:p>
          <a:p>
            <a:r>
              <a:rPr lang="en-US" sz="2400" dirty="0">
                <a:latin typeface="Helvetica Neue Light" panose="020B0604020202020204" charset="0"/>
              </a:rPr>
              <a:t>Very long reads (10 kb – 1M+)</a:t>
            </a:r>
          </a:p>
          <a:p>
            <a:r>
              <a:rPr lang="en-US" sz="2400" dirty="0">
                <a:latin typeface="Helvetica Neue Light" panose="020B0604020202020204" charset="0"/>
              </a:rPr>
              <a:t>Higher error rate </a:t>
            </a:r>
            <a:r>
              <a:rPr lang="en-US" sz="2400" b="1" dirty="0">
                <a:latin typeface="Helvetica Neue Light" panose="020B0604020202020204" charset="0"/>
              </a:rPr>
              <a:t>especially at homopolymers</a:t>
            </a:r>
          </a:p>
          <a:p>
            <a:r>
              <a:rPr lang="en-US" sz="2400" dirty="0">
                <a:latin typeface="Helvetica Neue Light" panose="020B0604020202020204" charset="0"/>
              </a:rPr>
              <a:t>Captures base modifications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D0EFF-3257-4A16-8069-25CA3A8F9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280" y="3894304"/>
            <a:ext cx="5776378" cy="23606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32FE63-E149-471E-A559-9476975301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85" t="46265" b="483"/>
          <a:stretch/>
        </p:blipFill>
        <p:spPr>
          <a:xfrm>
            <a:off x="6330008" y="1437100"/>
            <a:ext cx="5567879" cy="23606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90783E-6EDF-4944-B4C4-8CA4785AFB11}"/>
              </a:ext>
            </a:extLst>
          </p:cNvPr>
          <p:cNvSpPr txBox="1"/>
          <p:nvPr/>
        </p:nvSpPr>
        <p:spPr>
          <a:xfrm>
            <a:off x="10603030" y="3740416"/>
            <a:ext cx="150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PMID: 32504078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00D7C-35DA-46AD-84A6-B5C672703ED6}"/>
              </a:ext>
            </a:extLst>
          </p:cNvPr>
          <p:cNvSpPr txBox="1"/>
          <p:nvPr/>
        </p:nvSpPr>
        <p:spPr>
          <a:xfrm>
            <a:off x="6236741" y="6142132"/>
            <a:ext cx="4246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https://nanoporetech.com/platform/technology</a:t>
            </a:r>
          </a:p>
        </p:txBody>
      </p:sp>
    </p:spTree>
    <p:extLst>
      <p:ext uri="{BB962C8B-B14F-4D97-AF65-F5344CB8AC3E}">
        <p14:creationId xmlns:p14="http://schemas.microsoft.com/office/powerpoint/2010/main" val="73801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Oxford Nanopore summary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42267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Very long reads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Lower accuracy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Minimal prep, highly flexible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BD332-11B8-450E-8248-65FF7E5CBCFA}"/>
              </a:ext>
            </a:extLst>
          </p:cNvPr>
          <p:cNvSpPr txBox="1"/>
          <p:nvPr/>
        </p:nvSpPr>
        <p:spPr>
          <a:xfrm>
            <a:off x="10370367" y="2052439"/>
            <a:ext cx="1683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Helvetica Neue Light" panose="020B0604020202020204" charset="0"/>
              </a:rPr>
              <a:t>PromethION</a:t>
            </a:r>
            <a:endParaRPr lang="en-CA" dirty="0">
              <a:latin typeface="Helvetica Neue Light" panose="020B06040202020202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4B8C11-9FC4-4577-B2FF-3764E55A1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980" y="4206239"/>
            <a:ext cx="1909387" cy="12303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D336D2-BB92-403C-B02B-1E45E2DC639A}"/>
              </a:ext>
            </a:extLst>
          </p:cNvPr>
          <p:cNvSpPr txBox="1"/>
          <p:nvPr/>
        </p:nvSpPr>
        <p:spPr>
          <a:xfrm>
            <a:off x="10567077" y="4741561"/>
            <a:ext cx="1683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Helvetica Neue Light" panose="020B0604020202020204" charset="0"/>
              </a:rPr>
              <a:t>MinION</a:t>
            </a:r>
            <a:endParaRPr lang="en-CA" dirty="0">
              <a:latin typeface="Helvetica Neue Light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98D44-FD45-425C-AE8E-23AE48DFD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141" y="1751549"/>
            <a:ext cx="2851944" cy="163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963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Pacific Biosciences HiFi sequencing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6027533" y="1802028"/>
            <a:ext cx="618427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Creat</a:t>
            </a:r>
            <a:r>
              <a:rPr lang="en-US" sz="2400" dirty="0">
                <a:latin typeface="Helvetica Neue Light" panose="020B0604020202020204" charset="0"/>
              </a:rPr>
              <a:t>e circular template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6E7F2C8-17A2-4BA3-8BCE-6A813926A2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000"/>
          <a:stretch/>
        </p:blipFill>
        <p:spPr>
          <a:xfrm>
            <a:off x="307873" y="1283915"/>
            <a:ext cx="5581650" cy="45148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26F90C-327F-451E-8156-36AD928EB3B4}"/>
              </a:ext>
            </a:extLst>
          </p:cNvPr>
          <p:cNvSpPr txBox="1"/>
          <p:nvPr/>
        </p:nvSpPr>
        <p:spPr>
          <a:xfrm>
            <a:off x="445883" y="5798765"/>
            <a:ext cx="6106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https://www.pacb.com/technology/hifi-sequencing/how-it-works/</a:t>
            </a:r>
          </a:p>
        </p:txBody>
      </p:sp>
    </p:spTree>
    <p:extLst>
      <p:ext uri="{BB962C8B-B14F-4D97-AF65-F5344CB8AC3E}">
        <p14:creationId xmlns:p14="http://schemas.microsoft.com/office/powerpoint/2010/main" val="1268882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Pacific Biosciences HiFi sequencing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6027533" y="1802028"/>
            <a:ext cx="618427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Millions of </a:t>
            </a:r>
            <a:r>
              <a:rPr lang="en-US" sz="2400" dirty="0" err="1">
                <a:latin typeface="Helvetica Neue Light" panose="020B0604020202020204" charset="0"/>
              </a:rPr>
              <a:t>nanowells</a:t>
            </a:r>
            <a:r>
              <a:rPr lang="en-US" sz="2400" dirty="0">
                <a:latin typeface="Helvetica Neue Light" panose="020B0604020202020204" charset="0"/>
              </a:rPr>
              <a:t> (Zero-Mode Waveguide, ZMW)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One polymerase each</a:t>
            </a:r>
          </a:p>
          <a:p>
            <a:r>
              <a:rPr lang="en-US" sz="2400" dirty="0">
                <a:latin typeface="Helvetica Neue Light" panose="020B0604020202020204" charset="0"/>
              </a:rPr>
              <a:t>Sequencing by synthesis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433D8-4331-413C-A996-DB34F0E26677}"/>
              </a:ext>
            </a:extLst>
          </p:cNvPr>
          <p:cNvSpPr txBox="1"/>
          <p:nvPr/>
        </p:nvSpPr>
        <p:spPr>
          <a:xfrm>
            <a:off x="4684416" y="6023074"/>
            <a:ext cx="150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PMID: 32504078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F3DAFA-B2DA-43EE-98BF-05993DE51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3912561" cy="410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9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Pacific Biosciences HiFi sequencing</a:t>
            </a:r>
            <a:endParaRPr dirty="0"/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14A2B0-8605-4E99-ABFC-1450A9FCF6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631" t="22047" r="37434" b="24488"/>
          <a:stretch/>
        </p:blipFill>
        <p:spPr>
          <a:xfrm>
            <a:off x="1086418" y="1450817"/>
            <a:ext cx="3349780" cy="4915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97C593-0D3F-4735-9178-3191F9EA3C46}"/>
              </a:ext>
            </a:extLst>
          </p:cNvPr>
          <p:cNvSpPr txBox="1"/>
          <p:nvPr/>
        </p:nvSpPr>
        <p:spPr>
          <a:xfrm>
            <a:off x="4684416" y="6023074"/>
            <a:ext cx="150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PMID: 32504078</a:t>
            </a:r>
          </a:p>
        </p:txBody>
      </p:sp>
      <p:sp>
        <p:nvSpPr>
          <p:cNvPr id="9" name="Google Shape;105;p4">
            <a:extLst>
              <a:ext uri="{FF2B5EF4-FFF2-40B4-BE49-F238E27FC236}">
                <a16:creationId xmlns:a16="http://schemas.microsoft.com/office/drawing/2014/main" id="{F0FF7656-3B1E-4994-934D-AE3F6586C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27533" y="1802028"/>
            <a:ext cx="618427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Creat</a:t>
            </a:r>
            <a:r>
              <a:rPr lang="en-US" sz="2400" dirty="0">
                <a:latin typeface="Helvetica Neue Light" panose="020B0604020202020204" charset="0"/>
              </a:rPr>
              <a:t>e circular template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Millions of </a:t>
            </a:r>
            <a:r>
              <a:rPr lang="en-US" sz="2400" dirty="0" err="1">
                <a:latin typeface="Helvetica Neue Light" panose="020B0604020202020204" charset="0"/>
              </a:rPr>
              <a:t>nanowells</a:t>
            </a:r>
            <a:r>
              <a:rPr lang="en-US" sz="2400" dirty="0">
                <a:latin typeface="Helvetica Neue Light" panose="020B0604020202020204" charset="0"/>
              </a:rPr>
              <a:t> (Zero-Mode Waveguide, ZMW)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One polymerase each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Sequencing by synthesis</a:t>
            </a:r>
          </a:p>
          <a:p>
            <a:r>
              <a:rPr lang="en-US" sz="2400" dirty="0">
                <a:latin typeface="Helvetica Neue Light" panose="020B0604020202020204" charset="0"/>
              </a:rPr>
              <a:t>Detect light emitted in nucleotide incorporation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44C45B-9793-4BE7-ABCC-6C93281467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456" t="79630" r="37434" b="576"/>
          <a:stretch/>
        </p:blipFill>
        <p:spPr>
          <a:xfrm>
            <a:off x="8544362" y="4820960"/>
            <a:ext cx="2809438" cy="167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78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Pacific Biosciences HiFi sequencing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912A6D-8510-4C19-A25F-1852D81AE1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298" t="33795" r="10886" b="18812"/>
          <a:stretch/>
        </p:blipFill>
        <p:spPr>
          <a:xfrm>
            <a:off x="1097733" y="1896232"/>
            <a:ext cx="4998267" cy="36969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3A32FB-E4D1-4ACB-B1E0-C385F005D3A5}"/>
              </a:ext>
            </a:extLst>
          </p:cNvPr>
          <p:cNvSpPr txBox="1"/>
          <p:nvPr/>
        </p:nvSpPr>
        <p:spPr>
          <a:xfrm>
            <a:off x="445883" y="5798765"/>
            <a:ext cx="6106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https://www.pacb.com/technology/hifi-sequencing/how-it-works/</a:t>
            </a:r>
          </a:p>
        </p:txBody>
      </p:sp>
      <p:sp>
        <p:nvSpPr>
          <p:cNvPr id="10" name="Google Shape;105;p4">
            <a:extLst>
              <a:ext uri="{FF2B5EF4-FFF2-40B4-BE49-F238E27FC236}">
                <a16:creationId xmlns:a16="http://schemas.microsoft.com/office/drawing/2014/main" id="{6862249C-0F7F-4B93-9001-9C099E082A19}"/>
              </a:ext>
            </a:extLst>
          </p:cNvPr>
          <p:cNvSpPr txBox="1">
            <a:spLocks/>
          </p:cNvSpPr>
          <p:nvPr/>
        </p:nvSpPr>
        <p:spPr>
          <a:xfrm>
            <a:off x="6271777" y="2148183"/>
            <a:ext cx="5238938" cy="1894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 spc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>
                <a:latin typeface="Helvetica Neue Light" panose="020B0604020202020204" charset="0"/>
              </a:rPr>
              <a:t>Sequence repeatedly around circle and take consensus </a:t>
            </a:r>
          </a:p>
          <a:p>
            <a:r>
              <a:rPr lang="en-US" sz="2400" dirty="0">
                <a:latin typeface="Helvetica Neue Light" panose="020B0604020202020204" charset="0"/>
              </a:rPr>
              <a:t>Individual accuracy &lt; 90%</a:t>
            </a:r>
          </a:p>
          <a:p>
            <a:r>
              <a:rPr lang="en-US" sz="2400" dirty="0">
                <a:latin typeface="Helvetica Neue Light" panose="020B0604020202020204" charset="0"/>
              </a:rPr>
              <a:t>Consensus accuracy &gt; 99.9%</a:t>
            </a:r>
          </a:p>
        </p:txBody>
      </p:sp>
    </p:spTree>
    <p:extLst>
      <p:ext uri="{BB962C8B-B14F-4D97-AF65-F5344CB8AC3E}">
        <p14:creationId xmlns:p14="http://schemas.microsoft.com/office/powerpoint/2010/main" val="625874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PacBio read profile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Single end</a:t>
            </a:r>
          </a:p>
          <a:p>
            <a:r>
              <a:rPr lang="en-US" sz="2400" dirty="0">
                <a:latin typeface="Helvetica Neue Light" panose="020B0604020202020204" charset="0"/>
              </a:rPr>
              <a:t>Long reads  (&gt; 10 kb)</a:t>
            </a:r>
          </a:p>
          <a:p>
            <a:r>
              <a:rPr lang="en-US" sz="2400" dirty="0">
                <a:latin typeface="Helvetica Neue Light" panose="020B0604020202020204" charset="0"/>
              </a:rPr>
              <a:t>Extremely low error rate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Captures base modifications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E56C0-E241-4880-9F66-E566A3CBB2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327" b="483"/>
          <a:stretch/>
        </p:blipFill>
        <p:spPr>
          <a:xfrm>
            <a:off x="6048805" y="1762432"/>
            <a:ext cx="5878579" cy="333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814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PacBio summary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42267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dirty="0">
                <a:latin typeface="Helvetica Neue Light" panose="020B0604020202020204" charset="0"/>
              </a:rPr>
              <a:t>Very high accuracy, long reads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Widely used f</a:t>
            </a:r>
            <a:r>
              <a:rPr lang="en-US" sz="2400" dirty="0">
                <a:latin typeface="Helvetica Neue Light" panose="020B0604020202020204" charset="0"/>
              </a:rPr>
              <a:t>or genome assembly</a:t>
            </a:r>
          </a:p>
          <a:p>
            <a:r>
              <a:rPr lang="en-US" sz="2400" dirty="0">
                <a:latin typeface="Helvetica Neue Light" panose="020B0604020202020204" charset="0"/>
              </a:rPr>
              <a:t>Higher cost per base</a:t>
            </a:r>
          </a:p>
          <a:p>
            <a:r>
              <a:rPr lang="en-US" sz="2400" dirty="0">
                <a:latin typeface="Helvetica Neue Light" panose="020B0604020202020204" charset="0"/>
              </a:rPr>
              <a:t>Large footprint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15362" name="Picture 2" descr="PacBio To Begin Commercial Shipment of Revio Systems - PacBio">
            <a:extLst>
              <a:ext uri="{FF2B5EF4-FFF2-40B4-BE49-F238E27FC236}">
                <a16:creationId xmlns:a16="http://schemas.microsoft.com/office/drawing/2014/main" id="{D1E0F6CA-3DAA-44E7-B4FD-D652A95DD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879" y="1027906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2BD332-11B8-450E-8248-65FF7E5CBCFA}"/>
              </a:ext>
            </a:extLst>
          </p:cNvPr>
          <p:cNvSpPr txBox="1"/>
          <p:nvPr/>
        </p:nvSpPr>
        <p:spPr>
          <a:xfrm>
            <a:off x="10370367" y="2052439"/>
            <a:ext cx="1683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Helvetica Neue Light" panose="020B0604020202020204" charset="0"/>
              </a:rPr>
              <a:t>Revio</a:t>
            </a:r>
            <a:endParaRPr lang="en-CA" dirty="0">
              <a:latin typeface="Helvetica Neue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982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Newer technologies: Ultima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33112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Short read sequencing by synthesis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Wafer chip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Reduced use of expensive labelled dNTPs</a:t>
            </a: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Recently released paired reads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Pushing for $80 whole genome</a:t>
            </a:r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41986" name="Picture 2">
            <a:extLst>
              <a:ext uri="{FF2B5EF4-FFF2-40B4-BE49-F238E27FC236}">
                <a16:creationId xmlns:a16="http://schemas.microsoft.com/office/drawing/2014/main" id="{90DAE8F0-2EFF-4662-A075-379B15254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992" y="1330642"/>
            <a:ext cx="5331120" cy="5064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2728AD-5BA0-4FA8-8462-74FAD6E50014}"/>
              </a:ext>
            </a:extLst>
          </p:cNvPr>
          <p:cNvSpPr txBox="1"/>
          <p:nvPr/>
        </p:nvSpPr>
        <p:spPr>
          <a:xfrm>
            <a:off x="588180" y="6071781"/>
            <a:ext cx="6105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50000"/>
                  </a:schemeClr>
                </a:solidFill>
                <a:latin typeface="Helvetica Neue Light" panose="020B0604020202020204" charset="0"/>
              </a:rPr>
              <a:t>https://www.biorxiv.org/content/10.1101/2022.05.29.493900v4.full</a:t>
            </a:r>
          </a:p>
        </p:txBody>
      </p:sp>
    </p:spTree>
    <p:extLst>
      <p:ext uri="{BB962C8B-B14F-4D97-AF65-F5344CB8AC3E}">
        <p14:creationId xmlns:p14="http://schemas.microsoft.com/office/powerpoint/2010/main" val="3637205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Newer technologies: AVITI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165182" y="1825625"/>
            <a:ext cx="311945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Polymerase based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Multivalent nucleotide binding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Better homopolymer accuracy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Paired short reads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Not cheaper</a:t>
            </a:r>
          </a:p>
          <a:p>
            <a:pPr algn="l"/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43010" name="Picture 2" descr="Fig. 1: Avidity sequencing workflow and scheme.">
            <a:extLst>
              <a:ext uri="{FF2B5EF4-FFF2-40B4-BE49-F238E27FC236}">
                <a16:creationId xmlns:a16="http://schemas.microsoft.com/office/drawing/2014/main" id="{E6E05A03-942D-40DF-B9B1-A91634A50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22" y="1342364"/>
            <a:ext cx="8694989" cy="3890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2" name="Picture 4" descr="Fig. 5: Comparison of mismatch rate following homopolymers of length between four and 29.">
            <a:extLst>
              <a:ext uri="{FF2B5EF4-FFF2-40B4-BE49-F238E27FC236}">
                <a16:creationId xmlns:a16="http://schemas.microsoft.com/office/drawing/2014/main" id="{65F01D53-E703-4DAC-9A8A-C68FED601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543" y="5075145"/>
            <a:ext cx="6186457" cy="141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461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Sequencing formats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38907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FASTA: Base sequences</a:t>
            </a:r>
          </a:p>
          <a:p>
            <a:pPr algn="l"/>
            <a:endParaRPr lang="en-US" sz="2400" b="0" i="0" u="none" strike="noStrike" baseline="0" dirty="0">
              <a:latin typeface="Helvetica Neue Light" panose="020B0604020202020204" charset="0"/>
            </a:endParaRP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FASTQ: Base sequences and quality scores</a:t>
            </a: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endParaRPr lang="en-US" sz="2400" dirty="0">
              <a:latin typeface="Helvetica Neue Light" panose="020B0604020202020204" charset="0"/>
            </a:endParaRPr>
          </a:p>
          <a:p>
            <a:pPr algn="l"/>
            <a:endParaRPr lang="en-US" sz="2400" b="0" i="0" u="none" strike="noStrike" baseline="0" dirty="0">
              <a:latin typeface="Helvetica Neue Light" panose="020B0604020202020204" charset="0"/>
            </a:endParaRPr>
          </a:p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BAM/CRAM: Alignment formats (compared to a reference)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40569D-BDEC-4424-BF8A-91BC3C8725AB}"/>
              </a:ext>
            </a:extLst>
          </p:cNvPr>
          <p:cNvSpPr txBox="1"/>
          <p:nvPr/>
        </p:nvSpPr>
        <p:spPr>
          <a:xfrm>
            <a:off x="1801270" y="1952181"/>
            <a:ext cx="61058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CA" sz="1800" dirty="0">
                <a:latin typeface="Consolas" panose="020B0609020204030204" pitchFamily="49" charset="0"/>
              </a:rPr>
              <a:t>&gt;chromosome1</a:t>
            </a:r>
          </a:p>
          <a:p>
            <a:r>
              <a:rPr lang="en-CA" sz="1800" dirty="0">
                <a:latin typeface="Consolas" panose="020B0609020204030204" pitchFamily="49" charset="0"/>
              </a:rPr>
              <a:t>AGTCGATCGATCAGACTAACGATCGATCGAATCGAAT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AFA548-CE98-4BA0-9BFB-E4D02BC3D379}"/>
              </a:ext>
            </a:extLst>
          </p:cNvPr>
          <p:cNvSpPr txBox="1"/>
          <p:nvPr/>
        </p:nvSpPr>
        <p:spPr>
          <a:xfrm>
            <a:off x="1801270" y="3547199"/>
            <a:ext cx="610583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CA" sz="1800" dirty="0">
                <a:solidFill>
                  <a:schemeClr val="tx1"/>
                </a:solidFill>
                <a:latin typeface="Consolas" panose="020B0609020204030204" pitchFamily="49" charset="0"/>
              </a:rPr>
              <a:t>&gt;chromosome1</a:t>
            </a:r>
          </a:p>
          <a:p>
            <a:r>
              <a:rPr lang="en-CA" sz="1800" dirty="0">
                <a:solidFill>
                  <a:schemeClr val="tx1"/>
                </a:solidFill>
                <a:latin typeface="Consolas" panose="020B0609020204030204" pitchFamily="49" charset="0"/>
              </a:rPr>
              <a:t>AGTCGATCGATCAGACTAACGATCGATCGAATCGAAT</a:t>
            </a:r>
          </a:p>
          <a:p>
            <a:r>
              <a:rPr lang="en-CA" sz="18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ea typeface="Courier New OS"/>
                <a:cs typeface="Courier New OS"/>
                <a:sym typeface="Courier New OS"/>
              </a:rPr>
              <a:t>CFHIGIGIJIIJFHIJJIIJIHFFFEDDDDDDDDDDD</a:t>
            </a:r>
            <a:endParaRPr lang="en-CA" sz="18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4628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Sequencing quality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199" y="1321455"/>
            <a:ext cx="11113893" cy="97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Quality is measured by the </a:t>
            </a:r>
            <a:r>
              <a:rPr lang="en-US" sz="2400" b="0" i="0" u="none" strike="noStrike" baseline="0" dirty="0" err="1">
                <a:latin typeface="Helvetica Neue Light" panose="020B0604020202020204" charset="0"/>
              </a:rPr>
              <a:t>Phred</a:t>
            </a:r>
            <a:r>
              <a:rPr lang="en-US" sz="2400" b="0" i="0" u="none" strike="noStrike" baseline="0" dirty="0">
                <a:latin typeface="Helvetica Neue Light" panose="020B0604020202020204" charset="0"/>
              </a:rPr>
              <a:t> score (named after software </a:t>
            </a:r>
            <a:r>
              <a:rPr lang="en-US" sz="2400" b="0" i="0" u="none" strike="noStrike" baseline="0" dirty="0" err="1">
                <a:latin typeface="Helvetica Neue Light" panose="020B0604020202020204" charset="0"/>
              </a:rPr>
              <a:t>Phred</a:t>
            </a:r>
            <a:r>
              <a:rPr lang="en-US" sz="2400" b="0" i="0" u="none" strike="noStrike" baseline="0" dirty="0">
                <a:latin typeface="Helvetica Neue Light" panose="020B0604020202020204" charset="0"/>
              </a:rPr>
              <a:t>, used for Sanger sequencing analysis in the 1990s). </a:t>
            </a:r>
            <a:r>
              <a:rPr lang="en-US" sz="2400" b="0" i="0" u="none" strike="noStrike" baseline="0" dirty="0" err="1">
                <a:latin typeface="Helvetica Neue Light" panose="020B0604020202020204" charset="0"/>
              </a:rPr>
              <a:t>Eg</a:t>
            </a:r>
            <a:r>
              <a:rPr lang="en-US" sz="2400" b="0" i="0" u="none" strike="noStrike" baseline="0" dirty="0">
                <a:latin typeface="Helvetica Neue Light" panose="020B0604020202020204" charset="0"/>
              </a:rPr>
              <a:t> a “Q40 base” is highly accurate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8A3E023-B8EB-45FA-BA5A-047A49A43179}"/>
              </a:ext>
            </a:extLst>
          </p:cNvPr>
          <p:cNvGrpSpPr/>
          <p:nvPr/>
        </p:nvGrpSpPr>
        <p:grpSpPr>
          <a:xfrm>
            <a:off x="1851868" y="2300146"/>
            <a:ext cx="9150353" cy="3938606"/>
            <a:chOff x="1073153" y="1633519"/>
            <a:chExt cx="9150353" cy="3938606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B80B0D70-5EC4-4DD6-8A9D-5D4717BF4118}"/>
                </a:ext>
              </a:extLst>
            </p:cNvPr>
            <p:cNvSpPr/>
            <p:nvPr/>
          </p:nvSpPr>
          <p:spPr>
            <a:xfrm>
              <a:off x="1073153" y="2178053"/>
              <a:ext cx="9150353" cy="3394072"/>
            </a:xfrm>
            <a:custGeom>
              <a:avLst/>
              <a:gdLst/>
              <a:ahLst/>
              <a:cxnLst/>
              <a:rect l="l" t="t" r="r" b="b"/>
              <a:pathLst>
                <a:path w="9150353" h="3394072">
                  <a:moveTo>
                    <a:pt x="0" y="0"/>
                  </a:moveTo>
                  <a:lnTo>
                    <a:pt x="9150353" y="0"/>
                  </a:lnTo>
                  <a:lnTo>
                    <a:pt x="9150353" y="3394072"/>
                  </a:lnTo>
                  <a:lnTo>
                    <a:pt x="0" y="3394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FB2C4BCE-BFFC-48E3-AEB9-D4DB7AB6B7F1}"/>
                </a:ext>
              </a:extLst>
            </p:cNvPr>
            <p:cNvSpPr txBox="1"/>
            <p:nvPr/>
          </p:nvSpPr>
          <p:spPr>
            <a:xfrm>
              <a:off x="1311783" y="2284971"/>
              <a:ext cx="189909" cy="343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P</a:t>
              </a:r>
            </a:p>
          </p:txBody>
        </p:sp>
        <p:sp>
          <p:nvSpPr>
            <p:cNvPr id="14" name="TextBox 8">
              <a:extLst>
                <a:ext uri="{FF2B5EF4-FFF2-40B4-BE49-F238E27FC236}">
                  <a16:creationId xmlns:a16="http://schemas.microsoft.com/office/drawing/2014/main" id="{73B03C04-50A9-49FD-9A0D-2B591915C425}"/>
                </a:ext>
              </a:extLst>
            </p:cNvPr>
            <p:cNvSpPr txBox="1"/>
            <p:nvPr/>
          </p:nvSpPr>
          <p:spPr>
            <a:xfrm>
              <a:off x="1979152" y="2284971"/>
              <a:ext cx="1656350" cy="343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(obs. base)</a:t>
              </a:r>
            </a:p>
          </p:txBody>
        </p:sp>
        <p:sp>
          <p:nvSpPr>
            <p:cNvPr id="15" name="TextBox 9">
              <a:extLst>
                <a:ext uri="{FF2B5EF4-FFF2-40B4-BE49-F238E27FC236}">
                  <a16:creationId xmlns:a16="http://schemas.microsoft.com/office/drawing/2014/main" id="{65496D29-115C-4CC5-A706-8B7C34A91067}"/>
                </a:ext>
              </a:extLst>
            </p:cNvPr>
            <p:cNvSpPr txBox="1"/>
            <p:nvPr/>
          </p:nvSpPr>
          <p:spPr>
            <a:xfrm>
              <a:off x="1987715" y="2699309"/>
              <a:ext cx="958205" cy="2744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60"/>
                </a:lnSpc>
              </a:pP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50 % 32 % 10 %</a:t>
              </a:r>
            </a:p>
            <a:p>
              <a:pPr algn="ctr">
                <a:lnSpc>
                  <a:spcPts val="3660"/>
                </a:lnSpc>
              </a:pP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1 % 0.1 % 0.01 %</a:t>
              </a:r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4B7C2A26-762D-4164-AB2C-A1CB92D0FC90}"/>
                </a:ext>
              </a:extLst>
            </p:cNvPr>
            <p:cNvSpPr txBox="1"/>
            <p:nvPr/>
          </p:nvSpPr>
          <p:spPr>
            <a:xfrm>
              <a:off x="4191086" y="2234174"/>
              <a:ext cx="1826409" cy="3209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60"/>
                </a:lnSpc>
              </a:pPr>
              <a:r>
                <a:rPr lang="en-US" sz="2000" b="1">
                  <a:solidFill>
                    <a:srgbClr val="FFFFFF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Base Quality </a:t>
              </a: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3</a:t>
              </a:r>
            </a:p>
            <a:p>
              <a:pPr algn="ctr">
                <a:lnSpc>
                  <a:spcPts val="3660"/>
                </a:lnSpc>
              </a:pP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5</a:t>
              </a:r>
            </a:p>
            <a:p>
              <a:pPr algn="ctr">
                <a:lnSpc>
                  <a:spcPts val="3660"/>
                </a:lnSpc>
              </a:pP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10</a:t>
              </a:r>
            </a:p>
            <a:p>
              <a:pPr algn="ctr">
                <a:lnSpc>
                  <a:spcPts val="3660"/>
                </a:lnSpc>
              </a:pP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20</a:t>
              </a:r>
            </a:p>
            <a:p>
              <a:pPr algn="ctr">
                <a:lnSpc>
                  <a:spcPts val="3660"/>
                </a:lnSpc>
              </a:pP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30</a:t>
              </a:r>
            </a:p>
            <a:p>
              <a:pPr algn="ctr">
                <a:lnSpc>
                  <a:spcPts val="3660"/>
                </a:lnSpc>
              </a:pP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40</a:t>
              </a:r>
            </a:p>
          </p:txBody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115EF02E-922A-425B-A488-46E36C5639EF}"/>
                </a:ext>
              </a:extLst>
            </p:cNvPr>
            <p:cNvSpPr txBox="1"/>
            <p:nvPr/>
          </p:nvSpPr>
          <p:spPr>
            <a:xfrm>
              <a:off x="6557248" y="2234174"/>
              <a:ext cx="2362343" cy="3209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60"/>
                </a:lnSpc>
              </a:pPr>
              <a:r>
                <a:rPr lang="en-US" sz="2000" b="1">
                  <a:solidFill>
                    <a:srgbClr val="FFFFFF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ASCII Character </a:t>
              </a: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$</a:t>
              </a:r>
            </a:p>
            <a:p>
              <a:pPr algn="ctr">
                <a:lnSpc>
                  <a:spcPts val="3660"/>
                </a:lnSpc>
              </a:pP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&amp;</a:t>
              </a:r>
            </a:p>
            <a:p>
              <a:pPr algn="ctr">
                <a:lnSpc>
                  <a:spcPts val="3660"/>
                </a:lnSpc>
              </a:pP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+</a:t>
              </a:r>
            </a:p>
            <a:p>
              <a:pPr algn="ctr">
                <a:lnSpc>
                  <a:spcPts val="3660"/>
                </a:lnSpc>
              </a:pP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5</a:t>
              </a:r>
            </a:p>
            <a:p>
              <a:pPr algn="ctr">
                <a:lnSpc>
                  <a:spcPts val="3660"/>
                </a:lnSpc>
              </a:pP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?</a:t>
              </a:r>
            </a:p>
            <a:p>
              <a:pPr algn="ctr">
                <a:lnSpc>
                  <a:spcPts val="3660"/>
                </a:lnSpc>
              </a:pPr>
              <a:r>
                <a:rPr lang="en-US" sz="200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I</a:t>
              </a:r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266BF861-F613-431D-AAB9-9ACD46679BB4}"/>
                </a:ext>
              </a:extLst>
            </p:cNvPr>
            <p:cNvSpPr txBox="1"/>
            <p:nvPr/>
          </p:nvSpPr>
          <p:spPr>
            <a:xfrm>
              <a:off x="1497940" y="2444534"/>
              <a:ext cx="490766" cy="232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6"/>
                </a:lnSpc>
              </a:pPr>
              <a:r>
                <a:rPr lang="en-US" sz="1333" b="1">
                  <a:solidFill>
                    <a:srgbClr val="FFFFFF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error</a:t>
              </a:r>
            </a:p>
          </p:txBody>
        </p:sp>
        <p:sp>
          <p:nvSpPr>
            <p:cNvPr id="19" name="TextBox 13">
              <a:extLst>
                <a:ext uri="{FF2B5EF4-FFF2-40B4-BE49-F238E27FC236}">
                  <a16:creationId xmlns:a16="http://schemas.microsoft.com/office/drawing/2014/main" id="{99ED0C8F-539E-4C3A-A031-63EF21EBBA09}"/>
                </a:ext>
              </a:extLst>
            </p:cNvPr>
            <p:cNvSpPr txBox="1"/>
            <p:nvPr/>
          </p:nvSpPr>
          <p:spPr>
            <a:xfrm>
              <a:off x="3666965" y="1633519"/>
              <a:ext cx="3102740" cy="4050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 i="1" dirty="0">
                  <a:solidFill>
                    <a:srgbClr val="000000"/>
                  </a:solidFill>
                  <a:latin typeface="Helvetica Bold Italics"/>
                  <a:ea typeface="Helvetica Bold Italics"/>
                  <a:cs typeface="Helvetica Bold Italics"/>
                  <a:sym typeface="Helvetica Bold Italics"/>
                </a:rPr>
                <a:t>Q = -10log10P</a:t>
              </a:r>
              <a:r>
                <a:rPr lang="en-US" sz="2400" b="1" i="1" baseline="-25000" dirty="0">
                  <a:solidFill>
                    <a:srgbClr val="000000"/>
                  </a:solidFill>
                  <a:latin typeface="Helvetica Bold Italics"/>
                  <a:ea typeface="Helvetica Bold Italics"/>
                  <a:cs typeface="Helvetica Bold Italics"/>
                  <a:sym typeface="Helvetica Bold Italics"/>
                </a:rPr>
                <a:t>error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5959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Representing aligned reads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397815" y="1456048"/>
            <a:ext cx="10515600" cy="1218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i="0" u="none" strike="noStrike" baseline="0" dirty="0">
                <a:latin typeface="Helvetica Neue Light" panose="020B0604020202020204" charset="0"/>
              </a:rPr>
              <a:t>Mapping/aligning</a:t>
            </a:r>
            <a:r>
              <a:rPr lang="en-US" sz="2400" b="0" i="0" u="none" strike="noStrike" baseline="0" dirty="0">
                <a:latin typeface="Helvetica Neue Light" panose="020B0604020202020204" charset="0"/>
              </a:rPr>
              <a:t> reads to a reference genome is a core component of many analysis workﬂows. You’ll hear more about this in later Modules</a:t>
            </a:r>
          </a:p>
          <a:p>
            <a:pPr algn="l"/>
            <a:endParaRPr lang="en-US" sz="2400" b="0" i="0" u="none" strike="noStrike" baseline="0" dirty="0">
              <a:latin typeface="Helvetica Neue Light" panose="020B0604020202020204" charset="0"/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92604F07-D859-4EF0-96B3-1138295E0878}"/>
              </a:ext>
            </a:extLst>
          </p:cNvPr>
          <p:cNvSpPr txBox="1"/>
          <p:nvPr/>
        </p:nvSpPr>
        <p:spPr>
          <a:xfrm>
            <a:off x="1249198" y="2701905"/>
            <a:ext cx="9880311" cy="68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99" b="1" i="1" dirty="0">
                <a:solidFill>
                  <a:srgbClr val="000000"/>
                </a:solidFill>
                <a:latin typeface="Helvetica Bold Italics"/>
                <a:ea typeface="Helvetica Bold Italics"/>
                <a:cs typeface="Helvetica Bold Italics"/>
                <a:sym typeface="Helvetica Bold Italics"/>
              </a:rPr>
              <a:t>Mapping</a:t>
            </a:r>
            <a:r>
              <a:rPr lang="en-US" sz="2199" dirty="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describes where in the reference genome a read matches. This read maps to position 1,020 on chr10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3CCA7602-5431-4B6C-88D7-B61C8DDB8AEF}"/>
              </a:ext>
            </a:extLst>
          </p:cNvPr>
          <p:cNvSpPr txBox="1"/>
          <p:nvPr/>
        </p:nvSpPr>
        <p:spPr>
          <a:xfrm>
            <a:off x="1249198" y="4701688"/>
            <a:ext cx="10337135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99" b="1" i="1" dirty="0">
                <a:solidFill>
                  <a:srgbClr val="000000"/>
                </a:solidFill>
                <a:latin typeface="Helvetica Bold Italics"/>
                <a:ea typeface="Helvetica Bold Italics"/>
                <a:cs typeface="Helvetica Bold Italics"/>
                <a:sym typeface="Helvetica Bold Italics"/>
              </a:rPr>
              <a:t>Alignment</a:t>
            </a:r>
            <a:r>
              <a:rPr lang="en-US" sz="2199" dirty="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describes how the bases in the read line up against the reference genome at the mapped location. This read has 14 </a:t>
            </a:r>
            <a:r>
              <a:rPr lang="en-US" sz="2199" dirty="0">
                <a:solidFill>
                  <a:srgbClr val="B36AE2"/>
                </a:solidFill>
                <a:latin typeface="Helvetica"/>
                <a:ea typeface="Helvetica"/>
                <a:cs typeface="Helvetica"/>
                <a:sym typeface="Helvetica"/>
              </a:rPr>
              <a:t>matches</a:t>
            </a:r>
            <a:r>
              <a:rPr lang="en-US" sz="2199" dirty="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and 1 </a:t>
            </a:r>
            <a:r>
              <a:rPr lang="en-US" sz="2199" dirty="0">
                <a:solidFill>
                  <a:srgbClr val="C82506"/>
                </a:solidFill>
                <a:latin typeface="Helvetica"/>
                <a:ea typeface="Helvetica"/>
                <a:cs typeface="Helvetica"/>
                <a:sym typeface="Helvetica"/>
              </a:rPr>
              <a:t>mismatch</a:t>
            </a:r>
            <a:r>
              <a:rPr lang="en-US" sz="2199" dirty="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.</a:t>
            </a:r>
          </a:p>
          <a:p>
            <a:pPr algn="l">
              <a:lnSpc>
                <a:spcPts val="2600"/>
              </a:lnSpc>
            </a:pPr>
            <a:endParaRPr lang="en-US" sz="2199" dirty="0">
              <a:latin typeface="Helvetica"/>
              <a:ea typeface="Helvetica"/>
              <a:cs typeface="Helvetica"/>
              <a:sym typeface="Helvetica"/>
            </a:endParaRPr>
          </a:p>
          <a:p>
            <a:pPr algn="l">
              <a:lnSpc>
                <a:spcPts val="2600"/>
              </a:lnSpc>
            </a:pPr>
            <a:r>
              <a:rPr lang="en-US" sz="2199" dirty="0">
                <a:latin typeface="Helvetica"/>
                <a:ea typeface="Helvetica"/>
                <a:cs typeface="Helvetica"/>
                <a:sym typeface="Helvetica"/>
              </a:rPr>
              <a:t>The location of the read on the reference genome and pattern of mismatches/indels is represented in bam/cram format.</a:t>
            </a:r>
            <a:endParaRPr lang="en-US" sz="2199" dirty="0">
              <a:solidFill>
                <a:srgbClr val="000000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0BC71390-5261-409A-B7D5-9895C68D4DBB}"/>
              </a:ext>
            </a:extLst>
          </p:cNvPr>
          <p:cNvSpPr txBox="1"/>
          <p:nvPr/>
        </p:nvSpPr>
        <p:spPr>
          <a:xfrm>
            <a:off x="3332658" y="3409404"/>
            <a:ext cx="6156712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433FF"/>
                </a:solidFill>
                <a:latin typeface="Consolas" panose="020B0609020204030204" pitchFamily="49" charset="0"/>
                <a:ea typeface="Courier New OS"/>
                <a:cs typeface="Courier New OS"/>
                <a:sym typeface="Courier New OS"/>
              </a:rPr>
              <a:t>ATGAGAG</a:t>
            </a:r>
            <a:r>
              <a:rPr lang="en-US" sz="2400" dirty="0">
                <a:solidFill>
                  <a:srgbClr val="B36AE2"/>
                </a:solidFill>
                <a:latin typeface="Consolas" panose="020B0609020204030204" pitchFamily="49" charset="0"/>
                <a:ea typeface="Courier New OS"/>
                <a:cs typeface="Courier New OS"/>
                <a:sym typeface="Courier New OS"/>
              </a:rPr>
              <a:t>AGTA</a:t>
            </a:r>
            <a:r>
              <a:rPr lang="en-US" sz="2400" dirty="0">
                <a:solidFill>
                  <a:srgbClr val="C82506"/>
                </a:solidFill>
                <a:latin typeface="Consolas" panose="020B0609020204030204" pitchFamily="49" charset="0"/>
                <a:ea typeface="Courier New OS"/>
                <a:cs typeface="Courier New OS"/>
                <a:sym typeface="Courier New OS"/>
              </a:rPr>
              <a:t>T</a:t>
            </a:r>
            <a:r>
              <a:rPr lang="en-US" sz="2400" dirty="0">
                <a:solidFill>
                  <a:srgbClr val="B36AE2"/>
                </a:solidFill>
                <a:latin typeface="Consolas" panose="020B0609020204030204" pitchFamily="49" charset="0"/>
                <a:ea typeface="Courier New OS"/>
                <a:cs typeface="Courier New OS"/>
                <a:sym typeface="Courier New OS"/>
              </a:rPr>
              <a:t>CTCGACTCTA</a:t>
            </a:r>
            <a:r>
              <a:rPr lang="en-US" sz="2400" dirty="0">
                <a:solidFill>
                  <a:srgbClr val="0433FF"/>
                </a:solidFill>
                <a:latin typeface="Consolas" panose="020B0609020204030204" pitchFamily="49" charset="0"/>
                <a:ea typeface="Courier New OS"/>
                <a:cs typeface="Courier New OS"/>
                <a:sym typeface="Courier New OS"/>
              </a:rPr>
              <a:t>GGCCGATACCA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E42536CE-1A4B-41CB-97B5-D7B796204D9D}"/>
              </a:ext>
            </a:extLst>
          </p:cNvPr>
          <p:cNvSpPr txBox="1"/>
          <p:nvPr/>
        </p:nvSpPr>
        <p:spPr>
          <a:xfrm>
            <a:off x="3332658" y="3825332"/>
            <a:ext cx="186538" cy="728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99"/>
              </a:lnSpc>
            </a:pPr>
            <a:r>
              <a:rPr lang="en-US" sz="2400">
                <a:solidFill>
                  <a:srgbClr val="000000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</a:p>
          <a:p>
            <a:pPr algn="just">
              <a:lnSpc>
                <a:spcPts val="2899"/>
              </a:lnSpc>
            </a:pPr>
            <a:r>
              <a:rPr lang="en-US" sz="2400">
                <a:solidFill>
                  <a:srgbClr val="0433FF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0F9E6EB1-2039-417F-807A-1213E07B85E5}"/>
              </a:ext>
            </a:extLst>
          </p:cNvPr>
          <p:cNvSpPr txBox="1"/>
          <p:nvPr/>
        </p:nvSpPr>
        <p:spPr>
          <a:xfrm>
            <a:off x="4527684" y="3825332"/>
            <a:ext cx="2798493" cy="728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99"/>
              </a:lnSpc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ourier New OS"/>
                <a:cs typeface="Courier New OS"/>
                <a:sym typeface="Courier New OS"/>
              </a:rPr>
              <a:t>||||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  <a:ea typeface="Courier New OS"/>
                <a:cs typeface="Courier New OS"/>
                <a:sym typeface="Courier New OS"/>
              </a:rPr>
              <a:t>|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ourier New OS"/>
                <a:cs typeface="Courier New OS"/>
                <a:sym typeface="Courier New OS"/>
              </a:rPr>
              <a:t>|||||||||| </a:t>
            </a:r>
            <a:r>
              <a:rPr lang="en-US" sz="2400" dirty="0">
                <a:solidFill>
                  <a:srgbClr val="B36AE2"/>
                </a:solidFill>
                <a:latin typeface="Consolas" panose="020B0609020204030204" pitchFamily="49" charset="0"/>
                <a:ea typeface="Courier New OS"/>
                <a:cs typeface="Courier New OS"/>
                <a:sym typeface="Courier New OS"/>
              </a:rPr>
              <a:t>AGTA</a:t>
            </a:r>
            <a:r>
              <a:rPr lang="en-US" sz="2400" dirty="0">
                <a:solidFill>
                  <a:srgbClr val="C82506"/>
                </a:solidFill>
                <a:latin typeface="Consolas" panose="020B0609020204030204" pitchFamily="49" charset="0"/>
                <a:ea typeface="Courier New OS"/>
                <a:cs typeface="Courier New OS"/>
                <a:sym typeface="Courier New OS"/>
              </a:rPr>
              <a:t>A</a:t>
            </a:r>
            <a:r>
              <a:rPr lang="en-US" sz="2400" dirty="0">
                <a:solidFill>
                  <a:srgbClr val="B36AE2"/>
                </a:solidFill>
                <a:latin typeface="Consolas" panose="020B0609020204030204" pitchFamily="49" charset="0"/>
                <a:ea typeface="Courier New OS"/>
                <a:cs typeface="Courier New OS"/>
                <a:sym typeface="Courier New OS"/>
              </a:rPr>
              <a:t>CTCGACTCTA</a:t>
            </a: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2A956960-AA62-4270-A17E-2F2A503AFA3C}"/>
              </a:ext>
            </a:extLst>
          </p:cNvPr>
          <p:cNvSpPr txBox="1"/>
          <p:nvPr/>
        </p:nvSpPr>
        <p:spPr>
          <a:xfrm>
            <a:off x="1345381" y="4155031"/>
            <a:ext cx="932821" cy="33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read-a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CE07C11B-9A5E-4B2E-9F8F-5F5B475061BA}"/>
              </a:ext>
            </a:extLst>
          </p:cNvPr>
          <p:cNvSpPr txBox="1"/>
          <p:nvPr/>
        </p:nvSpPr>
        <p:spPr>
          <a:xfrm>
            <a:off x="1345381" y="3431131"/>
            <a:ext cx="1710185" cy="33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chr10:1,020</a:t>
            </a:r>
          </a:p>
        </p:txBody>
      </p:sp>
    </p:spTree>
    <p:extLst>
      <p:ext uri="{BB962C8B-B14F-4D97-AF65-F5344CB8AC3E}">
        <p14:creationId xmlns:p14="http://schemas.microsoft.com/office/powerpoint/2010/main" val="3014116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Mapping quality</a:t>
            </a:r>
            <a:endParaRPr dirty="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44806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Helvetica Neue Light" panose="020B0604020202020204" charset="0"/>
              </a:rPr>
              <a:t>Mapping quality is dependent on the </a:t>
            </a:r>
            <a:r>
              <a:rPr lang="en-US" sz="2400" b="1" i="0" u="none" strike="noStrike" baseline="0" dirty="0">
                <a:latin typeface="Helvetica Neue Light" panose="020B0604020202020204" charset="0"/>
              </a:rPr>
              <a:t>similarity of the match </a:t>
            </a:r>
            <a:r>
              <a:rPr lang="en-US" sz="2400" b="0" i="0" u="none" strike="noStrike" baseline="0" dirty="0">
                <a:latin typeface="Helvetica Neue Light" panose="020B0604020202020204" charset="0"/>
              </a:rPr>
              <a:t>and the </a:t>
            </a:r>
            <a:r>
              <a:rPr lang="en-US" sz="2400" b="1" i="0" u="none" strike="noStrike" baseline="0" dirty="0">
                <a:latin typeface="Helvetica Neue Light" panose="020B0604020202020204" charset="0"/>
              </a:rPr>
              <a:t>uniqueness of the match</a:t>
            </a:r>
          </a:p>
          <a:p>
            <a:pPr algn="l"/>
            <a:r>
              <a:rPr lang="en-US" sz="2400" dirty="0">
                <a:latin typeface="Helvetica Neue Light" panose="020B0604020202020204" charset="0"/>
              </a:rPr>
              <a:t>More likely to be low in </a:t>
            </a:r>
            <a:r>
              <a:rPr lang="en-US" sz="2400" b="1" dirty="0">
                <a:latin typeface="Helvetica Neue Light" panose="020B0604020202020204" charset="0"/>
              </a:rPr>
              <a:t>repetitive regions</a:t>
            </a:r>
            <a:endParaRPr lang="en-US" sz="2400" b="1" i="0" u="none" strike="noStrike" baseline="0" dirty="0">
              <a:latin typeface="Helvetica Neue Light" panose="020B0604020202020204" charset="0"/>
            </a:endParaRPr>
          </a:p>
          <a:p>
            <a:pPr algn="l"/>
            <a:r>
              <a:rPr lang="en-US" sz="2400" i="0" u="none" strike="noStrike" baseline="0" dirty="0">
                <a:latin typeface="Helvetica Neue Light" panose="020B0604020202020204" charset="0"/>
              </a:rPr>
              <a:t>Also uses a </a:t>
            </a:r>
            <a:r>
              <a:rPr lang="en-US" sz="2400" i="0" u="none" strike="noStrike" baseline="0" dirty="0" err="1">
                <a:latin typeface="Helvetica Neue Light" panose="020B0604020202020204" charset="0"/>
              </a:rPr>
              <a:t>Phred</a:t>
            </a:r>
            <a:r>
              <a:rPr lang="en-US" sz="2400" i="0" u="none" strike="noStrike" baseline="0" dirty="0">
                <a:latin typeface="Helvetica Neue Light" panose="020B0604020202020204" charset="0"/>
              </a:rPr>
              <a:t> score</a:t>
            </a:r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44034" name="Picture 2">
            <a:extLst>
              <a:ext uri="{FF2B5EF4-FFF2-40B4-BE49-F238E27FC236}">
                <a16:creationId xmlns:a16="http://schemas.microsoft.com/office/drawing/2014/main" id="{F91824A9-6F27-4C8E-99EB-BD7FAFB81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391" y="3282107"/>
            <a:ext cx="5024284" cy="207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F484AFD-FE47-4054-A943-B9C47BD6B639}"/>
              </a:ext>
            </a:extLst>
          </p:cNvPr>
          <p:cNvGrpSpPr/>
          <p:nvPr/>
        </p:nvGrpSpPr>
        <p:grpSpPr>
          <a:xfrm>
            <a:off x="506361" y="3622172"/>
            <a:ext cx="5977030" cy="1399583"/>
            <a:chOff x="506361" y="2452696"/>
            <a:chExt cx="4826657" cy="1104512"/>
          </a:xfrm>
        </p:grpSpPr>
        <p:pic>
          <p:nvPicPr>
            <p:cNvPr id="44036" name="Picture 4">
              <a:extLst>
                <a:ext uri="{FF2B5EF4-FFF2-40B4-BE49-F238E27FC236}">
                  <a16:creationId xmlns:a16="http://schemas.microsoft.com/office/drawing/2014/main" id="{A6C84B11-3E36-4F28-891A-01F46661A3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9304"/>
            <a:stretch/>
          </p:blipFill>
          <p:spPr bwMode="auto">
            <a:xfrm>
              <a:off x="1114979" y="2452696"/>
              <a:ext cx="4218039" cy="4497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E63E0066-CA3A-4B5A-A2B2-0DA5C738D2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874"/>
            <a:stretch/>
          </p:blipFill>
          <p:spPr bwMode="auto">
            <a:xfrm>
              <a:off x="506361" y="2902483"/>
              <a:ext cx="4218039" cy="654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9D0925D-2B67-4537-A633-CF4CDF0694FF}"/>
                </a:ext>
              </a:extLst>
            </p:cNvPr>
            <p:cNvSpPr/>
            <p:nvPr/>
          </p:nvSpPr>
          <p:spPr>
            <a:xfrm>
              <a:off x="702023" y="2452696"/>
              <a:ext cx="1386349" cy="7683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0" name="TextBox 8">
            <a:extLst>
              <a:ext uri="{FF2B5EF4-FFF2-40B4-BE49-F238E27FC236}">
                <a16:creationId xmlns:a16="http://schemas.microsoft.com/office/drawing/2014/main" id="{67EC3813-B0B4-47D1-A2E4-D8ABDBBE125C}"/>
              </a:ext>
            </a:extLst>
          </p:cNvPr>
          <p:cNvSpPr txBox="1"/>
          <p:nvPr/>
        </p:nvSpPr>
        <p:spPr>
          <a:xfrm>
            <a:off x="1016164" y="5165738"/>
            <a:ext cx="5313352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99" dirty="0">
                <a:solidFill>
                  <a:srgbClr val="000000"/>
                </a:solidFill>
                <a:latin typeface="Helvetica Bold Italics"/>
                <a:ea typeface="Helvetica Bold Italics"/>
                <a:cs typeface="Helvetica Bold Italics"/>
                <a:sym typeface="Helvetica Bold Italics"/>
              </a:rPr>
              <a:t>Single mapping location →</a:t>
            </a:r>
          </a:p>
          <a:p>
            <a:pPr algn="l">
              <a:lnSpc>
                <a:spcPts val="2600"/>
              </a:lnSpc>
            </a:pPr>
            <a:r>
              <a:rPr lang="en-US" sz="2199" dirty="0">
                <a:solidFill>
                  <a:srgbClr val="000000"/>
                </a:solidFill>
                <a:latin typeface="Helvetica Bold Italics"/>
                <a:ea typeface="Helvetica Bold Italics"/>
                <a:cs typeface="Helvetica Bold Italics"/>
                <a:sym typeface="Helvetica Bold Italics"/>
              </a:rPr>
              <a:t>Good mapping quality, if few mismatches</a:t>
            </a:r>
            <a:endParaRPr lang="en-US" sz="2199" dirty="0">
              <a:solidFill>
                <a:srgbClr val="000000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571B9724-779E-4A85-A623-242774A92663}"/>
              </a:ext>
            </a:extLst>
          </p:cNvPr>
          <p:cNvSpPr txBox="1"/>
          <p:nvPr/>
        </p:nvSpPr>
        <p:spPr>
          <a:xfrm>
            <a:off x="7494398" y="5219210"/>
            <a:ext cx="4191241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99" dirty="0">
                <a:latin typeface="Helvetica Bold Italics"/>
                <a:ea typeface="Helvetica Bold Italics"/>
                <a:cs typeface="Helvetica Bold Italics"/>
                <a:sym typeface="Helvetica Bold Italics"/>
              </a:rPr>
              <a:t>Multi-mapped read </a:t>
            </a:r>
            <a:r>
              <a:rPr lang="en-US" sz="2199" dirty="0">
                <a:solidFill>
                  <a:srgbClr val="000000"/>
                </a:solidFill>
                <a:latin typeface="Helvetica Bold Italics"/>
                <a:ea typeface="Helvetica Bold Italics"/>
                <a:cs typeface="Helvetica Bold Italics"/>
                <a:sym typeface="Helvetica Bold Italics"/>
              </a:rPr>
              <a:t>→</a:t>
            </a:r>
            <a:endParaRPr lang="en-US" sz="2199" dirty="0">
              <a:latin typeface="Helvetica Bold Italics"/>
              <a:ea typeface="Helvetica Bold Italics"/>
              <a:cs typeface="Helvetica Bold Italics"/>
              <a:sym typeface="Helvetica Bold Italics"/>
            </a:endParaRPr>
          </a:p>
          <a:p>
            <a:pPr algn="l">
              <a:lnSpc>
                <a:spcPts val="2600"/>
              </a:lnSpc>
            </a:pPr>
            <a:r>
              <a:rPr lang="en-US" sz="2199" dirty="0">
                <a:latin typeface="Helvetica Bold Italics"/>
                <a:ea typeface="Helvetica Bold Italics"/>
                <a:cs typeface="Helvetica Bold Italics"/>
                <a:sym typeface="Helvetica Bold Italics"/>
              </a:rPr>
              <a:t>Poor</a:t>
            </a:r>
            <a:r>
              <a:rPr lang="en-US" sz="2199" dirty="0">
                <a:solidFill>
                  <a:srgbClr val="000000"/>
                </a:solidFill>
                <a:latin typeface="Helvetica Bold Italics"/>
                <a:ea typeface="Helvetica Bold Italics"/>
                <a:cs typeface="Helvetica Bold Italics"/>
                <a:sym typeface="Helvetica Bold Italics"/>
              </a:rPr>
              <a:t> mapping quality (MQ0)</a:t>
            </a:r>
            <a:endParaRPr lang="en-US" sz="2199" dirty="0">
              <a:solidFill>
                <a:srgbClr val="000000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914278-2ABE-4E15-B4EF-68D6A8652C04}"/>
              </a:ext>
            </a:extLst>
          </p:cNvPr>
          <p:cNvSpPr txBox="1"/>
          <p:nvPr/>
        </p:nvSpPr>
        <p:spPr>
          <a:xfrm>
            <a:off x="9052560" y="5911589"/>
            <a:ext cx="2557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tx2">
                    <a:lumMod val="75000"/>
                  </a:schemeClr>
                </a:solidFill>
                <a:latin typeface="Helvetica Neue Light" panose="020B0604020202020204" charset="0"/>
              </a:rPr>
              <a:t>https://hbctraining.github.io/</a:t>
            </a:r>
          </a:p>
        </p:txBody>
      </p:sp>
    </p:spTree>
    <p:extLst>
      <p:ext uri="{BB962C8B-B14F-4D97-AF65-F5344CB8AC3E}">
        <p14:creationId xmlns:p14="http://schemas.microsoft.com/office/powerpoint/2010/main" val="2084053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 dirty="0"/>
              <a:t>We have a lot of tools</a:t>
            </a:r>
            <a:endParaRPr dirty="0"/>
          </a:p>
        </p:txBody>
      </p:sp>
      <p:sp>
        <p:nvSpPr>
          <p:cNvPr id="106" name="Google Shape;106;p4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8C3A5-C9D2-4EFB-9EAC-B9047ED317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37" t="40265" r="64058" b="7962"/>
          <a:stretch/>
        </p:blipFill>
        <p:spPr>
          <a:xfrm>
            <a:off x="296136" y="1736473"/>
            <a:ext cx="2123790" cy="3470455"/>
          </a:xfrm>
          <a:prstGeom prst="rect">
            <a:avLst/>
          </a:prstGeom>
        </p:spPr>
      </p:pic>
      <p:pic>
        <p:nvPicPr>
          <p:cNvPr id="7" name="Picture 2" descr="PacBio To Begin Commercial Shipment of Revio Systems - PacBio">
            <a:extLst>
              <a:ext uri="{FF2B5EF4-FFF2-40B4-BE49-F238E27FC236}">
                <a16:creationId xmlns:a16="http://schemas.microsoft.com/office/drawing/2014/main" id="{86A0BDD9-35DB-44EF-96BB-C56F09FA0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135" y="1442714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B426AB-04AA-4575-8CE2-BAAA625CE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446" y="3882205"/>
            <a:ext cx="891799" cy="5746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29E155-D646-4AEB-936A-71452E2D3C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3365" y="2139463"/>
            <a:ext cx="1813355" cy="1037797"/>
          </a:xfrm>
          <a:prstGeom prst="rect">
            <a:avLst/>
          </a:prstGeom>
        </p:spPr>
      </p:pic>
      <p:pic>
        <p:nvPicPr>
          <p:cNvPr id="45058" name="Picture 2" descr="aviti">
            <a:extLst>
              <a:ext uri="{FF2B5EF4-FFF2-40B4-BE49-F238E27FC236}">
                <a16:creationId xmlns:a16="http://schemas.microsoft.com/office/drawing/2014/main" id="{40CDC3EA-33EC-4D6C-A3C7-1977E7BB0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563" y="4081901"/>
            <a:ext cx="3033180" cy="206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2" name="Picture 6" descr="Ultima high-throughput sequencing services - SeqMatic">
            <a:extLst>
              <a:ext uri="{FF2B5EF4-FFF2-40B4-BE49-F238E27FC236}">
                <a16:creationId xmlns:a16="http://schemas.microsoft.com/office/drawing/2014/main" id="{9CD4B459-A319-4EEC-957E-FE930AFB8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0929" y="652369"/>
            <a:ext cx="3084871" cy="308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DAE9387-3E2A-44B8-8DE7-DECF327AC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307" y="4653771"/>
            <a:ext cx="1779642" cy="177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89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Coffee Break &amp; Networking Session</a:t>
            </a:r>
            <a:endParaRPr/>
          </a:p>
        </p:txBody>
      </p:sp>
      <p:sp>
        <p:nvSpPr>
          <p:cNvPr id="120" name="Google Shape;120;p6"/>
          <p:cNvSpPr txBox="1">
            <a:spLocks noGrp="1"/>
          </p:cNvSpPr>
          <p:nvPr>
            <p:ph type="body" idx="1"/>
          </p:nvPr>
        </p:nvSpPr>
        <p:spPr>
          <a:xfrm>
            <a:off x="4386275" y="4087063"/>
            <a:ext cx="34194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Workshop Sponsors</a:t>
            </a:r>
            <a:endParaRPr/>
          </a:p>
        </p:txBody>
      </p:sp>
      <p:pic>
        <p:nvPicPr>
          <p:cNvPr id="121" name="Google Shape;121;p6" title="cih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890" y="4826757"/>
            <a:ext cx="3500780" cy="83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 title="oic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8232" y="4787446"/>
            <a:ext cx="1256757" cy="91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6" title="genomecanada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8627" y="4826745"/>
            <a:ext cx="1724888" cy="8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 title="ontariogenomics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42488" y="4852281"/>
            <a:ext cx="1956783" cy="78270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 txBox="1">
            <a:spLocks noGrp="1"/>
          </p:cNvSpPr>
          <p:nvPr>
            <p:ph type="sldNum" idx="12"/>
          </p:nvPr>
        </p:nvSpPr>
        <p:spPr>
          <a:xfrm>
            <a:off x="11409050" y="6493028"/>
            <a:ext cx="731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126" name="Google Shape;126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93962" y="4944438"/>
            <a:ext cx="2519149" cy="59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8898</TotalTime>
  <Words>956</Words>
  <Application>Microsoft Office PowerPoint</Application>
  <PresentationFormat>Widescreen</PresentationFormat>
  <Paragraphs>265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Helvetica Neue Light</vt:lpstr>
      <vt:lpstr>Arial</vt:lpstr>
      <vt:lpstr>Verdana Bold</vt:lpstr>
      <vt:lpstr>Consolas</vt:lpstr>
      <vt:lpstr>Verdana</vt:lpstr>
      <vt:lpstr>Courier New OS</vt:lpstr>
      <vt:lpstr>Helvetica</vt:lpstr>
      <vt:lpstr>Helvetica Neue</vt:lpstr>
      <vt:lpstr>Helvetica Bold Italics</vt:lpstr>
      <vt:lpstr>Manrope</vt:lpstr>
      <vt:lpstr>1_Custom Design</vt:lpstr>
      <vt:lpstr>Office Theme</vt:lpstr>
      <vt:lpstr>Custom Design</vt:lpstr>
      <vt:lpstr>PowerPoint Presentation</vt:lpstr>
      <vt:lpstr>PowerPoint Presentation</vt:lpstr>
      <vt:lpstr>Module #1a: Intro to Sequencing Technologies</vt:lpstr>
      <vt:lpstr>Learning Objectives</vt:lpstr>
      <vt:lpstr>DNA sequencing history</vt:lpstr>
      <vt:lpstr>Throughput and cost</vt:lpstr>
      <vt:lpstr>Established players in sequencing</vt:lpstr>
      <vt:lpstr>DNA sequencing: DNA polymerase</vt:lpstr>
      <vt:lpstr>Illumina sequencing by synthesis</vt:lpstr>
      <vt:lpstr>Illumina sequencing by synthesis</vt:lpstr>
      <vt:lpstr>Illumina sequencing by synthesis</vt:lpstr>
      <vt:lpstr>Illumina sequencing by synthesis</vt:lpstr>
      <vt:lpstr>Homopolymers are tricky to sequence</vt:lpstr>
      <vt:lpstr>Illumina read profile</vt:lpstr>
      <vt:lpstr>Illumina summary</vt:lpstr>
      <vt:lpstr>Oxford Nanopore (ONT) sequencing</vt:lpstr>
      <vt:lpstr>Oxford Nanopore sequencing</vt:lpstr>
      <vt:lpstr>Oxford Nanopore sequencing</vt:lpstr>
      <vt:lpstr>Oxford Nanopore sequencing</vt:lpstr>
      <vt:lpstr>Oxford Nanopore sequencing</vt:lpstr>
      <vt:lpstr>Oxford Nanopore read profile</vt:lpstr>
      <vt:lpstr>Oxford Nanopore summary</vt:lpstr>
      <vt:lpstr>Pacific Biosciences HiFi sequencing</vt:lpstr>
      <vt:lpstr>Pacific Biosciences HiFi sequencing</vt:lpstr>
      <vt:lpstr>Pacific Biosciences HiFi sequencing</vt:lpstr>
      <vt:lpstr>Pacific Biosciences HiFi sequencing</vt:lpstr>
      <vt:lpstr>PacBio read profile</vt:lpstr>
      <vt:lpstr>PacBio summary</vt:lpstr>
      <vt:lpstr>Newer technologies: Ultima</vt:lpstr>
      <vt:lpstr>Newer technologies: AVITI</vt:lpstr>
      <vt:lpstr>Sequencing formats</vt:lpstr>
      <vt:lpstr>Sequencing quality</vt:lpstr>
      <vt:lpstr>Representing aligned reads</vt:lpstr>
      <vt:lpstr>Mapping quality</vt:lpstr>
      <vt:lpstr>We have a lot of tools</vt:lpstr>
      <vt:lpstr>Coffee Break &amp; Networking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Nia Hughes</dc:creator>
  <cp:lastModifiedBy>Erin Pleasance</cp:lastModifiedBy>
  <cp:revision>87</cp:revision>
  <dcterms:created xsi:type="dcterms:W3CDTF">2025-05-15T14:28:53Z</dcterms:created>
  <dcterms:modified xsi:type="dcterms:W3CDTF">2026-10-23T18:47:34Z</dcterms:modified>
</cp:coreProperties>
</file>