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 id="2147483662" r:id="rId3"/>
  </p:sldMasterIdLst>
  <p:notesMasterIdLst>
    <p:notesMasterId r:id="rId28"/>
  </p:notesMasterIdLst>
  <p:sldIdLst>
    <p:sldId id="256" r:id="rId4"/>
    <p:sldId id="257" r:id="rId5"/>
    <p:sldId id="258" r:id="rId6"/>
    <p:sldId id="289" r:id="rId7"/>
    <p:sldId id="333" r:id="rId8"/>
    <p:sldId id="323" r:id="rId9"/>
    <p:sldId id="329" r:id="rId10"/>
    <p:sldId id="328" r:id="rId11"/>
    <p:sldId id="331" r:id="rId12"/>
    <p:sldId id="332" r:id="rId13"/>
    <p:sldId id="324" r:id="rId14"/>
    <p:sldId id="334" r:id="rId15"/>
    <p:sldId id="335" r:id="rId16"/>
    <p:sldId id="338" r:id="rId17"/>
    <p:sldId id="336" r:id="rId18"/>
    <p:sldId id="325" r:id="rId19"/>
    <p:sldId id="340" r:id="rId20"/>
    <p:sldId id="339" r:id="rId21"/>
    <p:sldId id="342" r:id="rId22"/>
    <p:sldId id="326" r:id="rId23"/>
    <p:sldId id="345" r:id="rId24"/>
    <p:sldId id="262" r:id="rId25"/>
    <p:sldId id="344" r:id="rId26"/>
    <p:sldId id="261" r:id="rId27"/>
  </p:sldIdLst>
  <p:sldSz cx="12192000" cy="6858000"/>
  <p:notesSz cx="6858000" cy="9144000"/>
  <p:embeddedFontLst>
    <p:embeddedFont>
      <p:font typeface="Helvetica Neue" panose="020B0604020202020204" charset="0"/>
      <p:regular r:id="rId29"/>
      <p:bold r:id="rId30"/>
      <p:italic r:id="rId31"/>
      <p:boldItalic r:id="rId32"/>
    </p:embeddedFont>
    <p:embeddedFont>
      <p:font typeface="Helvetica Neue Light" panose="020B0604020202020204" charset="0"/>
      <p:regular r:id="rId33"/>
      <p:bold r:id="rId34"/>
      <p:italic r:id="rId35"/>
      <p:boldItalic r:id="rId36"/>
    </p:embeddedFont>
    <p:embeddedFont>
      <p:font typeface="Manrope" panose="020B0604020202020204" charset="0"/>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h9VR97KJQ+WksNuSOp9ZuQxzPL7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font" Target="fonts/font6.fntdata"/><Relationship Id="rId55"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5.fntdata"/><Relationship Id="rId38" Type="http://schemas.openxmlformats.org/officeDocument/2006/relationships/font" Target="fonts/font10.fntdata"/><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1.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4.fntdata"/><Relationship Id="rId37" Type="http://schemas.openxmlformats.org/officeDocument/2006/relationships/font" Target="fonts/font9.fntdata"/><Relationship Id="rId53" Type="http://customschemas.google.com/relationships/presentationmetadata" Target="meta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3.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font" Target="fonts/font2.fntdata"/><Relationship Id="rId35" Type="http://schemas.openxmlformats.org/officeDocument/2006/relationships/font" Target="fonts/font7.fntdata"/><Relationship Id="rId5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 name="Google Shape;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 name="Google Shape;80;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 name="Google Shape;8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 name="Google Shape;9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extLst>
      <p:ext uri="{BB962C8B-B14F-4D97-AF65-F5344CB8AC3E}">
        <p14:creationId xmlns:p14="http://schemas.microsoft.com/office/powerpoint/2010/main" val="2948477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extLst>
      <p:ext uri="{BB962C8B-B14F-4D97-AF65-F5344CB8AC3E}">
        <p14:creationId xmlns:p14="http://schemas.microsoft.com/office/powerpoint/2010/main" val="3168688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extLst>
      <p:ext uri="{BB962C8B-B14F-4D97-AF65-F5344CB8AC3E}">
        <p14:creationId xmlns:p14="http://schemas.microsoft.com/office/powerpoint/2010/main" val="2803587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4247332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extLst>
      <p:ext uri="{BB962C8B-B14F-4D97-AF65-F5344CB8AC3E}">
        <p14:creationId xmlns:p14="http://schemas.microsoft.com/office/powerpoint/2010/main" val="684784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extLst>
      <p:ext uri="{BB962C8B-B14F-4D97-AF65-F5344CB8AC3E}">
        <p14:creationId xmlns:p14="http://schemas.microsoft.com/office/powerpoint/2010/main" val="3543130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extLst>
      <p:ext uri="{BB962C8B-B14F-4D97-AF65-F5344CB8AC3E}">
        <p14:creationId xmlns:p14="http://schemas.microsoft.com/office/powerpoint/2010/main" val="3243841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extLst>
      <p:ext uri="{BB962C8B-B14F-4D97-AF65-F5344CB8AC3E}">
        <p14:creationId xmlns:p14="http://schemas.microsoft.com/office/powerpoint/2010/main" val="172325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extLst>
      <p:ext uri="{BB962C8B-B14F-4D97-AF65-F5344CB8AC3E}">
        <p14:creationId xmlns:p14="http://schemas.microsoft.com/office/powerpoint/2010/main" val="14239088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extLst>
      <p:ext uri="{BB962C8B-B14F-4D97-AF65-F5344CB8AC3E}">
        <p14:creationId xmlns:p14="http://schemas.microsoft.com/office/powerpoint/2010/main" val="3267351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extLst>
      <p:ext uri="{BB962C8B-B14F-4D97-AF65-F5344CB8AC3E}">
        <p14:creationId xmlns:p14="http://schemas.microsoft.com/office/powerpoint/2010/main" val="12342484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extLst>
      <p:ext uri="{BB962C8B-B14F-4D97-AF65-F5344CB8AC3E}">
        <p14:creationId xmlns:p14="http://schemas.microsoft.com/office/powerpoint/2010/main" val="4188379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extLst>
      <p:ext uri="{BB962C8B-B14F-4D97-AF65-F5344CB8AC3E}">
        <p14:creationId xmlns:p14="http://schemas.microsoft.com/office/powerpoint/2010/main" val="11404900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extLst>
      <p:ext uri="{BB962C8B-B14F-4D97-AF65-F5344CB8AC3E}">
        <p14:creationId xmlns:p14="http://schemas.microsoft.com/office/powerpoint/2010/main" val="12764912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extLst>
      <p:ext uri="{BB962C8B-B14F-4D97-AF65-F5344CB8AC3E}">
        <p14:creationId xmlns:p14="http://schemas.microsoft.com/office/powerpoint/2010/main" val="15089069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extLst>
      <p:ext uri="{BB962C8B-B14F-4D97-AF65-F5344CB8AC3E}">
        <p14:creationId xmlns:p14="http://schemas.microsoft.com/office/powerpoint/2010/main" val="40212310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extLst>
      <p:ext uri="{BB962C8B-B14F-4D97-AF65-F5344CB8AC3E}">
        <p14:creationId xmlns:p14="http://schemas.microsoft.com/office/powerpoint/2010/main" val="8012663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extLst>
      <p:ext uri="{BB962C8B-B14F-4D97-AF65-F5344CB8AC3E}">
        <p14:creationId xmlns:p14="http://schemas.microsoft.com/office/powerpoint/2010/main" val="30149174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extLst>
      <p:ext uri="{BB962C8B-B14F-4D97-AF65-F5344CB8AC3E}">
        <p14:creationId xmlns:p14="http://schemas.microsoft.com/office/powerpoint/2010/main" val="2118314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extLst>
      <p:ext uri="{BB962C8B-B14F-4D97-AF65-F5344CB8AC3E}">
        <p14:creationId xmlns:p14="http://schemas.microsoft.com/office/powerpoint/2010/main" val="21877762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2"/>
        <p:cNvGrpSpPr/>
        <p:nvPr/>
      </p:nvGrpSpPr>
      <p:grpSpPr>
        <a:xfrm>
          <a:off x="0" y="0"/>
          <a:ext cx="0" cy="0"/>
          <a:chOff x="0" y="0"/>
          <a:chExt cx="0" cy="0"/>
        </a:xfrm>
      </p:grpSpPr>
      <p:sp>
        <p:nvSpPr>
          <p:cNvPr id="13" name="Google Shape;13;p8"/>
          <p:cNvSpPr txBox="1">
            <a:spLocks noGrp="1"/>
          </p:cNvSpPr>
          <p:nvPr>
            <p:ph type="ctrTitle"/>
          </p:nvPr>
        </p:nvSpPr>
        <p:spPr>
          <a:xfrm>
            <a:off x="2548581" y="2505673"/>
            <a:ext cx="7094700" cy="1026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Helvetica Neue Light"/>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8"/>
          <p:cNvSpPr txBox="1">
            <a:spLocks noGrp="1"/>
          </p:cNvSpPr>
          <p:nvPr>
            <p:ph type="subTitle" idx="1"/>
          </p:nvPr>
        </p:nvSpPr>
        <p:spPr>
          <a:xfrm>
            <a:off x="3690730" y="3532213"/>
            <a:ext cx="4810500" cy="16557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Clr>
                <a:schemeClr val="lt1"/>
              </a:buClr>
              <a:buSzPts val="2400"/>
              <a:buNone/>
              <a:defRPr sz="2400">
                <a:solidFill>
                  <a:schemeClr val="lt1"/>
                </a:solidFill>
              </a:defRPr>
            </a:lvl1pPr>
            <a:lvl2pPr lvl="1" algn="ctr">
              <a:lnSpc>
                <a:spcPct val="100000"/>
              </a:lnSpc>
              <a:spcBef>
                <a:spcPts val="500"/>
              </a:spcBef>
              <a:spcAft>
                <a:spcPts val="0"/>
              </a:spcAft>
              <a:buClr>
                <a:schemeClr val="lt1"/>
              </a:buClr>
              <a:buSzPts val="2000"/>
              <a:buNone/>
              <a:defRPr sz="2000"/>
            </a:lvl2pPr>
            <a:lvl3pPr lvl="2" algn="ctr">
              <a:lnSpc>
                <a:spcPct val="100000"/>
              </a:lnSpc>
              <a:spcBef>
                <a:spcPts val="500"/>
              </a:spcBef>
              <a:spcAft>
                <a:spcPts val="0"/>
              </a:spcAft>
              <a:buClr>
                <a:schemeClr val="lt1"/>
              </a:buClr>
              <a:buSzPts val="1800"/>
              <a:buNone/>
              <a:defRPr sz="1800"/>
            </a:lvl3pPr>
            <a:lvl4pPr lvl="3" algn="ctr">
              <a:lnSpc>
                <a:spcPct val="100000"/>
              </a:lnSpc>
              <a:spcBef>
                <a:spcPts val="500"/>
              </a:spcBef>
              <a:spcAft>
                <a:spcPts val="0"/>
              </a:spcAft>
              <a:buClr>
                <a:schemeClr val="lt1"/>
              </a:buClr>
              <a:buSzPts val="1600"/>
              <a:buNone/>
              <a:defRPr sz="1600"/>
            </a:lvl4pPr>
            <a:lvl5pPr lvl="4" algn="ctr">
              <a:lnSpc>
                <a:spcPct val="10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0"/>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Helvetica Neue"/>
              <a:buNone/>
              <a:defRPr sz="6000">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0"/>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Clr>
                <a:schemeClr val="dk1"/>
              </a:buClr>
              <a:buSzPts val="2400"/>
              <a:buNone/>
              <a:defRPr sz="2400">
                <a:latin typeface="Helvetica Neue"/>
                <a:ea typeface="Helvetica Neue"/>
                <a:cs typeface="Helvetica Neue"/>
                <a:sym typeface="Helvetica Neue"/>
              </a:defRPr>
            </a:lvl1pPr>
            <a:lvl2pPr lvl="1" algn="ctr">
              <a:lnSpc>
                <a:spcPct val="100000"/>
              </a:lnSpc>
              <a:spcBef>
                <a:spcPts val="500"/>
              </a:spcBef>
              <a:spcAft>
                <a:spcPts val="0"/>
              </a:spcAft>
              <a:buClr>
                <a:schemeClr val="dk1"/>
              </a:buClr>
              <a:buSzPts val="2000"/>
              <a:buNone/>
              <a:defRPr sz="2000"/>
            </a:lvl2pPr>
            <a:lvl3pPr lvl="2" algn="ctr">
              <a:lnSpc>
                <a:spcPct val="100000"/>
              </a:lnSpc>
              <a:spcBef>
                <a:spcPts val="500"/>
              </a:spcBef>
              <a:spcAft>
                <a:spcPts val="0"/>
              </a:spcAft>
              <a:buClr>
                <a:schemeClr val="dk1"/>
              </a:buClr>
              <a:buSzPts val="1800"/>
              <a:buNone/>
              <a:defRPr sz="1800"/>
            </a:lvl3pPr>
            <a:lvl4pPr lvl="3" algn="ctr">
              <a:lnSpc>
                <a:spcPct val="100000"/>
              </a:lnSpc>
              <a:spcBef>
                <a:spcPts val="500"/>
              </a:spcBef>
              <a:spcAft>
                <a:spcPts val="0"/>
              </a:spcAft>
              <a:buClr>
                <a:schemeClr val="dk1"/>
              </a:buClr>
              <a:buSzPts val="1600"/>
              <a:buNone/>
              <a:defRPr sz="1600"/>
            </a:lvl4pPr>
            <a:lvl5pPr lvl="4" algn="ctr">
              <a:lnSpc>
                <a:spcPct val="10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3"/>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14"/>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Helvetica Neue Light"/>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4"/>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rgbClr val="757575"/>
              </a:buClr>
              <a:buSzPts val="2400"/>
              <a:buNone/>
              <a:defRPr sz="2400">
                <a:solidFill>
                  <a:srgbClr val="757575"/>
                </a:solidFill>
              </a:defRPr>
            </a:lvl1pPr>
            <a:lvl2pPr marL="914400" lvl="1" indent="-228600" algn="l">
              <a:lnSpc>
                <a:spcPct val="100000"/>
              </a:lnSpc>
              <a:spcBef>
                <a:spcPts val="500"/>
              </a:spcBef>
              <a:spcAft>
                <a:spcPts val="0"/>
              </a:spcAft>
              <a:buClr>
                <a:srgbClr val="757575"/>
              </a:buClr>
              <a:buSzPts val="2000"/>
              <a:buNone/>
              <a:defRPr sz="2000">
                <a:solidFill>
                  <a:srgbClr val="757575"/>
                </a:solidFill>
              </a:defRPr>
            </a:lvl2pPr>
            <a:lvl3pPr marL="1371600" lvl="2" indent="-228600" algn="l">
              <a:lnSpc>
                <a:spcPct val="100000"/>
              </a:lnSpc>
              <a:spcBef>
                <a:spcPts val="500"/>
              </a:spcBef>
              <a:spcAft>
                <a:spcPts val="0"/>
              </a:spcAft>
              <a:buClr>
                <a:srgbClr val="757575"/>
              </a:buClr>
              <a:buSzPts val="1800"/>
              <a:buNone/>
              <a:defRPr sz="1800">
                <a:solidFill>
                  <a:srgbClr val="757575"/>
                </a:solidFill>
              </a:defRPr>
            </a:lvl3pPr>
            <a:lvl4pPr marL="1828800" lvl="3" indent="-228600" algn="l">
              <a:lnSpc>
                <a:spcPct val="100000"/>
              </a:lnSpc>
              <a:spcBef>
                <a:spcPts val="500"/>
              </a:spcBef>
              <a:spcAft>
                <a:spcPts val="0"/>
              </a:spcAft>
              <a:buClr>
                <a:srgbClr val="757575"/>
              </a:buClr>
              <a:buSzPts val="1600"/>
              <a:buNone/>
              <a:defRPr sz="1600">
                <a:solidFill>
                  <a:srgbClr val="757575"/>
                </a:solidFill>
              </a:defRPr>
            </a:lvl4pPr>
            <a:lvl5pPr marL="2286000" lvl="4" indent="-228600" algn="l">
              <a:lnSpc>
                <a:spcPct val="10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2" name="Google Shape;32;p1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rgbClr val="757575"/>
                </a:solidFill>
                <a:latin typeface="Manrope"/>
                <a:ea typeface="Manrope"/>
                <a:cs typeface="Manrope"/>
                <a:sym typeface="Manrope"/>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rgbClr val="757575"/>
                </a:solidFill>
                <a:latin typeface="Manrope"/>
                <a:ea typeface="Manrope"/>
                <a:cs typeface="Manrope"/>
                <a:sym typeface="Manrope"/>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rgbClr val="757575"/>
                </a:solidFill>
                <a:latin typeface="Manrope"/>
                <a:ea typeface="Manrope"/>
                <a:cs typeface="Manrope"/>
                <a:sym typeface="Manrope"/>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rgbClr val="757575"/>
                </a:solidFill>
                <a:latin typeface="Manrope"/>
                <a:ea typeface="Manrope"/>
                <a:cs typeface="Manrope"/>
                <a:sym typeface="Manrope"/>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rgbClr val="757575"/>
                </a:solidFill>
                <a:latin typeface="Manrope"/>
                <a:ea typeface="Manrope"/>
                <a:cs typeface="Manrope"/>
                <a:sym typeface="Manrope"/>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rgbClr val="757575"/>
                </a:solidFill>
                <a:latin typeface="Manrope"/>
                <a:ea typeface="Manrope"/>
                <a:cs typeface="Manrope"/>
                <a:sym typeface="Manrope"/>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rgbClr val="757575"/>
                </a:solidFill>
                <a:latin typeface="Manrope"/>
                <a:ea typeface="Manrope"/>
                <a:cs typeface="Manrope"/>
                <a:sym typeface="Manrope"/>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rgbClr val="757575"/>
                </a:solidFill>
                <a:latin typeface="Manrope"/>
                <a:ea typeface="Manrope"/>
                <a:cs typeface="Manrope"/>
                <a:sym typeface="Manrope"/>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rgbClr val="757575"/>
                </a:solidFill>
                <a:latin typeface="Manrope"/>
                <a:ea typeface="Manrope"/>
                <a:cs typeface="Manrope"/>
                <a:sym typeface="Manrop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5"/>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Clr>
                <a:schemeClr val="dk1"/>
              </a:buClr>
              <a:buSzPts val="2400"/>
              <a:buNone/>
              <a:defRPr sz="2400" b="1"/>
            </a:lvl1pPr>
            <a:lvl2pPr marL="914400" lvl="1" indent="-228600" algn="l">
              <a:lnSpc>
                <a:spcPct val="100000"/>
              </a:lnSpc>
              <a:spcBef>
                <a:spcPts val="500"/>
              </a:spcBef>
              <a:spcAft>
                <a:spcPts val="0"/>
              </a:spcAft>
              <a:buClr>
                <a:schemeClr val="dk1"/>
              </a:buClr>
              <a:buSzPts val="2000"/>
              <a:buNone/>
              <a:defRPr sz="2000" b="1"/>
            </a:lvl2pPr>
            <a:lvl3pPr marL="1371600" lvl="2" indent="-228600" algn="l">
              <a:lnSpc>
                <a:spcPct val="100000"/>
              </a:lnSpc>
              <a:spcBef>
                <a:spcPts val="500"/>
              </a:spcBef>
              <a:spcAft>
                <a:spcPts val="0"/>
              </a:spcAft>
              <a:buClr>
                <a:schemeClr val="dk1"/>
              </a:buClr>
              <a:buSzPts val="1800"/>
              <a:buNone/>
              <a:defRPr sz="1800" b="1"/>
            </a:lvl3pPr>
            <a:lvl4pPr marL="1828800" lvl="3" indent="-228600" algn="l">
              <a:lnSpc>
                <a:spcPct val="100000"/>
              </a:lnSpc>
              <a:spcBef>
                <a:spcPts val="500"/>
              </a:spcBef>
              <a:spcAft>
                <a:spcPts val="0"/>
              </a:spcAft>
              <a:buClr>
                <a:schemeClr val="dk1"/>
              </a:buClr>
              <a:buSzPts val="1600"/>
              <a:buNone/>
              <a:defRPr sz="1600" b="1"/>
            </a:lvl4pPr>
            <a:lvl5pPr marL="2286000" lvl="4" indent="-228600" algn="l">
              <a:lnSpc>
                <a:spcPct val="10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Clr>
                <a:schemeClr val="dk1"/>
              </a:buClr>
              <a:buSzPts val="2400"/>
              <a:buNone/>
              <a:defRPr sz="2400" b="1"/>
            </a:lvl1pPr>
            <a:lvl2pPr marL="914400" lvl="1" indent="-228600" algn="l">
              <a:lnSpc>
                <a:spcPct val="100000"/>
              </a:lnSpc>
              <a:spcBef>
                <a:spcPts val="500"/>
              </a:spcBef>
              <a:spcAft>
                <a:spcPts val="0"/>
              </a:spcAft>
              <a:buClr>
                <a:schemeClr val="dk1"/>
              </a:buClr>
              <a:buSzPts val="2000"/>
              <a:buNone/>
              <a:defRPr sz="2000" b="1"/>
            </a:lvl2pPr>
            <a:lvl3pPr marL="1371600" lvl="2" indent="-228600" algn="l">
              <a:lnSpc>
                <a:spcPct val="100000"/>
              </a:lnSpc>
              <a:spcBef>
                <a:spcPts val="500"/>
              </a:spcBef>
              <a:spcAft>
                <a:spcPts val="0"/>
              </a:spcAft>
              <a:buClr>
                <a:schemeClr val="dk1"/>
              </a:buClr>
              <a:buSzPts val="1800"/>
              <a:buNone/>
              <a:defRPr sz="1800" b="1"/>
            </a:lvl3pPr>
            <a:lvl4pPr marL="1828800" lvl="3" indent="-228600" algn="l">
              <a:lnSpc>
                <a:spcPct val="100000"/>
              </a:lnSpc>
              <a:spcBef>
                <a:spcPts val="500"/>
              </a:spcBef>
              <a:spcAft>
                <a:spcPts val="0"/>
              </a:spcAft>
              <a:buClr>
                <a:schemeClr val="dk1"/>
              </a:buClr>
              <a:buSzPts val="1600"/>
              <a:buNone/>
              <a:defRPr sz="1600" b="1"/>
            </a:lvl4pPr>
            <a:lvl5pPr marL="2286000" lvl="4" indent="-228600" algn="l">
              <a:lnSpc>
                <a:spcPct val="10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6"/>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7"/>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8"/>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0"/>
        <p:cNvGrpSpPr/>
        <p:nvPr/>
      </p:nvGrpSpPr>
      <p:grpSpPr>
        <a:xfrm>
          <a:off x="0" y="0"/>
          <a:ext cx="0" cy="0"/>
          <a:chOff x="0" y="0"/>
          <a:chExt cx="0" cy="0"/>
        </a:xfrm>
      </p:grpSpPr>
      <p:sp>
        <p:nvSpPr>
          <p:cNvPr id="51" name="Google Shape;51;p1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Helvetica Neue Light"/>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9"/>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Clr>
                <a:schemeClr val="dk1"/>
              </a:buClr>
              <a:buSzPts val="3200"/>
              <a:buChar char="•"/>
              <a:defRPr sz="3200"/>
            </a:lvl1pPr>
            <a:lvl2pPr marL="914400" lvl="1" indent="-406400" algn="l">
              <a:lnSpc>
                <a:spcPct val="100000"/>
              </a:lnSpc>
              <a:spcBef>
                <a:spcPts val="500"/>
              </a:spcBef>
              <a:spcAft>
                <a:spcPts val="0"/>
              </a:spcAft>
              <a:buClr>
                <a:schemeClr val="dk1"/>
              </a:buClr>
              <a:buSzPts val="2800"/>
              <a:buChar char="•"/>
              <a:defRPr sz="2800"/>
            </a:lvl2pPr>
            <a:lvl3pPr marL="1371600" lvl="2" indent="-381000" algn="l">
              <a:lnSpc>
                <a:spcPct val="100000"/>
              </a:lnSpc>
              <a:spcBef>
                <a:spcPts val="500"/>
              </a:spcBef>
              <a:spcAft>
                <a:spcPts val="0"/>
              </a:spcAft>
              <a:buClr>
                <a:schemeClr val="dk1"/>
              </a:buClr>
              <a:buSzPts val="2400"/>
              <a:buChar char="•"/>
              <a:defRPr sz="2400"/>
            </a:lvl3pPr>
            <a:lvl4pPr marL="1828800" lvl="3" indent="-355600" algn="l">
              <a:lnSpc>
                <a:spcPct val="100000"/>
              </a:lnSpc>
              <a:spcBef>
                <a:spcPts val="500"/>
              </a:spcBef>
              <a:spcAft>
                <a:spcPts val="0"/>
              </a:spcAft>
              <a:buClr>
                <a:schemeClr val="dk1"/>
              </a:buClr>
              <a:buSzPts val="2000"/>
              <a:buChar char="•"/>
              <a:defRPr sz="2000"/>
            </a:lvl4pPr>
            <a:lvl5pPr marL="2286000" lvl="4" indent="-355600" algn="l">
              <a:lnSpc>
                <a:spcPct val="10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3" name="Google Shape;53;p1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600"/>
              <a:buNone/>
              <a:defRPr sz="16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200"/>
              <a:buNone/>
              <a:defRPr sz="1200"/>
            </a:lvl3pPr>
            <a:lvl4pPr marL="1828800" lvl="3" indent="-228600" algn="l">
              <a:lnSpc>
                <a:spcPct val="100000"/>
              </a:lnSpc>
              <a:spcBef>
                <a:spcPts val="500"/>
              </a:spcBef>
              <a:spcAft>
                <a:spcPts val="0"/>
              </a:spcAft>
              <a:buClr>
                <a:schemeClr val="dk1"/>
              </a:buClr>
              <a:buSzPts val="1000"/>
              <a:buNone/>
              <a:defRPr sz="1000"/>
            </a:lvl4pPr>
            <a:lvl5pPr marL="2286000" lvl="4" indent="-228600" algn="l">
              <a:lnSpc>
                <a:spcPct val="10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4" name="Google Shape;54;p19"/>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2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Helvetica Neue Light"/>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0"/>
          <p:cNvSpPr>
            <a:spLocks noGrp="1"/>
          </p:cNvSpPr>
          <p:nvPr>
            <p:ph type="pic" idx="2"/>
          </p:nvPr>
        </p:nvSpPr>
        <p:spPr>
          <a:xfrm>
            <a:off x="5183188" y="987425"/>
            <a:ext cx="6172200" cy="4873500"/>
          </a:xfrm>
          <a:prstGeom prst="rect">
            <a:avLst/>
          </a:prstGeom>
          <a:noFill/>
          <a:ln>
            <a:noFill/>
          </a:ln>
        </p:spPr>
      </p:sp>
      <p:sp>
        <p:nvSpPr>
          <p:cNvPr id="58" name="Google Shape;58;p2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Clr>
                <a:schemeClr val="dk1"/>
              </a:buClr>
              <a:buSzPts val="1600"/>
              <a:buNone/>
              <a:defRPr sz="1600"/>
            </a:lvl1pPr>
            <a:lvl2pPr marL="914400" lvl="1" indent="-228600" algn="l">
              <a:lnSpc>
                <a:spcPct val="100000"/>
              </a:lnSpc>
              <a:spcBef>
                <a:spcPts val="500"/>
              </a:spcBef>
              <a:spcAft>
                <a:spcPts val="0"/>
              </a:spcAft>
              <a:buClr>
                <a:schemeClr val="dk1"/>
              </a:buClr>
              <a:buSzPts val="1400"/>
              <a:buNone/>
              <a:defRPr sz="1400"/>
            </a:lvl2pPr>
            <a:lvl3pPr marL="1371600" lvl="2" indent="-228600" algn="l">
              <a:lnSpc>
                <a:spcPct val="100000"/>
              </a:lnSpc>
              <a:spcBef>
                <a:spcPts val="500"/>
              </a:spcBef>
              <a:spcAft>
                <a:spcPts val="0"/>
              </a:spcAft>
              <a:buClr>
                <a:schemeClr val="dk1"/>
              </a:buClr>
              <a:buSzPts val="1200"/>
              <a:buNone/>
              <a:defRPr sz="1200"/>
            </a:lvl3pPr>
            <a:lvl4pPr marL="1828800" lvl="3" indent="-228600" algn="l">
              <a:lnSpc>
                <a:spcPct val="100000"/>
              </a:lnSpc>
              <a:spcBef>
                <a:spcPts val="500"/>
              </a:spcBef>
              <a:spcAft>
                <a:spcPts val="0"/>
              </a:spcAft>
              <a:buClr>
                <a:schemeClr val="dk1"/>
              </a:buClr>
              <a:buSzPts val="1000"/>
              <a:buNone/>
              <a:defRPr sz="1000"/>
            </a:lvl4pPr>
            <a:lvl5pPr marL="2286000" lvl="4" indent="-228600" algn="l">
              <a:lnSpc>
                <a:spcPct val="10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20"/>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0"/>
        <p:cNvGrpSpPr/>
        <p:nvPr/>
      </p:nvGrpSpPr>
      <p:grpSpPr>
        <a:xfrm>
          <a:off x="0" y="0"/>
          <a:ext cx="0" cy="0"/>
          <a:chOff x="0" y="0"/>
          <a:chExt cx="0" cy="0"/>
        </a:xfrm>
      </p:grpSpPr>
      <p:sp>
        <p:nvSpPr>
          <p:cNvPr id="61" name="Google Shape;61;p2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21"/>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4"/>
        <p:cNvGrpSpPr/>
        <p:nvPr/>
      </p:nvGrpSpPr>
      <p:grpSpPr>
        <a:xfrm>
          <a:off x="0" y="0"/>
          <a:ext cx="0" cy="0"/>
          <a:chOff x="0" y="0"/>
          <a:chExt cx="0" cy="0"/>
        </a:xfrm>
      </p:grpSpPr>
      <p:sp>
        <p:nvSpPr>
          <p:cNvPr id="65" name="Google Shape;65;p22"/>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2"/>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chemeClr val="dk1"/>
              </a:buClr>
              <a:buSzPts val="1800"/>
              <a:buChar char="•"/>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2"/>
          <p:cNvSpPr txBox="1">
            <a:spLocks noGrp="1"/>
          </p:cNvSpPr>
          <p:nvPr>
            <p:ph type="sldNum" idx="12"/>
          </p:nvPr>
        </p:nvSpPr>
        <p:spPr>
          <a:xfrm>
            <a:off x="11460295" y="6473109"/>
            <a:ext cx="731700" cy="384900"/>
          </a:xfrm>
          <a:prstGeom prst="rect">
            <a:avLst/>
          </a:prstGeom>
          <a:noFill/>
          <a:ln>
            <a:noFill/>
          </a:ln>
        </p:spPr>
        <p:txBody>
          <a:bodyPr spcFirstLastPara="1" wrap="square" lIns="91425" tIns="91425" rIns="91425" bIns="91425" anchor="t" anchorCtr="0">
            <a:spAutoFit/>
          </a:bodyPr>
          <a:lstStyle>
            <a:lvl1pPr marL="0" marR="0" lvl="0"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1pPr>
            <a:lvl2pPr marL="0" marR="0" lvl="1"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2pPr>
            <a:lvl3pPr marL="0" marR="0" lvl="2"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3pPr>
            <a:lvl4pPr marL="0" marR="0" lvl="3"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4pPr>
            <a:lvl5pPr marL="0" marR="0" lvl="4"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5pPr>
            <a:lvl6pPr marL="0" marR="0" lvl="5"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6pPr>
            <a:lvl7pPr marL="0" marR="0" lvl="6"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7pPr>
            <a:lvl8pPr marL="0" marR="0" lvl="7"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8pPr>
            <a:lvl9pPr marL="0" marR="0" lvl="8" indent="0" algn="r">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orkshop title slide">
  <p:cSld name="Workshop title slide">
    <p:spTree>
      <p:nvGrpSpPr>
        <p:cNvPr id="1" name="Shape 72"/>
        <p:cNvGrpSpPr/>
        <p:nvPr/>
      </p:nvGrpSpPr>
      <p:grpSpPr>
        <a:xfrm>
          <a:off x="0" y="0"/>
          <a:ext cx="0" cy="0"/>
          <a:chOff x="0" y="0"/>
          <a:chExt cx="0" cy="0"/>
        </a:xfrm>
      </p:grpSpPr>
      <p:sp>
        <p:nvSpPr>
          <p:cNvPr id="73" name="Google Shape;73;p12"/>
          <p:cNvSpPr txBox="1">
            <a:spLocks noGrp="1"/>
          </p:cNvSpPr>
          <p:nvPr>
            <p:ph type="ctrTitle"/>
          </p:nvPr>
        </p:nvSpPr>
        <p:spPr>
          <a:xfrm>
            <a:off x="640492" y="2250180"/>
            <a:ext cx="7094700" cy="1026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6000"/>
              <a:buFont typeface="Helvetica Neue Light"/>
              <a:buNone/>
              <a:defRPr sz="6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4" name="Google Shape;74;p12" descr="A logo with white dots&#10;&#10;AI-generated content may be incorrect."/>
          <p:cNvPicPr preferRelativeResize="0"/>
          <p:nvPr/>
        </p:nvPicPr>
        <p:blipFill rotWithShape="1">
          <a:blip r:embed="rId2">
            <a:alphaModFix/>
          </a:blip>
          <a:srcRect/>
          <a:stretch/>
        </p:blipFill>
        <p:spPr>
          <a:xfrm>
            <a:off x="5980843" y="236128"/>
            <a:ext cx="2653569" cy="1326784"/>
          </a:xfrm>
          <a:prstGeom prst="rect">
            <a:avLst/>
          </a:prstGeom>
          <a:noFill/>
          <a:ln>
            <a:noFill/>
          </a:ln>
        </p:spPr>
      </p:pic>
      <p:sp>
        <p:nvSpPr>
          <p:cNvPr id="75" name="Google Shape;75;p12"/>
          <p:cNvSpPr txBox="1"/>
          <p:nvPr/>
        </p:nvSpPr>
        <p:spPr>
          <a:xfrm>
            <a:off x="0" y="6521547"/>
            <a:ext cx="4810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Helvetica Neue"/>
                <a:ea typeface="Helvetica Neue"/>
                <a:cs typeface="Helvetica Neue"/>
                <a:sym typeface="Helvetica Neue"/>
              </a:rPr>
              <a:t>Canadian Bioinformatics Workshops | bioinformatics.ca</a:t>
            </a:r>
            <a:endParaRPr sz="1400" b="0" i="0" u="none" strike="noStrike" cap="none">
              <a:solidFill>
                <a:schemeClr val="lt1"/>
              </a:solidFill>
              <a:latin typeface="Helvetica Neue"/>
              <a:ea typeface="Helvetica Neue"/>
              <a:cs typeface="Helvetica Neue"/>
              <a:sym typeface="Helvetica Neue"/>
            </a:endParaRPr>
          </a:p>
        </p:txBody>
      </p:sp>
      <p:sp>
        <p:nvSpPr>
          <p:cNvPr id="76" name="Google Shape;76;p12"/>
          <p:cNvSpPr txBox="1">
            <a:spLocks noGrp="1"/>
          </p:cNvSpPr>
          <p:nvPr>
            <p:ph type="subTitle" idx="1"/>
          </p:nvPr>
        </p:nvSpPr>
        <p:spPr>
          <a:xfrm>
            <a:off x="1782641" y="3276720"/>
            <a:ext cx="4810500" cy="16557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Clr>
                <a:schemeClr val="lt1"/>
              </a:buClr>
              <a:buSzPts val="2400"/>
              <a:buNone/>
              <a:defRPr sz="2400">
                <a:solidFill>
                  <a:schemeClr val="lt1"/>
                </a:solidFill>
              </a:defRPr>
            </a:lvl1pPr>
            <a:lvl2pPr lvl="1" algn="ctr">
              <a:lnSpc>
                <a:spcPct val="100000"/>
              </a:lnSpc>
              <a:spcBef>
                <a:spcPts val="500"/>
              </a:spcBef>
              <a:spcAft>
                <a:spcPts val="0"/>
              </a:spcAft>
              <a:buClr>
                <a:schemeClr val="lt1"/>
              </a:buClr>
              <a:buSzPts val="2000"/>
              <a:buNone/>
              <a:defRPr sz="2000"/>
            </a:lvl2pPr>
            <a:lvl3pPr lvl="2" algn="ctr">
              <a:lnSpc>
                <a:spcPct val="100000"/>
              </a:lnSpc>
              <a:spcBef>
                <a:spcPts val="500"/>
              </a:spcBef>
              <a:spcAft>
                <a:spcPts val="0"/>
              </a:spcAft>
              <a:buClr>
                <a:schemeClr val="lt1"/>
              </a:buClr>
              <a:buSzPts val="1800"/>
              <a:buNone/>
              <a:defRPr sz="1800"/>
            </a:lvl3pPr>
            <a:lvl4pPr lvl="3" algn="ctr">
              <a:lnSpc>
                <a:spcPct val="100000"/>
              </a:lnSpc>
              <a:spcBef>
                <a:spcPts val="500"/>
              </a:spcBef>
              <a:spcAft>
                <a:spcPts val="0"/>
              </a:spcAft>
              <a:buClr>
                <a:schemeClr val="lt1"/>
              </a:buClr>
              <a:buSzPts val="1600"/>
              <a:buNone/>
              <a:defRPr sz="1600"/>
            </a:lvl4pPr>
            <a:lvl5pPr lvl="4" algn="ctr">
              <a:lnSpc>
                <a:spcPct val="10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1.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24393F"/>
            </a:gs>
            <a:gs pos="45000">
              <a:srgbClr val="70247F"/>
            </a:gs>
            <a:gs pos="100000">
              <a:srgbClr val="B40805"/>
            </a:gs>
          </a:gsLst>
          <a:path path="circle">
            <a:fillToRect l="100000" t="100000"/>
          </a:path>
          <a:tileRect r="-100000" b="-100000"/>
        </a:gra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Helvetica Neue Light"/>
              <a:buNone/>
              <a:defRPr sz="4400" b="0" i="0" u="none" strike="noStrike" cap="none">
                <a:solidFill>
                  <a:schemeClr val="lt1"/>
                </a:solidFill>
                <a:latin typeface="Helvetica Neue Light"/>
                <a:ea typeface="Helvetica Neue Light"/>
                <a:cs typeface="Helvetica Neue Light"/>
                <a:sym typeface="Helvetica Neue Ligh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lt1"/>
              </a:buClr>
              <a:buSzPts val="2800"/>
              <a:buFont typeface="Arial"/>
              <a:buChar char="•"/>
              <a:defRPr sz="2800" b="0" i="0" u="none" strike="noStrike" cap="none">
                <a:solidFill>
                  <a:schemeClr val="lt1"/>
                </a:solidFill>
                <a:latin typeface="Helvetica Neue Light"/>
                <a:ea typeface="Helvetica Neue Light"/>
                <a:cs typeface="Helvetica Neue Light"/>
                <a:sym typeface="Helvetica Neue Light"/>
              </a:defRPr>
            </a:lvl1pPr>
            <a:lvl2pPr marL="914400" marR="0" lvl="1" indent="-381000" algn="l" rtl="0">
              <a:lnSpc>
                <a:spcPct val="100000"/>
              </a:lnSpc>
              <a:spcBef>
                <a:spcPts val="500"/>
              </a:spcBef>
              <a:spcAft>
                <a:spcPts val="0"/>
              </a:spcAft>
              <a:buClr>
                <a:schemeClr val="lt1"/>
              </a:buClr>
              <a:buSzPts val="2400"/>
              <a:buFont typeface="Arial"/>
              <a:buChar char="•"/>
              <a:defRPr sz="2400" b="0" i="0" u="none" strike="noStrike" cap="none">
                <a:solidFill>
                  <a:schemeClr val="lt1"/>
                </a:solidFill>
                <a:latin typeface="Helvetica Neue Light"/>
                <a:ea typeface="Helvetica Neue Light"/>
                <a:cs typeface="Helvetica Neue Light"/>
                <a:sym typeface="Helvetica Neue Light"/>
              </a:defRPr>
            </a:lvl2pPr>
            <a:lvl3pPr marL="1371600" marR="0" lvl="2" indent="-355600" algn="l" rtl="0">
              <a:lnSpc>
                <a:spcPct val="100000"/>
              </a:lnSpc>
              <a:spcBef>
                <a:spcPts val="500"/>
              </a:spcBef>
              <a:spcAft>
                <a:spcPts val="0"/>
              </a:spcAft>
              <a:buClr>
                <a:schemeClr val="lt1"/>
              </a:buClr>
              <a:buSzPts val="2000"/>
              <a:buFont typeface="Arial"/>
              <a:buChar char="•"/>
              <a:defRPr sz="2000" b="0" i="0" u="none" strike="noStrike" cap="none">
                <a:solidFill>
                  <a:schemeClr val="lt1"/>
                </a:solidFill>
                <a:latin typeface="Helvetica Neue Light"/>
                <a:ea typeface="Helvetica Neue Light"/>
                <a:cs typeface="Helvetica Neue Light"/>
                <a:sym typeface="Helvetica Neue Light"/>
              </a:defRPr>
            </a:lvl3pPr>
            <a:lvl4pPr marL="1828800" marR="0" lvl="3" indent="-342900" algn="l" rtl="0">
              <a:lnSpc>
                <a:spcPct val="100000"/>
              </a:lnSpc>
              <a:spcBef>
                <a:spcPts val="500"/>
              </a:spcBef>
              <a:spcAft>
                <a:spcPts val="0"/>
              </a:spcAft>
              <a:buClr>
                <a:schemeClr val="lt1"/>
              </a:buClr>
              <a:buSzPts val="1800"/>
              <a:buFont typeface="Arial"/>
              <a:buChar char="•"/>
              <a:defRPr sz="1800" b="0" i="0" u="none" strike="noStrike" cap="none">
                <a:solidFill>
                  <a:schemeClr val="lt1"/>
                </a:solidFill>
                <a:latin typeface="Helvetica Neue Light"/>
                <a:ea typeface="Helvetica Neue Light"/>
                <a:cs typeface="Helvetica Neue Light"/>
                <a:sym typeface="Helvetica Neue Light"/>
              </a:defRPr>
            </a:lvl4pPr>
            <a:lvl5pPr marL="2286000" marR="0" lvl="4" indent="-342900" algn="l" rtl="0">
              <a:lnSpc>
                <a:spcPct val="100000"/>
              </a:lnSpc>
              <a:spcBef>
                <a:spcPts val="500"/>
              </a:spcBef>
              <a:spcAft>
                <a:spcPts val="0"/>
              </a:spcAft>
              <a:buClr>
                <a:schemeClr val="lt1"/>
              </a:buClr>
              <a:buSzPts val="1800"/>
              <a:buFont typeface="Arial"/>
              <a:buChar char="•"/>
              <a:defRPr sz="1800" b="0" i="0" u="none" strike="noStrike" cap="none">
                <a:solidFill>
                  <a:schemeClr val="lt1"/>
                </a:solidFill>
                <a:latin typeface="Helvetica Neue Light"/>
                <a:ea typeface="Helvetica Neue Light"/>
                <a:cs typeface="Helvetica Neue Light"/>
                <a:sym typeface="Helvetica Neue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9"/>
          <p:cNvSpPr/>
          <p:nvPr/>
        </p:nvSpPr>
        <p:spPr>
          <a:xfrm>
            <a:off x="0" y="6492874"/>
            <a:ext cx="12192000" cy="365100"/>
          </a:xfrm>
          <a:prstGeom prst="rect">
            <a:avLst/>
          </a:prstGeom>
          <a:solidFill>
            <a:srgbClr val="70247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7" name="Google Shape;17;p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Helvetica Neue Light"/>
              <a:buNone/>
              <a:defRPr sz="4400" b="0" i="0" u="none" strike="noStrike" cap="none">
                <a:solidFill>
                  <a:schemeClr val="dk1"/>
                </a:solidFill>
                <a:latin typeface="Helvetica Neue Light"/>
                <a:ea typeface="Helvetica Neue Light"/>
                <a:cs typeface="Helvetica Neue Light"/>
                <a:sym typeface="Helvetica Neue Ligh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 name="Google Shape;18;p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Helvetica Neue Light"/>
                <a:ea typeface="Helvetica Neue Light"/>
                <a:cs typeface="Helvetica Neue Light"/>
                <a:sym typeface="Helvetica Neue Light"/>
              </a:defRPr>
            </a:lvl1pPr>
            <a:lvl2pPr marL="914400" marR="0" lvl="1" indent="-381000"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Helvetica Neue Light"/>
                <a:ea typeface="Helvetica Neue Light"/>
                <a:cs typeface="Helvetica Neue Light"/>
                <a:sym typeface="Helvetica Neue Light"/>
              </a:defRPr>
            </a:lvl2pPr>
            <a:lvl3pPr marL="1371600" marR="0" lvl="2" indent="-355600" algn="l" rtl="0">
              <a:lnSpc>
                <a:spcPct val="100000"/>
              </a:lnSpc>
              <a:spcBef>
                <a:spcPts val="500"/>
              </a:spcBef>
              <a:spcAft>
                <a:spcPts val="0"/>
              </a:spcAft>
              <a:buClr>
                <a:schemeClr val="dk1"/>
              </a:buClr>
              <a:buSzPts val="2000"/>
              <a:buFont typeface="Arial"/>
              <a:buChar char="•"/>
              <a:defRPr sz="2000" b="0" i="0" u="none" strike="noStrike" cap="none">
                <a:solidFill>
                  <a:schemeClr val="dk1"/>
                </a:solidFill>
                <a:latin typeface="Helvetica Neue Light"/>
                <a:ea typeface="Helvetica Neue Light"/>
                <a:cs typeface="Helvetica Neue Light"/>
                <a:sym typeface="Helvetica Neue Light"/>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Helvetica Neue Light"/>
                <a:ea typeface="Helvetica Neue Light"/>
                <a:cs typeface="Helvetica Neue Light"/>
                <a:sym typeface="Helvetica Neue Light"/>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Helvetica Neue Light"/>
                <a:ea typeface="Helvetica Neue Light"/>
                <a:cs typeface="Helvetica Neue Light"/>
                <a:sym typeface="Helvetica Neue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9" name="Google Shape;19;p9"/>
          <p:cNvSpPr txBox="1"/>
          <p:nvPr/>
        </p:nvSpPr>
        <p:spPr>
          <a:xfrm>
            <a:off x="0" y="6521547"/>
            <a:ext cx="4810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Helvetica Neue Light"/>
                <a:ea typeface="Helvetica Neue Light"/>
                <a:cs typeface="Helvetica Neue Light"/>
                <a:sym typeface="Helvetica Neue Light"/>
              </a:rPr>
              <a:t>Canadian Bioinformatics Workshops | bioinformatics.ca</a:t>
            </a:r>
            <a:endParaRPr sz="1400" b="0" i="0" u="none" strike="noStrike" cap="none">
              <a:solidFill>
                <a:schemeClr val="lt1"/>
              </a:solidFill>
              <a:latin typeface="Helvetica Neue Light"/>
              <a:ea typeface="Helvetica Neue Light"/>
              <a:cs typeface="Helvetica Neue Light"/>
              <a:sym typeface="Helvetica Neue Light"/>
            </a:endParaRPr>
          </a:p>
        </p:txBody>
      </p:sp>
      <p:pic>
        <p:nvPicPr>
          <p:cNvPr id="20" name="Google Shape;20;p9" descr="Purple circles on a black background&#10;&#10;AI-generated content may be incorrect."/>
          <p:cNvPicPr preferRelativeResize="0"/>
          <p:nvPr/>
        </p:nvPicPr>
        <p:blipFill rotWithShape="1">
          <a:blip r:embed="rId13">
            <a:alphaModFix/>
          </a:blip>
          <a:srcRect/>
          <a:stretch/>
        </p:blipFill>
        <p:spPr>
          <a:xfrm>
            <a:off x="11352340" y="0"/>
            <a:ext cx="839659" cy="839659"/>
          </a:xfrm>
          <a:prstGeom prst="rect">
            <a:avLst/>
          </a:prstGeom>
          <a:noFill/>
          <a:ln>
            <a:noFill/>
          </a:ln>
        </p:spPr>
      </p:pic>
      <p:sp>
        <p:nvSpPr>
          <p:cNvPr id="21" name="Google Shape;21;p9"/>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1pPr>
            <a:lvl2pPr marL="0" marR="0" lvl="1" indent="0" algn="r" rtl="0">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2pPr>
            <a:lvl3pPr marL="0" marR="0" lvl="2" indent="0" algn="r" rtl="0">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3pPr>
            <a:lvl4pPr marL="0" marR="0" lvl="3" indent="0" algn="r" rtl="0">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4pPr>
            <a:lvl5pPr marL="0" marR="0" lvl="4" indent="0" algn="r" rtl="0">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5pPr>
            <a:lvl6pPr marL="0" marR="0" lvl="5" indent="0" algn="r" rtl="0">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6pPr>
            <a:lvl7pPr marL="0" marR="0" lvl="6" indent="0" algn="r" rtl="0">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7pPr>
            <a:lvl8pPr marL="0" marR="0" lvl="7" indent="0" algn="r" rtl="0">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8pPr>
            <a:lvl9pPr marL="0" marR="0" lvl="8" indent="0" algn="r" rtl="0">
              <a:lnSpc>
                <a:spcPct val="100000"/>
              </a:lnSpc>
              <a:spcBef>
                <a:spcPts val="0"/>
              </a:spcBef>
              <a:spcAft>
                <a:spcPts val="0"/>
              </a:spcAft>
              <a:buClr>
                <a:srgbClr val="000000"/>
              </a:buClr>
              <a:buSzPts val="1300"/>
              <a:buFont typeface="Arial"/>
              <a:buNone/>
              <a:defRPr sz="1300" b="1" i="0" u="none" strike="noStrike" cap="none">
                <a:solidFill>
                  <a:schemeClr val="lt1"/>
                </a:solidFill>
                <a:latin typeface="Manrope"/>
                <a:ea typeface="Manrope"/>
                <a:cs typeface="Manrope"/>
                <a:sym typeface="Manrope"/>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
        <p:cNvGrpSpPr/>
        <p:nvPr/>
      </p:nvGrpSpPr>
      <p:grpSpPr>
        <a:xfrm>
          <a:off x="0" y="0"/>
          <a:ext cx="0" cy="0"/>
          <a:chOff x="0" y="0"/>
          <a:chExt cx="0" cy="0"/>
        </a:xfrm>
      </p:grpSpPr>
      <p:sp>
        <p:nvSpPr>
          <p:cNvPr id="69" name="Google Shape;69;p11"/>
          <p:cNvSpPr/>
          <p:nvPr/>
        </p:nvSpPr>
        <p:spPr>
          <a:xfrm>
            <a:off x="0" y="0"/>
            <a:ext cx="8610600" cy="6858000"/>
          </a:xfrm>
          <a:prstGeom prst="rect">
            <a:avLst/>
          </a:prstGeom>
          <a:gradFill>
            <a:gsLst>
              <a:gs pos="0">
                <a:srgbClr val="24393F"/>
              </a:gs>
              <a:gs pos="54000">
                <a:srgbClr val="70247F"/>
              </a:gs>
              <a:gs pos="100000">
                <a:srgbClr val="B40805"/>
              </a:gs>
            </a:gsLst>
            <a:path path="circle">
              <a:fillToRect l="100000" t="100000"/>
            </a:path>
            <a:tileRect r="-100000" b="-100000"/>
          </a:gradFill>
          <a:ln w="19050" cap="flat" cmpd="sng">
            <a:solidFill>
              <a:srgbClr val="082836"/>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0" name="Google Shape;70;p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lt1"/>
              </a:buClr>
              <a:buSzPts val="4400"/>
              <a:buFont typeface="Helvetica Neue Light"/>
              <a:buNone/>
              <a:defRPr sz="4400" b="0" i="0" u="none" strike="noStrike" cap="none">
                <a:solidFill>
                  <a:schemeClr val="lt1"/>
                </a:solidFill>
                <a:latin typeface="Helvetica Neue Light"/>
                <a:ea typeface="Helvetica Neue Light"/>
                <a:cs typeface="Helvetica Neue Light"/>
                <a:sym typeface="Helvetica Neue Ligh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1" name="Google Shape;71;p1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lt1"/>
              </a:buClr>
              <a:buSzPts val="2800"/>
              <a:buFont typeface="Arial"/>
              <a:buChar char="•"/>
              <a:defRPr sz="2800" b="0" i="0" u="none" strike="noStrike" cap="none">
                <a:solidFill>
                  <a:schemeClr val="lt1"/>
                </a:solidFill>
                <a:latin typeface="Helvetica Neue Light"/>
                <a:ea typeface="Helvetica Neue Light"/>
                <a:cs typeface="Helvetica Neue Light"/>
                <a:sym typeface="Helvetica Neue Light"/>
              </a:defRPr>
            </a:lvl1pPr>
            <a:lvl2pPr marL="914400" marR="0" lvl="1" indent="-381000" algn="l" rtl="0">
              <a:lnSpc>
                <a:spcPct val="100000"/>
              </a:lnSpc>
              <a:spcBef>
                <a:spcPts val="500"/>
              </a:spcBef>
              <a:spcAft>
                <a:spcPts val="0"/>
              </a:spcAft>
              <a:buClr>
                <a:schemeClr val="lt1"/>
              </a:buClr>
              <a:buSzPts val="2400"/>
              <a:buFont typeface="Arial"/>
              <a:buChar char="•"/>
              <a:defRPr sz="2400" b="0" i="0" u="none" strike="noStrike" cap="none">
                <a:solidFill>
                  <a:schemeClr val="lt1"/>
                </a:solidFill>
                <a:latin typeface="Helvetica Neue Light"/>
                <a:ea typeface="Helvetica Neue Light"/>
                <a:cs typeface="Helvetica Neue Light"/>
                <a:sym typeface="Helvetica Neue Light"/>
              </a:defRPr>
            </a:lvl2pPr>
            <a:lvl3pPr marL="1371600" marR="0" lvl="2" indent="-355600" algn="l" rtl="0">
              <a:lnSpc>
                <a:spcPct val="100000"/>
              </a:lnSpc>
              <a:spcBef>
                <a:spcPts val="500"/>
              </a:spcBef>
              <a:spcAft>
                <a:spcPts val="0"/>
              </a:spcAft>
              <a:buClr>
                <a:schemeClr val="lt1"/>
              </a:buClr>
              <a:buSzPts val="2000"/>
              <a:buFont typeface="Arial"/>
              <a:buChar char="•"/>
              <a:defRPr sz="2000" b="0" i="0" u="none" strike="noStrike" cap="none">
                <a:solidFill>
                  <a:schemeClr val="lt1"/>
                </a:solidFill>
                <a:latin typeface="Helvetica Neue Light"/>
                <a:ea typeface="Helvetica Neue Light"/>
                <a:cs typeface="Helvetica Neue Light"/>
                <a:sym typeface="Helvetica Neue Light"/>
              </a:defRPr>
            </a:lvl3pPr>
            <a:lvl4pPr marL="1828800" marR="0" lvl="3" indent="-342900" algn="l" rtl="0">
              <a:lnSpc>
                <a:spcPct val="100000"/>
              </a:lnSpc>
              <a:spcBef>
                <a:spcPts val="500"/>
              </a:spcBef>
              <a:spcAft>
                <a:spcPts val="0"/>
              </a:spcAft>
              <a:buClr>
                <a:schemeClr val="lt1"/>
              </a:buClr>
              <a:buSzPts val="1800"/>
              <a:buFont typeface="Arial"/>
              <a:buChar char="•"/>
              <a:defRPr sz="1800" b="0" i="0" u="none" strike="noStrike" cap="none">
                <a:solidFill>
                  <a:schemeClr val="lt1"/>
                </a:solidFill>
                <a:latin typeface="Helvetica Neue Light"/>
                <a:ea typeface="Helvetica Neue Light"/>
                <a:cs typeface="Helvetica Neue Light"/>
                <a:sym typeface="Helvetica Neue Light"/>
              </a:defRPr>
            </a:lvl4pPr>
            <a:lvl5pPr marL="2286000" marR="0" lvl="4" indent="-342900" algn="l" rtl="0">
              <a:lnSpc>
                <a:spcPct val="100000"/>
              </a:lnSpc>
              <a:spcBef>
                <a:spcPts val="500"/>
              </a:spcBef>
              <a:spcAft>
                <a:spcPts val="0"/>
              </a:spcAft>
              <a:buClr>
                <a:schemeClr val="lt1"/>
              </a:buClr>
              <a:buSzPts val="1800"/>
              <a:buFont typeface="Arial"/>
              <a:buChar char="•"/>
              <a:defRPr sz="1800" b="0" i="0" u="none" strike="noStrike" cap="none">
                <a:solidFill>
                  <a:schemeClr val="lt1"/>
                </a:solidFill>
                <a:latin typeface="Helvetica Neue Light"/>
                <a:ea typeface="Helvetica Neue Light"/>
                <a:cs typeface="Helvetica Neue Light"/>
                <a:sym typeface="Helvetica Neue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3"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4.jp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4.jpe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24393F"/>
            </a:gs>
            <a:gs pos="24000">
              <a:srgbClr val="70247F"/>
            </a:gs>
            <a:gs pos="100000">
              <a:srgbClr val="B40805"/>
            </a:gs>
          </a:gsLst>
          <a:path path="circle">
            <a:fillToRect l="100000" t="100000"/>
          </a:path>
          <a:tileRect r="-100000" b="-100000"/>
        </a:gradFill>
        <a:effectLst/>
      </p:bgPr>
    </p:bg>
    <p:spTree>
      <p:nvGrpSpPr>
        <p:cNvPr id="1" name="Shape 81"/>
        <p:cNvGrpSpPr/>
        <p:nvPr/>
      </p:nvGrpSpPr>
      <p:grpSpPr>
        <a:xfrm>
          <a:off x="0" y="0"/>
          <a:ext cx="0" cy="0"/>
          <a:chOff x="0" y="0"/>
          <a:chExt cx="0" cy="0"/>
        </a:xfrm>
      </p:grpSpPr>
      <p:sp>
        <p:nvSpPr>
          <p:cNvPr id="82" name="Google Shape;82;p1"/>
          <p:cNvSpPr txBox="1">
            <a:spLocks noGrp="1"/>
          </p:cNvSpPr>
          <p:nvPr>
            <p:ph type="subTitle" idx="1"/>
          </p:nvPr>
        </p:nvSpPr>
        <p:spPr>
          <a:xfrm>
            <a:off x="6801238" y="3429000"/>
            <a:ext cx="4567235" cy="781755"/>
          </a:xfrm>
          <a:prstGeom prst="rect">
            <a:avLst/>
          </a:prstGeom>
          <a:noFill/>
          <a:ln>
            <a:noFill/>
          </a:ln>
        </p:spPr>
        <p:txBody>
          <a:bodyPr spcFirstLastPara="1" wrap="square" lIns="91425" tIns="45700" rIns="91425" bIns="45700" anchor="t" anchorCtr="0">
            <a:normAutofit fontScale="92500"/>
          </a:bodyPr>
          <a:lstStyle/>
          <a:p>
            <a:pPr marL="0" lvl="0" indent="0" algn="ctr" rtl="0">
              <a:lnSpc>
                <a:spcPct val="100000"/>
              </a:lnSpc>
              <a:spcBef>
                <a:spcPts val="0"/>
              </a:spcBef>
              <a:spcAft>
                <a:spcPts val="0"/>
              </a:spcAft>
              <a:buClr>
                <a:schemeClr val="lt1"/>
              </a:buClr>
              <a:buSzPct val="100000"/>
              <a:buNone/>
            </a:pPr>
            <a:r>
              <a:rPr lang="en-US" sz="4400" b="1">
                <a:latin typeface="Helvetica Neue"/>
                <a:ea typeface="Helvetica Neue"/>
                <a:cs typeface="Helvetica Neue"/>
                <a:sym typeface="Helvetica Neue"/>
              </a:rPr>
              <a:t>bioinformatics.ca</a:t>
            </a:r>
            <a:endParaRPr/>
          </a:p>
        </p:txBody>
      </p:sp>
      <p:pic>
        <p:nvPicPr>
          <p:cNvPr id="83" name="Google Shape;83;p1" descr="A logo with white dots&#10;&#10;AI-generated content may be incorrect."/>
          <p:cNvPicPr preferRelativeResize="0"/>
          <p:nvPr/>
        </p:nvPicPr>
        <p:blipFill rotWithShape="1">
          <a:blip r:embed="rId3">
            <a:alphaModFix/>
          </a:blip>
          <a:srcRect l="12297" r="12122"/>
          <a:stretch/>
        </p:blipFill>
        <p:spPr>
          <a:xfrm>
            <a:off x="670379" y="1341316"/>
            <a:ext cx="5766816" cy="3815097"/>
          </a:xfrm>
          <a:prstGeom prst="rect">
            <a:avLst/>
          </a:prstGeom>
          <a:noFill/>
          <a:ln>
            <a:noFill/>
          </a:ln>
        </p:spPr>
      </p:pic>
      <p:sp>
        <p:nvSpPr>
          <p:cNvPr id="84" name="Google Shape;84;p1"/>
          <p:cNvSpPr txBox="1"/>
          <p:nvPr/>
        </p:nvSpPr>
        <p:spPr>
          <a:xfrm>
            <a:off x="6648092" y="4210755"/>
            <a:ext cx="4873529" cy="416109"/>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2800"/>
              <a:buFont typeface="Arial"/>
              <a:buNone/>
            </a:pPr>
            <a:r>
              <a:rPr lang="en-US" sz="2800" b="0" i="0" u="none" strike="noStrike" cap="none">
                <a:solidFill>
                  <a:schemeClr val="lt1"/>
                </a:solidFill>
                <a:latin typeface="Helvetica Neue Light"/>
                <a:ea typeface="Helvetica Neue Light"/>
                <a:cs typeface="Helvetica Neue Light"/>
                <a:sym typeface="Helvetica Neue Light"/>
              </a:rPr>
              <a:t>bioinformaticsdotca.github.io</a:t>
            </a:r>
            <a:endParaRPr sz="1400" b="0" i="0" u="none" strike="noStrike" cap="none">
              <a:solidFill>
                <a:srgbClr val="000000"/>
              </a:solidFill>
              <a:latin typeface="Arial"/>
              <a:ea typeface="Arial"/>
              <a:cs typeface="Arial"/>
              <a:sym typeface="Arial"/>
            </a:endParaRPr>
          </a:p>
        </p:txBody>
      </p:sp>
      <p:sp>
        <p:nvSpPr>
          <p:cNvPr id="85" name="Google Shape;85;p1"/>
          <p:cNvSpPr txBox="1"/>
          <p:nvPr/>
        </p:nvSpPr>
        <p:spPr>
          <a:xfrm>
            <a:off x="10523913" y="465513"/>
            <a:ext cx="18473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p2"/>
          <p:cNvPicPr preferRelativeResize="0"/>
          <p:nvPr/>
        </p:nvPicPr>
        <p:blipFill rotWithShape="1">
          <a:blip r:embed="rId3">
            <a:alphaModFix/>
          </a:blip>
          <a:srcRect/>
          <a:stretch/>
        </p:blipFill>
        <p:spPr>
          <a:xfrm>
            <a:off x="4085493" y="271515"/>
            <a:ext cx="4021014" cy="603361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
          <p:cNvSpPr txBox="1">
            <a:spLocks noGrp="1"/>
          </p:cNvSpPr>
          <p:nvPr>
            <p:ph type="ctrTitle"/>
          </p:nvPr>
        </p:nvSpPr>
        <p:spPr>
          <a:xfrm>
            <a:off x="212377" y="3135079"/>
            <a:ext cx="8093915" cy="102654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lt1"/>
              </a:buClr>
              <a:buSzPts val="6000"/>
              <a:buFont typeface="Helvetica Neue Light"/>
              <a:buNone/>
            </a:pPr>
            <a:r>
              <a:rPr lang="en-US" b="1" dirty="0"/>
              <a:t>Module #1b:</a:t>
            </a:r>
            <a:br>
              <a:rPr lang="en-US" b="1" dirty="0"/>
            </a:br>
            <a:r>
              <a:rPr lang="en-US" b="1" dirty="0"/>
              <a:t>Application Scenarios</a:t>
            </a:r>
            <a:endParaRPr dirty="0"/>
          </a:p>
        </p:txBody>
      </p:sp>
      <p:sp>
        <p:nvSpPr>
          <p:cNvPr id="96" name="Google Shape;96;p3"/>
          <p:cNvSpPr txBox="1">
            <a:spLocks noGrp="1"/>
          </p:cNvSpPr>
          <p:nvPr>
            <p:ph type="subTitle" idx="1"/>
          </p:nvPr>
        </p:nvSpPr>
        <p:spPr>
          <a:xfrm>
            <a:off x="1782641" y="4227244"/>
            <a:ext cx="4810500" cy="16557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lt1"/>
              </a:buClr>
              <a:buSzPts val="2400"/>
              <a:buNone/>
            </a:pPr>
            <a:r>
              <a:rPr lang="en-US" dirty="0"/>
              <a:t>Dr. Erin Pleasance</a:t>
            </a:r>
            <a:endParaRPr dirty="0"/>
          </a:p>
          <a:p>
            <a:pPr marL="0" lvl="0" indent="0" algn="ctr" rtl="0">
              <a:lnSpc>
                <a:spcPct val="100000"/>
              </a:lnSpc>
              <a:spcBef>
                <a:spcPts val="1000"/>
              </a:spcBef>
              <a:spcAft>
                <a:spcPts val="0"/>
              </a:spcAft>
              <a:buClr>
                <a:schemeClr val="lt1"/>
              </a:buClr>
              <a:buSzPts val="2400"/>
              <a:buNone/>
            </a:pPr>
            <a:r>
              <a:rPr lang="en-US" dirty="0"/>
              <a:t>CBW High-Throughput Genomics</a:t>
            </a:r>
            <a:endParaRPr dirty="0"/>
          </a:p>
          <a:p>
            <a:pPr marL="0" lvl="0" indent="0" algn="ctr" rtl="0">
              <a:lnSpc>
                <a:spcPct val="100000"/>
              </a:lnSpc>
              <a:spcBef>
                <a:spcPts val="1000"/>
              </a:spcBef>
              <a:spcAft>
                <a:spcPts val="0"/>
              </a:spcAft>
              <a:buClr>
                <a:schemeClr val="lt1"/>
              </a:buClr>
              <a:buSzPts val="2400"/>
              <a:buNone/>
            </a:pPr>
            <a:r>
              <a:rPr lang="en-US" dirty="0"/>
              <a:t>November 4-6, 2026</a:t>
            </a:r>
            <a:endParaRPr dirty="0"/>
          </a:p>
          <a:p>
            <a:pPr marL="0" lvl="0" indent="0" algn="ctr" rtl="0">
              <a:lnSpc>
                <a:spcPct val="100000"/>
              </a:lnSpc>
              <a:spcBef>
                <a:spcPts val="1000"/>
              </a:spcBef>
              <a:spcAft>
                <a:spcPts val="0"/>
              </a:spcAft>
              <a:buClr>
                <a:schemeClr val="lt1"/>
              </a:buClr>
              <a:buSzPts val="2400"/>
              <a:buNone/>
            </a:pPr>
            <a:endParaRPr dirty="0"/>
          </a:p>
        </p:txBody>
      </p:sp>
      <p:pic>
        <p:nvPicPr>
          <p:cNvPr id="98" name="Google Shape;98;p3" title="HTG_logo_logo.png"/>
          <p:cNvPicPr preferRelativeResize="0"/>
          <p:nvPr/>
        </p:nvPicPr>
        <p:blipFill rotWithShape="1">
          <a:blip r:embed="rId3">
            <a:alphaModFix/>
          </a:blip>
          <a:srcRect/>
          <a:stretch/>
        </p:blipFill>
        <p:spPr>
          <a:xfrm>
            <a:off x="8999561" y="557625"/>
            <a:ext cx="2881750" cy="2881750"/>
          </a:xfrm>
          <a:prstGeom prst="rect">
            <a:avLst/>
          </a:prstGeom>
          <a:noFill/>
          <a:ln>
            <a:noFill/>
          </a:ln>
        </p:spPr>
      </p:pic>
      <p:pic>
        <p:nvPicPr>
          <p:cNvPr id="7" name="Image" descr="Image">
            <a:extLst>
              <a:ext uri="{FF2B5EF4-FFF2-40B4-BE49-F238E27FC236}">
                <a16:creationId xmlns:a16="http://schemas.microsoft.com/office/drawing/2014/main" id="{D5C7BE7E-53ED-49D9-AB10-8FB74D7BCB49}"/>
              </a:ext>
            </a:extLst>
          </p:cNvPr>
          <p:cNvPicPr>
            <a:picLocks noChangeAspect="1"/>
          </p:cNvPicPr>
          <p:nvPr/>
        </p:nvPicPr>
        <p:blipFill>
          <a:blip r:embed="rId4"/>
          <a:stretch>
            <a:fillRect/>
          </a:stretch>
        </p:blipFill>
        <p:spPr>
          <a:xfrm>
            <a:off x="9060213" y="3780581"/>
            <a:ext cx="2698292" cy="1312201"/>
          </a:xfrm>
          <a:prstGeom prst="rect">
            <a:avLst/>
          </a:prstGeom>
          <a:ln w="3175">
            <a:miter lim="400000"/>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Scenarios</a:t>
            </a:r>
            <a:endParaRPr dirty="0"/>
          </a:p>
        </p:txBody>
      </p:sp>
      <p:sp>
        <p:nvSpPr>
          <p:cNvPr id="105" name="Google Shape;105;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algn="l"/>
            <a:r>
              <a:rPr lang="en-US" sz="2400" b="0" i="0" u="none" strike="noStrike" baseline="0" dirty="0">
                <a:latin typeface="Helvetica Neue Light" panose="020B0604020202020204" charset="0"/>
              </a:rPr>
              <a:t>We will go through a few example scenarios and discuss what approaches might be relevant</a:t>
            </a:r>
          </a:p>
          <a:p>
            <a:pPr algn="l"/>
            <a:r>
              <a:rPr lang="en-US" sz="2400" dirty="0">
                <a:latin typeface="Helvetica Neue Light" panose="020B0604020202020204" charset="0"/>
              </a:rPr>
              <a:t>You will be discussing in groups of 3-4 people</a:t>
            </a:r>
          </a:p>
          <a:p>
            <a:pPr algn="l"/>
            <a:r>
              <a:rPr lang="en-US" sz="2400" b="0" i="0" u="none" strike="noStrike" baseline="0" dirty="0">
                <a:latin typeface="Helvetica Neue Light" panose="020B0604020202020204" charset="0"/>
              </a:rPr>
              <a:t>The slide deck we go through will be posted at the end of today’s workshop</a:t>
            </a:r>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4</a:t>
            </a:fld>
            <a:endParaRPr/>
          </a:p>
        </p:txBody>
      </p:sp>
    </p:spTree>
    <p:extLst>
      <p:ext uri="{BB962C8B-B14F-4D97-AF65-F5344CB8AC3E}">
        <p14:creationId xmlns:p14="http://schemas.microsoft.com/office/powerpoint/2010/main" val="2880341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Introductions (10 mins)</a:t>
            </a:r>
            <a:endParaRPr dirty="0"/>
          </a:p>
        </p:txBody>
      </p:sp>
      <p:sp>
        <p:nvSpPr>
          <p:cNvPr id="105" name="Google Shape;105;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algn="l"/>
            <a:r>
              <a:rPr lang="en-US" sz="2400" b="0" i="0" u="none" strike="noStrike" baseline="0" dirty="0">
                <a:latin typeface="Helvetica Neue Light" panose="020B0604020202020204" charset="0"/>
              </a:rPr>
              <a:t>Find a group of 3-4 people</a:t>
            </a:r>
          </a:p>
          <a:p>
            <a:pPr algn="l"/>
            <a:endParaRPr lang="en-US" sz="2400" dirty="0">
              <a:latin typeface="Helvetica Neue Light" panose="020B0604020202020204" charset="0"/>
            </a:endParaRPr>
          </a:p>
          <a:p>
            <a:pPr algn="l"/>
            <a:r>
              <a:rPr lang="en-US" sz="2400" b="0" i="0" u="none" strike="noStrike" baseline="0" dirty="0">
                <a:latin typeface="Helvetica Neue Light" panose="020B0604020202020204" charset="0"/>
              </a:rPr>
              <a:t>Introduce yourself and your research background/interests</a:t>
            </a:r>
          </a:p>
          <a:p>
            <a:pPr algn="l"/>
            <a:endParaRPr lang="en-US" sz="2400" dirty="0">
              <a:latin typeface="Helvetica Neue Light" panose="020B0604020202020204" charset="0"/>
            </a:endParaRPr>
          </a:p>
          <a:p>
            <a:pPr algn="l"/>
            <a:r>
              <a:rPr lang="en-US" sz="2400" b="0" i="0" u="none" strike="noStrike" baseline="0" dirty="0">
                <a:latin typeface="Helvetica Neue Light" panose="020B0604020202020204" charset="0"/>
              </a:rPr>
              <a:t>Share with your group: What is something you learned or found interesting so far today?</a:t>
            </a:r>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5</a:t>
            </a:fld>
            <a:endParaRPr/>
          </a:p>
        </p:txBody>
      </p:sp>
    </p:spTree>
    <p:extLst>
      <p:ext uri="{BB962C8B-B14F-4D97-AF65-F5344CB8AC3E}">
        <p14:creationId xmlns:p14="http://schemas.microsoft.com/office/powerpoint/2010/main" val="2831632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Scenario 1: Pneumonia outbreak</a:t>
            </a:r>
            <a:endParaRPr dirty="0"/>
          </a:p>
        </p:txBody>
      </p:sp>
      <p:sp>
        <p:nvSpPr>
          <p:cNvPr id="105" name="Google Shape;105;p4"/>
          <p:cNvSpPr txBox="1">
            <a:spLocks noGrp="1"/>
          </p:cNvSpPr>
          <p:nvPr>
            <p:ph type="body" idx="1"/>
          </p:nvPr>
        </p:nvSpPr>
        <p:spPr>
          <a:xfrm>
            <a:off x="838200" y="1825625"/>
            <a:ext cx="7854696" cy="4351338"/>
          </a:xfrm>
          <a:prstGeom prst="rect">
            <a:avLst/>
          </a:prstGeom>
          <a:noFill/>
          <a:ln>
            <a:noFill/>
          </a:ln>
        </p:spPr>
        <p:txBody>
          <a:bodyPr spcFirstLastPara="1" wrap="square" lIns="91425" tIns="45700" rIns="91425" bIns="45700" anchor="t" anchorCtr="0">
            <a:normAutofit/>
          </a:bodyPr>
          <a:lstStyle/>
          <a:p>
            <a:pPr algn="l"/>
            <a:r>
              <a:rPr lang="en-US" sz="2400" dirty="0">
                <a:latin typeface="Helvetica Neue Light" panose="020B0604020202020204" charset="0"/>
              </a:rPr>
              <a:t>Several hospitals have reported patients admitted with severe pneumonia</a:t>
            </a:r>
          </a:p>
          <a:p>
            <a:pPr algn="l"/>
            <a:r>
              <a:rPr lang="en-US" sz="2400" b="0" i="0" u="none" strike="noStrike" baseline="0" dirty="0">
                <a:latin typeface="Helvetica Neue Light" panose="020B0604020202020204" charset="0"/>
              </a:rPr>
              <a:t>We have samples from their respiratory tract</a:t>
            </a:r>
          </a:p>
          <a:p>
            <a:pPr algn="l"/>
            <a:r>
              <a:rPr lang="en-US" sz="2400" dirty="0">
                <a:latin typeface="Helvetica Neue Light" panose="020B0604020202020204" charset="0"/>
              </a:rPr>
              <a:t>We want to know what is causing the pneumonia and whether these outbreaks are related</a:t>
            </a:r>
            <a:endParaRPr lang="en-US" sz="2400" b="0" i="0" u="none" strike="noStrike" baseline="0" dirty="0">
              <a:latin typeface="Helvetica Neue Light" panose="020B0604020202020204" charset="0"/>
            </a:endParaRPr>
          </a:p>
          <a:p>
            <a:pPr algn="l"/>
            <a:endParaRPr lang="en-US" sz="2400" dirty="0">
              <a:latin typeface="Helvetica Neue Light" panose="020B0604020202020204" charset="0"/>
            </a:endParaRPr>
          </a:p>
          <a:p>
            <a:pPr algn="l"/>
            <a:endParaRPr lang="en-US" sz="2400" b="0" i="0" u="none" strike="noStrike" baseline="0" dirty="0">
              <a:latin typeface="Helvetica Neue Light" panose="020B0604020202020204" charset="0"/>
            </a:endParaRPr>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6</a:t>
            </a:fld>
            <a:endParaRPr/>
          </a:p>
        </p:txBody>
      </p:sp>
      <p:pic>
        <p:nvPicPr>
          <p:cNvPr id="3" name="Picture 2">
            <a:extLst>
              <a:ext uri="{FF2B5EF4-FFF2-40B4-BE49-F238E27FC236}">
                <a16:creationId xmlns:a16="http://schemas.microsoft.com/office/drawing/2014/main" id="{269AB501-2750-4208-96F3-CBD72AD7B7BA}"/>
              </a:ext>
            </a:extLst>
          </p:cNvPr>
          <p:cNvPicPr>
            <a:picLocks noChangeAspect="1"/>
          </p:cNvPicPr>
          <p:nvPr/>
        </p:nvPicPr>
        <p:blipFill>
          <a:blip r:embed="rId3"/>
          <a:stretch>
            <a:fillRect/>
          </a:stretch>
        </p:blipFill>
        <p:spPr>
          <a:xfrm>
            <a:off x="9164980" y="1924554"/>
            <a:ext cx="2372056" cy="2076740"/>
          </a:xfrm>
          <a:prstGeom prst="rect">
            <a:avLst/>
          </a:prstGeom>
        </p:spPr>
      </p:pic>
      <p:sp>
        <p:nvSpPr>
          <p:cNvPr id="7" name="TextBox 6">
            <a:extLst>
              <a:ext uri="{FF2B5EF4-FFF2-40B4-BE49-F238E27FC236}">
                <a16:creationId xmlns:a16="http://schemas.microsoft.com/office/drawing/2014/main" id="{5FB3DDD3-27B4-46F3-8F1C-9FCF65ED6724}"/>
              </a:ext>
            </a:extLst>
          </p:cNvPr>
          <p:cNvSpPr txBox="1"/>
          <p:nvPr/>
        </p:nvSpPr>
        <p:spPr>
          <a:xfrm>
            <a:off x="10275374" y="4235160"/>
            <a:ext cx="1865376" cy="276999"/>
          </a:xfrm>
          <a:prstGeom prst="rect">
            <a:avLst/>
          </a:prstGeom>
          <a:noFill/>
        </p:spPr>
        <p:txBody>
          <a:bodyPr wrap="square">
            <a:spAutoFit/>
          </a:bodyPr>
          <a:lstStyle/>
          <a:p>
            <a:r>
              <a:rPr lang="en-CA" sz="1200" dirty="0">
                <a:solidFill>
                  <a:schemeClr val="tx2">
                    <a:lumMod val="50000"/>
                  </a:schemeClr>
                </a:solidFill>
                <a:latin typeface="Helvetica Neue Light" panose="020B0604020202020204" charset="0"/>
              </a:rPr>
              <a:t>Wikipedia.org</a:t>
            </a:r>
          </a:p>
        </p:txBody>
      </p:sp>
    </p:spTree>
    <p:extLst>
      <p:ext uri="{BB962C8B-B14F-4D97-AF65-F5344CB8AC3E}">
        <p14:creationId xmlns:p14="http://schemas.microsoft.com/office/powerpoint/2010/main" val="3930643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Scenario 1: Pneumonia outbreak</a:t>
            </a:r>
            <a:endParaRPr dirty="0"/>
          </a:p>
        </p:txBody>
      </p:sp>
      <p:sp>
        <p:nvSpPr>
          <p:cNvPr id="105" name="Google Shape;105;p4"/>
          <p:cNvSpPr txBox="1">
            <a:spLocks noGrp="1"/>
          </p:cNvSpPr>
          <p:nvPr>
            <p:ph type="body" idx="1"/>
          </p:nvPr>
        </p:nvSpPr>
        <p:spPr>
          <a:xfrm>
            <a:off x="838200" y="1825625"/>
            <a:ext cx="7854696" cy="4667250"/>
          </a:xfrm>
          <a:prstGeom prst="rect">
            <a:avLst/>
          </a:prstGeom>
          <a:noFill/>
          <a:ln>
            <a:noFill/>
          </a:ln>
        </p:spPr>
        <p:txBody>
          <a:bodyPr spcFirstLastPara="1" wrap="square" lIns="91425" tIns="45700" rIns="91425" bIns="45700" anchor="t" anchorCtr="0">
            <a:normAutofit/>
          </a:bodyPr>
          <a:lstStyle/>
          <a:p>
            <a:pPr algn="l"/>
            <a:r>
              <a:rPr lang="en-US" sz="2400" dirty="0">
                <a:latin typeface="Helvetica Neue Light" panose="020B0604020202020204" charset="0"/>
              </a:rPr>
              <a:t>Several hospitals have reported patients admitted with severe pneumonia</a:t>
            </a:r>
          </a:p>
          <a:p>
            <a:pPr algn="l"/>
            <a:r>
              <a:rPr lang="en-US" sz="2400" b="0" i="0" u="none" strike="noStrike" baseline="0" dirty="0">
                <a:latin typeface="Helvetica Neue Light" panose="020B0604020202020204" charset="0"/>
              </a:rPr>
              <a:t>We have samples from their respiratory tract</a:t>
            </a:r>
          </a:p>
          <a:p>
            <a:pPr algn="l"/>
            <a:r>
              <a:rPr lang="en-US" sz="2400" dirty="0">
                <a:latin typeface="Helvetica Neue Light" panose="020B0604020202020204" charset="0"/>
              </a:rPr>
              <a:t>We want to know what is causing the pneumonia and whether these outbreaks are related</a:t>
            </a:r>
            <a:endParaRPr lang="en-US" sz="2400" b="0" i="0" u="none" strike="noStrike" baseline="0" dirty="0">
              <a:latin typeface="Helvetica Neue Light" panose="020B0604020202020204" charset="0"/>
            </a:endParaRPr>
          </a:p>
          <a:p>
            <a:pPr marL="114300" indent="0" algn="l">
              <a:buNone/>
            </a:pPr>
            <a:endParaRPr lang="en-US" sz="2400" dirty="0">
              <a:latin typeface="Helvetica Neue Light" panose="020B0604020202020204" charset="0"/>
            </a:endParaRPr>
          </a:p>
          <a:p>
            <a:pPr marL="114300" indent="0" algn="l">
              <a:buNone/>
            </a:pPr>
            <a:r>
              <a:rPr lang="en-US" sz="2400" dirty="0">
                <a:latin typeface="Helvetica Neue Light" panose="020B0604020202020204" charset="0"/>
              </a:rPr>
              <a:t>Discuss:</a:t>
            </a:r>
          </a:p>
          <a:p>
            <a:pPr algn="l"/>
            <a:r>
              <a:rPr lang="en-US" sz="2400" b="0" i="0" u="none" strike="noStrike" baseline="0" dirty="0">
                <a:latin typeface="Helvetica Neue Light" panose="020B0604020202020204" charset="0"/>
              </a:rPr>
              <a:t>What kind of sequencing approaches might be useful?</a:t>
            </a:r>
          </a:p>
          <a:p>
            <a:pPr algn="l"/>
            <a:r>
              <a:rPr lang="en-US" sz="2400" b="0" i="0" u="none" strike="noStrike" baseline="0" dirty="0">
                <a:latin typeface="Helvetica Neue Light" panose="020B0604020202020204" charset="0"/>
              </a:rPr>
              <a:t>What would be the benefits or limitations of th</a:t>
            </a:r>
            <a:r>
              <a:rPr lang="en-US" sz="2400" dirty="0">
                <a:latin typeface="Helvetica Neue Light" panose="020B0604020202020204" charset="0"/>
              </a:rPr>
              <a:t>ese</a:t>
            </a:r>
            <a:r>
              <a:rPr lang="en-US" sz="2400" b="0" i="0" u="none" strike="noStrike" baseline="0" dirty="0">
                <a:latin typeface="Helvetica Neue Light" panose="020B0604020202020204" charset="0"/>
              </a:rPr>
              <a:t> approaches?</a:t>
            </a:r>
          </a:p>
          <a:p>
            <a:pPr algn="l"/>
            <a:endParaRPr lang="en-US" sz="2400" dirty="0">
              <a:latin typeface="Helvetica Neue Light" panose="020B0604020202020204" charset="0"/>
            </a:endParaRPr>
          </a:p>
          <a:p>
            <a:pPr algn="l"/>
            <a:endParaRPr lang="en-US" sz="2400" b="0" i="0" u="none" strike="noStrike" baseline="0" dirty="0">
              <a:latin typeface="Helvetica Neue Light" panose="020B0604020202020204" charset="0"/>
            </a:endParaRPr>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7</a:t>
            </a:fld>
            <a:endParaRPr/>
          </a:p>
        </p:txBody>
      </p:sp>
      <p:pic>
        <p:nvPicPr>
          <p:cNvPr id="3" name="Picture 2">
            <a:extLst>
              <a:ext uri="{FF2B5EF4-FFF2-40B4-BE49-F238E27FC236}">
                <a16:creationId xmlns:a16="http://schemas.microsoft.com/office/drawing/2014/main" id="{269AB501-2750-4208-96F3-CBD72AD7B7BA}"/>
              </a:ext>
            </a:extLst>
          </p:cNvPr>
          <p:cNvPicPr>
            <a:picLocks noChangeAspect="1"/>
          </p:cNvPicPr>
          <p:nvPr/>
        </p:nvPicPr>
        <p:blipFill>
          <a:blip r:embed="rId3"/>
          <a:stretch>
            <a:fillRect/>
          </a:stretch>
        </p:blipFill>
        <p:spPr>
          <a:xfrm>
            <a:off x="9164980" y="1924554"/>
            <a:ext cx="2372056" cy="2076740"/>
          </a:xfrm>
          <a:prstGeom prst="rect">
            <a:avLst/>
          </a:prstGeom>
        </p:spPr>
      </p:pic>
      <p:sp>
        <p:nvSpPr>
          <p:cNvPr id="6" name="TextBox 5">
            <a:extLst>
              <a:ext uri="{FF2B5EF4-FFF2-40B4-BE49-F238E27FC236}">
                <a16:creationId xmlns:a16="http://schemas.microsoft.com/office/drawing/2014/main" id="{30C1186D-6347-4167-B3D3-D357585C96DF}"/>
              </a:ext>
            </a:extLst>
          </p:cNvPr>
          <p:cNvSpPr txBox="1"/>
          <p:nvPr/>
        </p:nvSpPr>
        <p:spPr>
          <a:xfrm>
            <a:off x="10275374" y="4235160"/>
            <a:ext cx="1865376" cy="276999"/>
          </a:xfrm>
          <a:prstGeom prst="rect">
            <a:avLst/>
          </a:prstGeom>
          <a:noFill/>
        </p:spPr>
        <p:txBody>
          <a:bodyPr wrap="square">
            <a:spAutoFit/>
          </a:bodyPr>
          <a:lstStyle/>
          <a:p>
            <a:r>
              <a:rPr lang="en-CA" sz="1200" dirty="0">
                <a:solidFill>
                  <a:schemeClr val="tx2">
                    <a:lumMod val="50000"/>
                  </a:schemeClr>
                </a:solidFill>
                <a:latin typeface="Helvetica Neue Light" panose="020B0604020202020204" charset="0"/>
              </a:rPr>
              <a:t>Wikipedia.org</a:t>
            </a:r>
          </a:p>
        </p:txBody>
      </p:sp>
    </p:spTree>
    <p:extLst>
      <p:ext uri="{BB962C8B-B14F-4D97-AF65-F5344CB8AC3E}">
        <p14:creationId xmlns:p14="http://schemas.microsoft.com/office/powerpoint/2010/main" val="3142787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Scenario 1: Pneumonia outbreak</a:t>
            </a:r>
            <a:endParaRPr dirty="0"/>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8</a:t>
            </a:fld>
            <a:endParaRPr/>
          </a:p>
        </p:txBody>
      </p:sp>
      <p:sp>
        <p:nvSpPr>
          <p:cNvPr id="3" name="Text Placeholder 2">
            <a:extLst>
              <a:ext uri="{FF2B5EF4-FFF2-40B4-BE49-F238E27FC236}">
                <a16:creationId xmlns:a16="http://schemas.microsoft.com/office/drawing/2014/main" id="{4F20869E-25AB-43C9-8B14-3B4B84C37289}"/>
              </a:ext>
            </a:extLst>
          </p:cNvPr>
          <p:cNvSpPr>
            <a:spLocks noGrp="1"/>
          </p:cNvSpPr>
          <p:nvPr>
            <p:ph type="body" idx="1"/>
          </p:nvPr>
        </p:nvSpPr>
        <p:spPr>
          <a:xfrm>
            <a:off x="487680" y="1437064"/>
            <a:ext cx="10866120" cy="4762553"/>
          </a:xfrm>
        </p:spPr>
        <p:txBody>
          <a:bodyPr/>
          <a:lstStyle/>
          <a:p>
            <a:r>
              <a:rPr lang="en-CA" dirty="0"/>
              <a:t>Targeted vs. metagenomic: Cost, complexity, comprehensiveness</a:t>
            </a:r>
          </a:p>
        </p:txBody>
      </p:sp>
      <p:pic>
        <p:nvPicPr>
          <p:cNvPr id="5" name="Picture 4">
            <a:extLst>
              <a:ext uri="{FF2B5EF4-FFF2-40B4-BE49-F238E27FC236}">
                <a16:creationId xmlns:a16="http://schemas.microsoft.com/office/drawing/2014/main" id="{5CD3F5A9-34C2-4AF4-A732-E33E15C6E015}"/>
              </a:ext>
            </a:extLst>
          </p:cNvPr>
          <p:cNvPicPr>
            <a:picLocks noChangeAspect="1"/>
          </p:cNvPicPr>
          <p:nvPr/>
        </p:nvPicPr>
        <p:blipFill>
          <a:blip r:embed="rId3"/>
          <a:stretch>
            <a:fillRect/>
          </a:stretch>
        </p:blipFill>
        <p:spPr>
          <a:xfrm>
            <a:off x="1611926" y="2431631"/>
            <a:ext cx="7410153" cy="3779256"/>
          </a:xfrm>
          <a:prstGeom prst="rect">
            <a:avLst/>
          </a:prstGeom>
        </p:spPr>
      </p:pic>
      <p:sp>
        <p:nvSpPr>
          <p:cNvPr id="10" name="TextBox 9">
            <a:extLst>
              <a:ext uri="{FF2B5EF4-FFF2-40B4-BE49-F238E27FC236}">
                <a16:creationId xmlns:a16="http://schemas.microsoft.com/office/drawing/2014/main" id="{ED570DB3-9CB5-4862-A1FE-D8F4F656BAA2}"/>
              </a:ext>
            </a:extLst>
          </p:cNvPr>
          <p:cNvSpPr txBox="1"/>
          <p:nvPr/>
        </p:nvSpPr>
        <p:spPr>
          <a:xfrm>
            <a:off x="10500300" y="5945992"/>
            <a:ext cx="1591056" cy="276999"/>
          </a:xfrm>
          <a:prstGeom prst="rect">
            <a:avLst/>
          </a:prstGeom>
          <a:noFill/>
        </p:spPr>
        <p:txBody>
          <a:bodyPr wrap="square">
            <a:spAutoFit/>
          </a:bodyPr>
          <a:lstStyle/>
          <a:p>
            <a:pPr algn="l"/>
            <a:r>
              <a:rPr lang="en-CA" sz="1200" b="0" i="0" dirty="0">
                <a:solidFill>
                  <a:schemeClr val="tx2">
                    <a:lumMod val="50000"/>
                  </a:schemeClr>
                </a:solidFill>
                <a:effectLst/>
                <a:latin typeface="Helvetica Neue Light" panose="020B0604020202020204" charset="0"/>
              </a:rPr>
              <a:t>PMID: 39872133</a:t>
            </a:r>
          </a:p>
        </p:txBody>
      </p:sp>
    </p:spTree>
    <p:extLst>
      <p:ext uri="{BB962C8B-B14F-4D97-AF65-F5344CB8AC3E}">
        <p14:creationId xmlns:p14="http://schemas.microsoft.com/office/powerpoint/2010/main" val="3734998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Scenario 1: Pneumonia outbreak</a:t>
            </a:r>
            <a:endParaRPr dirty="0"/>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9</a:t>
            </a:fld>
            <a:endParaRPr/>
          </a:p>
        </p:txBody>
      </p:sp>
      <p:sp>
        <p:nvSpPr>
          <p:cNvPr id="3" name="Text Placeholder 2">
            <a:extLst>
              <a:ext uri="{FF2B5EF4-FFF2-40B4-BE49-F238E27FC236}">
                <a16:creationId xmlns:a16="http://schemas.microsoft.com/office/drawing/2014/main" id="{4F20869E-25AB-43C9-8B14-3B4B84C37289}"/>
              </a:ext>
            </a:extLst>
          </p:cNvPr>
          <p:cNvSpPr>
            <a:spLocks noGrp="1"/>
          </p:cNvSpPr>
          <p:nvPr>
            <p:ph type="body" idx="1"/>
          </p:nvPr>
        </p:nvSpPr>
        <p:spPr>
          <a:xfrm>
            <a:off x="487680" y="1437064"/>
            <a:ext cx="10866120" cy="4762553"/>
          </a:xfrm>
        </p:spPr>
        <p:txBody>
          <a:bodyPr/>
          <a:lstStyle/>
          <a:p>
            <a:r>
              <a:rPr lang="en-CA" dirty="0"/>
              <a:t>Targeted vs. metagenomic: Phylogeny and drug resistance</a:t>
            </a:r>
          </a:p>
        </p:txBody>
      </p:sp>
      <p:sp>
        <p:nvSpPr>
          <p:cNvPr id="10" name="TextBox 9">
            <a:extLst>
              <a:ext uri="{FF2B5EF4-FFF2-40B4-BE49-F238E27FC236}">
                <a16:creationId xmlns:a16="http://schemas.microsoft.com/office/drawing/2014/main" id="{ED570DB3-9CB5-4862-A1FE-D8F4F656BAA2}"/>
              </a:ext>
            </a:extLst>
          </p:cNvPr>
          <p:cNvSpPr txBox="1"/>
          <p:nvPr/>
        </p:nvSpPr>
        <p:spPr>
          <a:xfrm>
            <a:off x="10500300" y="5945992"/>
            <a:ext cx="1591056" cy="276999"/>
          </a:xfrm>
          <a:prstGeom prst="rect">
            <a:avLst/>
          </a:prstGeom>
          <a:noFill/>
        </p:spPr>
        <p:txBody>
          <a:bodyPr wrap="square">
            <a:spAutoFit/>
          </a:bodyPr>
          <a:lstStyle/>
          <a:p>
            <a:pPr algn="l"/>
            <a:r>
              <a:rPr lang="en-CA" sz="1200" b="0" i="0" dirty="0">
                <a:solidFill>
                  <a:schemeClr val="tx2">
                    <a:lumMod val="50000"/>
                  </a:schemeClr>
                </a:solidFill>
                <a:effectLst/>
                <a:latin typeface="Helvetica Neue Light" panose="020B0604020202020204" charset="0"/>
              </a:rPr>
              <a:t>PMID: 28615687</a:t>
            </a:r>
          </a:p>
        </p:txBody>
      </p:sp>
      <p:pic>
        <p:nvPicPr>
          <p:cNvPr id="4" name="Picture 3">
            <a:extLst>
              <a:ext uri="{FF2B5EF4-FFF2-40B4-BE49-F238E27FC236}">
                <a16:creationId xmlns:a16="http://schemas.microsoft.com/office/drawing/2014/main" id="{9E47589E-9B5A-4644-9093-C8FE47774BEC}"/>
              </a:ext>
            </a:extLst>
          </p:cNvPr>
          <p:cNvPicPr>
            <a:picLocks noChangeAspect="1"/>
          </p:cNvPicPr>
          <p:nvPr/>
        </p:nvPicPr>
        <p:blipFill>
          <a:blip r:embed="rId3"/>
          <a:stretch>
            <a:fillRect/>
          </a:stretch>
        </p:blipFill>
        <p:spPr>
          <a:xfrm>
            <a:off x="1605313" y="2413191"/>
            <a:ext cx="8630854" cy="3686689"/>
          </a:xfrm>
          <a:prstGeom prst="rect">
            <a:avLst/>
          </a:prstGeom>
        </p:spPr>
      </p:pic>
    </p:spTree>
    <p:extLst>
      <p:ext uri="{BB962C8B-B14F-4D97-AF65-F5344CB8AC3E}">
        <p14:creationId xmlns:p14="http://schemas.microsoft.com/office/powerpoint/2010/main" val="2659185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Scenario 1: Pneumonia outbreak</a:t>
            </a:r>
            <a:endParaRPr dirty="0"/>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10</a:t>
            </a:fld>
            <a:endParaRPr/>
          </a:p>
        </p:txBody>
      </p:sp>
      <p:sp>
        <p:nvSpPr>
          <p:cNvPr id="3" name="Text Placeholder 2">
            <a:extLst>
              <a:ext uri="{FF2B5EF4-FFF2-40B4-BE49-F238E27FC236}">
                <a16:creationId xmlns:a16="http://schemas.microsoft.com/office/drawing/2014/main" id="{4F20869E-25AB-43C9-8B14-3B4B84C37289}"/>
              </a:ext>
            </a:extLst>
          </p:cNvPr>
          <p:cNvSpPr>
            <a:spLocks noGrp="1"/>
          </p:cNvSpPr>
          <p:nvPr>
            <p:ph type="body" idx="1"/>
          </p:nvPr>
        </p:nvSpPr>
        <p:spPr>
          <a:xfrm>
            <a:off x="487680" y="1437064"/>
            <a:ext cx="6327648" cy="4762553"/>
          </a:xfrm>
        </p:spPr>
        <p:txBody>
          <a:bodyPr/>
          <a:lstStyle/>
          <a:p>
            <a:r>
              <a:rPr lang="en-CA" dirty="0"/>
              <a:t>Long vs short read: Time and accuracy</a:t>
            </a:r>
          </a:p>
          <a:p>
            <a:pPr lvl="1"/>
            <a:r>
              <a:rPr lang="en-CA" sz="1600" dirty="0"/>
              <a:t>“</a:t>
            </a:r>
            <a:r>
              <a:rPr lang="en-US" sz="1600" dirty="0"/>
              <a:t>It took ~1 min from beginning of sequencing to obtain the first specific reads of K. pneumoniae by </a:t>
            </a:r>
            <a:r>
              <a:rPr lang="en-US" sz="1600" dirty="0" err="1"/>
              <a:t>MinION</a:t>
            </a:r>
            <a:r>
              <a:rPr lang="en-US" sz="1600" dirty="0"/>
              <a:t> ... resistance genes including blaSHV-12, </a:t>
            </a:r>
            <a:r>
              <a:rPr lang="en-US" sz="1600" dirty="0" err="1"/>
              <a:t>aac</a:t>
            </a:r>
            <a:r>
              <a:rPr lang="en-US" sz="1600" dirty="0"/>
              <a:t>(3)-</a:t>
            </a:r>
            <a:r>
              <a:rPr lang="en-US" sz="1600" dirty="0" err="1"/>
              <a:t>IIa</a:t>
            </a:r>
            <a:r>
              <a:rPr lang="en-US" sz="1600" dirty="0"/>
              <a:t> and blaKPC-2 were detected within one and a half hours"</a:t>
            </a:r>
            <a:endParaRPr lang="en-CA" dirty="0"/>
          </a:p>
        </p:txBody>
      </p:sp>
      <p:sp>
        <p:nvSpPr>
          <p:cNvPr id="10" name="TextBox 9">
            <a:extLst>
              <a:ext uri="{FF2B5EF4-FFF2-40B4-BE49-F238E27FC236}">
                <a16:creationId xmlns:a16="http://schemas.microsoft.com/office/drawing/2014/main" id="{ED570DB3-9CB5-4862-A1FE-D8F4F656BAA2}"/>
              </a:ext>
            </a:extLst>
          </p:cNvPr>
          <p:cNvSpPr txBox="1"/>
          <p:nvPr/>
        </p:nvSpPr>
        <p:spPr>
          <a:xfrm>
            <a:off x="5699760" y="6045728"/>
            <a:ext cx="1591056" cy="276999"/>
          </a:xfrm>
          <a:prstGeom prst="rect">
            <a:avLst/>
          </a:prstGeom>
          <a:noFill/>
        </p:spPr>
        <p:txBody>
          <a:bodyPr wrap="square">
            <a:spAutoFit/>
          </a:bodyPr>
          <a:lstStyle/>
          <a:p>
            <a:pPr algn="l"/>
            <a:r>
              <a:rPr lang="en-CA" sz="1200" b="0" i="0" dirty="0">
                <a:solidFill>
                  <a:schemeClr val="tx2">
                    <a:lumMod val="50000"/>
                  </a:schemeClr>
                </a:solidFill>
                <a:effectLst/>
                <a:latin typeface="Helvetica Neue Light" panose="020B0604020202020204" charset="0"/>
              </a:rPr>
              <a:t>PMID: 32432051</a:t>
            </a:r>
          </a:p>
        </p:txBody>
      </p:sp>
      <p:pic>
        <p:nvPicPr>
          <p:cNvPr id="5" name="Picture 4">
            <a:extLst>
              <a:ext uri="{FF2B5EF4-FFF2-40B4-BE49-F238E27FC236}">
                <a16:creationId xmlns:a16="http://schemas.microsoft.com/office/drawing/2014/main" id="{8EA6125A-F8E9-40EE-BF8B-D1B31A3B861A}"/>
              </a:ext>
            </a:extLst>
          </p:cNvPr>
          <p:cNvPicPr>
            <a:picLocks noChangeAspect="1"/>
          </p:cNvPicPr>
          <p:nvPr/>
        </p:nvPicPr>
        <p:blipFill>
          <a:blip r:embed="rId3"/>
          <a:stretch>
            <a:fillRect/>
          </a:stretch>
        </p:blipFill>
        <p:spPr>
          <a:xfrm>
            <a:off x="7290816" y="1445286"/>
            <a:ext cx="4742688" cy="4962046"/>
          </a:xfrm>
          <a:prstGeom prst="rect">
            <a:avLst/>
          </a:prstGeom>
        </p:spPr>
      </p:pic>
    </p:spTree>
    <p:extLst>
      <p:ext uri="{BB962C8B-B14F-4D97-AF65-F5344CB8AC3E}">
        <p14:creationId xmlns:p14="http://schemas.microsoft.com/office/powerpoint/2010/main" val="2493286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Scenario 2: Unknown cancer</a:t>
            </a:r>
            <a:endParaRPr dirty="0"/>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11</a:t>
            </a:fld>
            <a:endParaRPr/>
          </a:p>
        </p:txBody>
      </p:sp>
      <p:pic>
        <p:nvPicPr>
          <p:cNvPr id="1026" name="Picture 2" descr="Cancer of unknown primary; drawing shows a primary tumor that has spread from an unknown site to other parts of the body (the lung and the brain). An inset shows cancer cells spreading from the primary cancer, through the blood and lymph systems, to another part of the body where a metastatic tumor has formed.">
            <a:extLst>
              <a:ext uri="{FF2B5EF4-FFF2-40B4-BE49-F238E27FC236}">
                <a16:creationId xmlns:a16="http://schemas.microsoft.com/office/drawing/2014/main" id="{4C5901F1-1E79-4A79-8AFB-9B588524A1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1479" y="1438656"/>
            <a:ext cx="4289271" cy="351720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E13D384-FA8F-4A0D-B09C-EF7409D2E3AA}"/>
              </a:ext>
            </a:extLst>
          </p:cNvPr>
          <p:cNvSpPr txBox="1"/>
          <p:nvPr/>
        </p:nvSpPr>
        <p:spPr>
          <a:xfrm>
            <a:off x="9217152" y="4985779"/>
            <a:ext cx="3099816" cy="646331"/>
          </a:xfrm>
          <a:prstGeom prst="rect">
            <a:avLst/>
          </a:prstGeom>
          <a:noFill/>
        </p:spPr>
        <p:txBody>
          <a:bodyPr wrap="square">
            <a:spAutoFit/>
          </a:bodyPr>
          <a:lstStyle/>
          <a:p>
            <a:r>
              <a:rPr lang="en-CA" sz="1200" dirty="0">
                <a:solidFill>
                  <a:schemeClr val="tx2">
                    <a:lumMod val="50000"/>
                  </a:schemeClr>
                </a:solidFill>
                <a:latin typeface="Helvetica Neue Light" panose="020B0604020202020204" charset="0"/>
              </a:rPr>
              <a:t>www.cancer.gov/types/unknown-primary/patient/unknown-primary-treatment-pdq</a:t>
            </a:r>
          </a:p>
        </p:txBody>
      </p:sp>
      <p:sp>
        <p:nvSpPr>
          <p:cNvPr id="10" name="Google Shape;105;p4">
            <a:extLst>
              <a:ext uri="{FF2B5EF4-FFF2-40B4-BE49-F238E27FC236}">
                <a16:creationId xmlns:a16="http://schemas.microsoft.com/office/drawing/2014/main" id="{61D37490-9E47-44EE-809D-B61DC02D38BD}"/>
              </a:ext>
            </a:extLst>
          </p:cNvPr>
          <p:cNvSpPr txBox="1">
            <a:spLocks/>
          </p:cNvSpPr>
          <p:nvPr/>
        </p:nvSpPr>
        <p:spPr>
          <a:xfrm>
            <a:off x="838200" y="1536700"/>
            <a:ext cx="7110984" cy="495617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1000"/>
              </a:spcBef>
              <a:spcAft>
                <a:spcPts val="0"/>
              </a:spcAft>
              <a:buClr>
                <a:schemeClr val="dk1"/>
              </a:buClr>
              <a:buSzPts val="1800"/>
              <a:buFont typeface="Arial"/>
              <a:buChar char="•"/>
              <a:defRPr sz="2800" b="0" i="0" u="none" strike="noStrike" cap="none" spc="0">
                <a:solidFill>
                  <a:schemeClr val="dk1"/>
                </a:solidFill>
                <a:latin typeface="Helvetica Neue Light"/>
                <a:ea typeface="Helvetica Neue Light"/>
                <a:cs typeface="Helvetica Neue Light"/>
                <a:sym typeface="Helvetica Neue Light"/>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spc="0">
                <a:solidFill>
                  <a:schemeClr val="dk1"/>
                </a:solidFill>
                <a:latin typeface="Helvetica Neue Light"/>
                <a:ea typeface="Helvetica Neue Light"/>
                <a:cs typeface="Helvetica Neue Light"/>
                <a:sym typeface="Helvetica Neue Light"/>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spc="0">
                <a:solidFill>
                  <a:schemeClr val="dk1"/>
                </a:solidFill>
                <a:latin typeface="Helvetica Neue Light"/>
                <a:ea typeface="Helvetica Neue Light"/>
                <a:cs typeface="Helvetica Neue Light"/>
                <a:sym typeface="Helvetica Neue Light"/>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spc="0">
                <a:solidFill>
                  <a:schemeClr val="dk1"/>
                </a:solidFill>
                <a:latin typeface="Helvetica Neue Light"/>
                <a:ea typeface="Helvetica Neue Light"/>
                <a:cs typeface="Helvetica Neue Light"/>
                <a:sym typeface="Helvetica Neue Light"/>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spc="0">
                <a:solidFill>
                  <a:schemeClr val="dk1"/>
                </a:solidFill>
                <a:latin typeface="Helvetica Neue Light"/>
                <a:ea typeface="Helvetica Neue Light"/>
                <a:cs typeface="Helvetica Neue Light"/>
                <a:sym typeface="Helvetica Neue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spc="0">
                <a:solidFill>
                  <a:schemeClr val="dk1"/>
                </a:solidFill>
                <a:latin typeface="Arial"/>
                <a:ea typeface="Arial"/>
                <a:cs typeface="Arial"/>
                <a:sym typeface="Arial"/>
              </a:defRPr>
            </a:lvl9pPr>
          </a:lstStyle>
          <a:p>
            <a:r>
              <a:rPr lang="en-US" sz="2400" dirty="0">
                <a:latin typeface="Helvetica Neue Light" panose="020B0604020202020204" charset="0"/>
              </a:rPr>
              <a:t>A patient has a cancer of unknown origin with unclear pathology</a:t>
            </a:r>
          </a:p>
          <a:p>
            <a:r>
              <a:rPr lang="en-US" sz="2400" dirty="0">
                <a:latin typeface="Helvetica Neue Light" panose="020B0604020202020204" charset="0"/>
              </a:rPr>
              <a:t>We have a sample of the </a:t>
            </a:r>
            <a:r>
              <a:rPr lang="en-US" sz="2400" dirty="0" err="1">
                <a:latin typeface="Helvetica Neue Light" panose="020B0604020202020204" charset="0"/>
              </a:rPr>
              <a:t>tumour</a:t>
            </a:r>
            <a:r>
              <a:rPr lang="en-US" sz="2400" dirty="0">
                <a:latin typeface="Helvetica Neue Light" panose="020B0604020202020204" charset="0"/>
              </a:rPr>
              <a:t> from the lung and of the patient’s normal blood</a:t>
            </a:r>
          </a:p>
          <a:p>
            <a:r>
              <a:rPr lang="en-US" sz="2400" dirty="0">
                <a:latin typeface="Helvetica Neue Light" panose="020B0604020202020204" charset="0"/>
              </a:rPr>
              <a:t>We want to know what type of cancer it is and how it might be treated</a:t>
            </a:r>
          </a:p>
          <a:p>
            <a:endParaRPr lang="en-US" sz="2400" dirty="0">
              <a:latin typeface="Helvetica Neue Light" panose="020B0604020202020204" charset="0"/>
            </a:endParaRPr>
          </a:p>
          <a:p>
            <a:endParaRPr lang="en-US" sz="2400" dirty="0">
              <a:latin typeface="Helvetica Neue Light" panose="020B0604020202020204" charset="0"/>
            </a:endParaRPr>
          </a:p>
          <a:p>
            <a:endParaRPr lang="en-US" sz="2400" dirty="0">
              <a:latin typeface="Helvetica Neue Light" panose="020B0604020202020204" charset="0"/>
            </a:endParaRPr>
          </a:p>
          <a:p>
            <a:endParaRPr lang="en-US" sz="2400" dirty="0">
              <a:latin typeface="Helvetica Neue Light" panose="020B0604020202020204" charset="0"/>
            </a:endParaRPr>
          </a:p>
          <a:p>
            <a:endParaRPr lang="en-US" sz="2400" dirty="0">
              <a:latin typeface="Helvetica Neue Light" panose="020B0604020202020204" charset="0"/>
            </a:endParaRPr>
          </a:p>
          <a:p>
            <a:endParaRPr lang="en-US" sz="2400" dirty="0">
              <a:latin typeface="Helvetica Neue Light" panose="020B0604020202020204" charset="0"/>
            </a:endParaRPr>
          </a:p>
        </p:txBody>
      </p:sp>
    </p:spTree>
    <p:extLst>
      <p:ext uri="{BB962C8B-B14F-4D97-AF65-F5344CB8AC3E}">
        <p14:creationId xmlns:p14="http://schemas.microsoft.com/office/powerpoint/2010/main" val="2644773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Scenario 2: Unknown cancer</a:t>
            </a:r>
            <a:endParaRPr dirty="0"/>
          </a:p>
        </p:txBody>
      </p:sp>
      <p:sp>
        <p:nvSpPr>
          <p:cNvPr id="105" name="Google Shape;105;p4"/>
          <p:cNvSpPr txBox="1">
            <a:spLocks noGrp="1"/>
          </p:cNvSpPr>
          <p:nvPr>
            <p:ph type="body" idx="1"/>
          </p:nvPr>
        </p:nvSpPr>
        <p:spPr>
          <a:xfrm>
            <a:off x="838200" y="1536700"/>
            <a:ext cx="7110984" cy="4956175"/>
          </a:xfrm>
          <a:prstGeom prst="rect">
            <a:avLst/>
          </a:prstGeom>
          <a:noFill/>
          <a:ln>
            <a:noFill/>
          </a:ln>
        </p:spPr>
        <p:txBody>
          <a:bodyPr spcFirstLastPara="1" wrap="square" lIns="91425" tIns="45700" rIns="91425" bIns="45700" anchor="t" anchorCtr="0">
            <a:normAutofit fontScale="92500" lnSpcReduction="10000"/>
          </a:bodyPr>
          <a:lstStyle/>
          <a:p>
            <a:pPr algn="l"/>
            <a:r>
              <a:rPr lang="en-US" sz="2400" b="0" i="0" u="none" strike="noStrike" baseline="0" dirty="0">
                <a:latin typeface="Helvetica Neue Light" panose="020B0604020202020204" charset="0"/>
              </a:rPr>
              <a:t>A patient has a cancer of unknown origin with unclear pathology</a:t>
            </a:r>
          </a:p>
          <a:p>
            <a:pPr algn="l"/>
            <a:r>
              <a:rPr lang="en-US" sz="2400" b="0" i="0" u="none" strike="noStrike" baseline="0" dirty="0">
                <a:latin typeface="Helvetica Neue Light" panose="020B0604020202020204" charset="0"/>
              </a:rPr>
              <a:t>We have a sample of the </a:t>
            </a:r>
            <a:r>
              <a:rPr lang="en-US" sz="2400" b="0" i="0" u="none" strike="noStrike" baseline="0" dirty="0" err="1">
                <a:latin typeface="Helvetica Neue Light" panose="020B0604020202020204" charset="0"/>
              </a:rPr>
              <a:t>tumour</a:t>
            </a:r>
            <a:r>
              <a:rPr lang="en-US" sz="2400" b="0" i="0" u="none" strike="noStrike" baseline="0" dirty="0">
                <a:latin typeface="Helvetica Neue Light" panose="020B0604020202020204" charset="0"/>
              </a:rPr>
              <a:t> from the lung and of the patient’s </a:t>
            </a:r>
            <a:r>
              <a:rPr lang="en-US" sz="2400" dirty="0">
                <a:latin typeface="Helvetica Neue Light" panose="020B0604020202020204" charset="0"/>
              </a:rPr>
              <a:t>normal </a:t>
            </a:r>
            <a:r>
              <a:rPr lang="en-US" sz="2400" b="0" i="0" u="none" strike="noStrike" baseline="0" dirty="0">
                <a:latin typeface="Helvetica Neue Light" panose="020B0604020202020204" charset="0"/>
              </a:rPr>
              <a:t>blood</a:t>
            </a:r>
          </a:p>
          <a:p>
            <a:pPr algn="l"/>
            <a:r>
              <a:rPr lang="en-US" sz="2400" b="0" i="0" u="none" strike="noStrike" baseline="0" dirty="0">
                <a:latin typeface="Helvetica Neue Light" panose="020B0604020202020204" charset="0"/>
              </a:rPr>
              <a:t>We want to know what type of cancer it is and how it might be treated</a:t>
            </a:r>
          </a:p>
          <a:p>
            <a:pPr marL="114300" indent="0">
              <a:buNone/>
            </a:pPr>
            <a:endParaRPr lang="en-US" sz="2400" dirty="0">
              <a:latin typeface="Helvetica Neue Light" panose="020B0604020202020204" charset="0"/>
            </a:endParaRPr>
          </a:p>
          <a:p>
            <a:pPr marL="114300" indent="0">
              <a:buNone/>
            </a:pPr>
            <a:r>
              <a:rPr lang="en-US" sz="2400" dirty="0">
                <a:latin typeface="Helvetica Neue Light" panose="020B0604020202020204" charset="0"/>
              </a:rPr>
              <a:t>Discuss:</a:t>
            </a:r>
          </a:p>
          <a:p>
            <a:pPr algn="l"/>
            <a:r>
              <a:rPr lang="en-US" sz="2400" b="0" i="0" u="none" strike="noStrike" baseline="0" dirty="0">
                <a:latin typeface="Helvetica Neue Light" panose="020B0604020202020204" charset="0"/>
              </a:rPr>
              <a:t>What kind of sequencing approaches might be useful?</a:t>
            </a:r>
          </a:p>
          <a:p>
            <a:pPr algn="l"/>
            <a:r>
              <a:rPr lang="en-US" sz="2400" b="0" i="0" u="none" strike="noStrike" baseline="0" dirty="0">
                <a:latin typeface="Helvetica Neue Light" panose="020B0604020202020204" charset="0"/>
              </a:rPr>
              <a:t>What would be the benefits or limitations of these approaches?</a:t>
            </a:r>
          </a:p>
          <a:p>
            <a:pPr algn="l"/>
            <a:endParaRPr lang="en-US" sz="2400" b="0" i="0" u="none" strike="noStrike" baseline="0" dirty="0">
              <a:latin typeface="Helvetica Neue Light" panose="020B0604020202020204" charset="0"/>
            </a:endParaRPr>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12</a:t>
            </a:fld>
            <a:endParaRPr/>
          </a:p>
        </p:txBody>
      </p:sp>
      <p:pic>
        <p:nvPicPr>
          <p:cNvPr id="1026" name="Picture 2" descr="Cancer of unknown primary; drawing shows a primary tumor that has spread from an unknown site to other parts of the body (the lung and the brain). An inset shows cancer cells spreading from the primary cancer, through the blood and lymph systems, to another part of the body where a metastatic tumor has formed.">
            <a:extLst>
              <a:ext uri="{FF2B5EF4-FFF2-40B4-BE49-F238E27FC236}">
                <a16:creationId xmlns:a16="http://schemas.microsoft.com/office/drawing/2014/main" id="{4C5901F1-1E79-4A79-8AFB-9B588524A1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1479" y="1438656"/>
            <a:ext cx="4289271" cy="351720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E13D384-FA8F-4A0D-B09C-EF7409D2E3AA}"/>
              </a:ext>
            </a:extLst>
          </p:cNvPr>
          <p:cNvSpPr txBox="1"/>
          <p:nvPr/>
        </p:nvSpPr>
        <p:spPr>
          <a:xfrm>
            <a:off x="9217152" y="4985779"/>
            <a:ext cx="3099816" cy="646331"/>
          </a:xfrm>
          <a:prstGeom prst="rect">
            <a:avLst/>
          </a:prstGeom>
          <a:noFill/>
        </p:spPr>
        <p:txBody>
          <a:bodyPr wrap="square">
            <a:spAutoFit/>
          </a:bodyPr>
          <a:lstStyle/>
          <a:p>
            <a:r>
              <a:rPr lang="en-CA" sz="1200" dirty="0">
                <a:solidFill>
                  <a:schemeClr val="tx2">
                    <a:lumMod val="50000"/>
                  </a:schemeClr>
                </a:solidFill>
                <a:latin typeface="Helvetica Neue Light" panose="020B0604020202020204" charset="0"/>
              </a:rPr>
              <a:t>www.cancer.gov/types/unknown-primary/patient/unknown-primary-treatment-pdq</a:t>
            </a:r>
          </a:p>
        </p:txBody>
      </p:sp>
    </p:spTree>
    <p:extLst>
      <p:ext uri="{BB962C8B-B14F-4D97-AF65-F5344CB8AC3E}">
        <p14:creationId xmlns:p14="http://schemas.microsoft.com/office/powerpoint/2010/main" val="2571288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Scenario 2: Unknown cancer</a:t>
            </a:r>
            <a:endParaRPr dirty="0"/>
          </a:p>
        </p:txBody>
      </p:sp>
      <p:sp>
        <p:nvSpPr>
          <p:cNvPr id="105" name="Google Shape;105;p4"/>
          <p:cNvSpPr txBox="1">
            <a:spLocks noGrp="1"/>
          </p:cNvSpPr>
          <p:nvPr>
            <p:ph type="body" idx="1"/>
          </p:nvPr>
        </p:nvSpPr>
        <p:spPr>
          <a:xfrm>
            <a:off x="838200" y="1524001"/>
            <a:ext cx="10280904" cy="999744"/>
          </a:xfrm>
          <a:prstGeom prst="rect">
            <a:avLst/>
          </a:prstGeom>
          <a:noFill/>
          <a:ln>
            <a:noFill/>
          </a:ln>
        </p:spPr>
        <p:txBody>
          <a:bodyPr spcFirstLastPara="1" wrap="square" lIns="91425" tIns="45700" rIns="91425" bIns="45700" anchor="t" anchorCtr="0">
            <a:normAutofit/>
          </a:bodyPr>
          <a:lstStyle/>
          <a:p>
            <a:r>
              <a:rPr lang="en-CA" sz="2400" dirty="0"/>
              <a:t>Targeted vs. whole genome: Cost, complexity, comprehensiveness</a:t>
            </a:r>
          </a:p>
          <a:p>
            <a:pPr algn="l"/>
            <a:endParaRPr lang="en-US" sz="2400" b="0" i="0" u="none" strike="noStrike" baseline="0" dirty="0">
              <a:latin typeface="Helvetica Neue Light" panose="020B0604020202020204" charset="0"/>
            </a:endParaRPr>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13</a:t>
            </a:fld>
            <a:endParaRPr/>
          </a:p>
        </p:txBody>
      </p:sp>
      <p:pic>
        <p:nvPicPr>
          <p:cNvPr id="2050" name="Picture 2" descr="Fig. 1: Feasibility of WGS in routine clinical practice and simulated actionable biomarker coverage by small and comprehensive sequencing panels.">
            <a:extLst>
              <a:ext uri="{FF2B5EF4-FFF2-40B4-BE49-F238E27FC236}">
                <a16:creationId xmlns:a16="http://schemas.microsoft.com/office/drawing/2014/main" id="{87373F7B-8DE7-45C0-8B8D-8BB6B72A88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8221" y="2328132"/>
            <a:ext cx="6625779" cy="401224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FB25CEA-6C29-47EC-B5C7-88467FAAD347}"/>
              </a:ext>
            </a:extLst>
          </p:cNvPr>
          <p:cNvSpPr txBox="1"/>
          <p:nvPr/>
        </p:nvSpPr>
        <p:spPr>
          <a:xfrm>
            <a:off x="8942832" y="5893344"/>
            <a:ext cx="1712976" cy="276999"/>
          </a:xfrm>
          <a:prstGeom prst="rect">
            <a:avLst/>
          </a:prstGeom>
          <a:noFill/>
        </p:spPr>
        <p:txBody>
          <a:bodyPr wrap="square">
            <a:spAutoFit/>
          </a:bodyPr>
          <a:lstStyle/>
          <a:p>
            <a:r>
              <a:rPr lang="en-CA" sz="1200" dirty="0">
                <a:solidFill>
                  <a:schemeClr val="tx2">
                    <a:lumMod val="50000"/>
                  </a:schemeClr>
                </a:solidFill>
                <a:latin typeface="Helvetica Neue Light" panose="020B0604020202020204" charset="0"/>
              </a:rPr>
              <a:t>PMID: 41862707</a:t>
            </a:r>
          </a:p>
        </p:txBody>
      </p:sp>
    </p:spTree>
    <p:extLst>
      <p:ext uri="{BB962C8B-B14F-4D97-AF65-F5344CB8AC3E}">
        <p14:creationId xmlns:p14="http://schemas.microsoft.com/office/powerpoint/2010/main" val="1012523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Scenario 2: Unknown cancer</a:t>
            </a:r>
            <a:endParaRPr dirty="0"/>
          </a:p>
        </p:txBody>
      </p:sp>
      <p:sp>
        <p:nvSpPr>
          <p:cNvPr id="105" name="Google Shape;105;p4"/>
          <p:cNvSpPr txBox="1">
            <a:spLocks noGrp="1"/>
          </p:cNvSpPr>
          <p:nvPr>
            <p:ph type="body" idx="1"/>
          </p:nvPr>
        </p:nvSpPr>
        <p:spPr>
          <a:xfrm>
            <a:off x="838200" y="1524001"/>
            <a:ext cx="10280904" cy="999744"/>
          </a:xfrm>
          <a:prstGeom prst="rect">
            <a:avLst/>
          </a:prstGeom>
          <a:noFill/>
          <a:ln>
            <a:noFill/>
          </a:ln>
        </p:spPr>
        <p:txBody>
          <a:bodyPr spcFirstLastPara="1" wrap="square" lIns="91425" tIns="45700" rIns="91425" bIns="45700" anchor="t" anchorCtr="0">
            <a:normAutofit/>
          </a:bodyPr>
          <a:lstStyle/>
          <a:p>
            <a:r>
              <a:rPr lang="en-CA" sz="2400" dirty="0"/>
              <a:t>RNA-Seq to aid with diagnosis</a:t>
            </a:r>
            <a:endParaRPr lang="en-US" sz="2400" b="0" i="0" u="none" strike="noStrike" baseline="0" dirty="0">
              <a:latin typeface="Helvetica Neue Light" panose="020B0604020202020204" charset="0"/>
            </a:endParaRPr>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14</a:t>
            </a:fld>
            <a:endParaRPr/>
          </a:p>
        </p:txBody>
      </p:sp>
      <p:grpSp>
        <p:nvGrpSpPr>
          <p:cNvPr id="5" name="Group 4">
            <a:extLst>
              <a:ext uri="{FF2B5EF4-FFF2-40B4-BE49-F238E27FC236}">
                <a16:creationId xmlns:a16="http://schemas.microsoft.com/office/drawing/2014/main" id="{25181771-9E28-4747-98B3-D6A3481345F9}"/>
              </a:ext>
            </a:extLst>
          </p:cNvPr>
          <p:cNvGrpSpPr/>
          <p:nvPr/>
        </p:nvGrpSpPr>
        <p:grpSpPr>
          <a:xfrm>
            <a:off x="5751981" y="2849564"/>
            <a:ext cx="6022919" cy="2484435"/>
            <a:chOff x="1786758" y="928414"/>
            <a:chExt cx="6053481" cy="2463654"/>
          </a:xfrm>
        </p:grpSpPr>
        <p:pic>
          <p:nvPicPr>
            <p:cNvPr id="6" name="Picture 5" descr="A picture containing timeline&#10;&#10;Description automatically generated">
              <a:extLst>
                <a:ext uri="{FF2B5EF4-FFF2-40B4-BE49-F238E27FC236}">
                  <a16:creationId xmlns:a16="http://schemas.microsoft.com/office/drawing/2014/main" id="{CC84B6E5-1718-4A2C-A436-88A09508CDD5}"/>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786758" y="928414"/>
              <a:ext cx="6050213" cy="1707931"/>
            </a:xfrm>
            <a:prstGeom prst="rect">
              <a:avLst/>
            </a:prstGeom>
          </p:spPr>
        </p:pic>
        <p:pic>
          <p:nvPicPr>
            <p:cNvPr id="7" name="Picture 6" descr="A picture containing timeline&#10;&#10;Description automatically generated">
              <a:extLst>
                <a:ext uri="{FF2B5EF4-FFF2-40B4-BE49-F238E27FC236}">
                  <a16:creationId xmlns:a16="http://schemas.microsoft.com/office/drawing/2014/main" id="{1F2AB807-E119-4530-BF6D-A313B4353E3A}"/>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1790026" y="2607972"/>
              <a:ext cx="6050213" cy="784096"/>
            </a:xfrm>
            <a:prstGeom prst="rect">
              <a:avLst/>
            </a:prstGeom>
          </p:spPr>
        </p:pic>
      </p:grpSp>
      <p:sp>
        <p:nvSpPr>
          <p:cNvPr id="9" name="TextBox 8">
            <a:extLst>
              <a:ext uri="{FF2B5EF4-FFF2-40B4-BE49-F238E27FC236}">
                <a16:creationId xmlns:a16="http://schemas.microsoft.com/office/drawing/2014/main" id="{2BF03B6E-4B1A-4100-BF39-5B3163E63E96}"/>
              </a:ext>
            </a:extLst>
          </p:cNvPr>
          <p:cNvSpPr txBox="1"/>
          <p:nvPr/>
        </p:nvSpPr>
        <p:spPr>
          <a:xfrm>
            <a:off x="10037540" y="5250559"/>
            <a:ext cx="1834896" cy="276999"/>
          </a:xfrm>
          <a:prstGeom prst="rect">
            <a:avLst/>
          </a:prstGeom>
          <a:noFill/>
        </p:spPr>
        <p:txBody>
          <a:bodyPr wrap="square">
            <a:spAutoFit/>
          </a:bodyPr>
          <a:lstStyle/>
          <a:p>
            <a:r>
              <a:rPr lang="en-CA" sz="1200" dirty="0">
                <a:solidFill>
                  <a:schemeClr val="tx2">
                    <a:lumMod val="50000"/>
                  </a:schemeClr>
                </a:solidFill>
                <a:latin typeface="Helvetica Neue Light" panose="020B0604020202020204" charset="0"/>
              </a:rPr>
              <a:t>PMID: 31026023</a:t>
            </a:r>
          </a:p>
        </p:txBody>
      </p:sp>
      <p:pic>
        <p:nvPicPr>
          <p:cNvPr id="10" name="Picture 9">
            <a:extLst>
              <a:ext uri="{FF2B5EF4-FFF2-40B4-BE49-F238E27FC236}">
                <a16:creationId xmlns:a16="http://schemas.microsoft.com/office/drawing/2014/main" id="{DB2517C0-B7CF-49A9-A517-82110EACE535}"/>
              </a:ext>
            </a:extLst>
          </p:cNvPr>
          <p:cNvPicPr>
            <a:picLocks noChangeAspect="1"/>
          </p:cNvPicPr>
          <p:nvPr/>
        </p:nvPicPr>
        <p:blipFill rotWithShape="1">
          <a:blip r:embed="rId5"/>
          <a:srcRect l="25342" t="29175" r="14009" b="38350"/>
          <a:stretch/>
        </p:blipFill>
        <p:spPr>
          <a:xfrm>
            <a:off x="417100" y="2795811"/>
            <a:ext cx="5043535" cy="3494955"/>
          </a:xfrm>
          <a:prstGeom prst="rect">
            <a:avLst/>
          </a:prstGeom>
        </p:spPr>
      </p:pic>
      <p:sp>
        <p:nvSpPr>
          <p:cNvPr id="11" name="TextBox 10">
            <a:extLst>
              <a:ext uri="{FF2B5EF4-FFF2-40B4-BE49-F238E27FC236}">
                <a16:creationId xmlns:a16="http://schemas.microsoft.com/office/drawing/2014/main" id="{A9C5D5F2-256D-48B6-BBA0-EDB4060ABC2C}"/>
              </a:ext>
            </a:extLst>
          </p:cNvPr>
          <p:cNvSpPr txBox="1"/>
          <p:nvPr/>
        </p:nvSpPr>
        <p:spPr>
          <a:xfrm>
            <a:off x="545290" y="5935598"/>
            <a:ext cx="1493822" cy="492443"/>
          </a:xfrm>
          <a:prstGeom prst="rect">
            <a:avLst/>
          </a:prstGeom>
          <a:noFill/>
        </p:spPr>
        <p:txBody>
          <a:bodyPr wrap="square" rtlCol="0">
            <a:spAutoFit/>
          </a:bodyPr>
          <a:lstStyle/>
          <a:p>
            <a:r>
              <a:rPr lang="en-CA" sz="1200" b="0" i="0" dirty="0">
                <a:solidFill>
                  <a:schemeClr val="tx1">
                    <a:lumMod val="50000"/>
                    <a:lumOff val="50000"/>
                  </a:schemeClr>
                </a:solidFill>
                <a:effectLst/>
                <a:latin typeface="Helvetica Neue Light" panose="020B0604020202020204" charset="0"/>
              </a:rPr>
              <a:t>PMID: 35121966</a:t>
            </a:r>
          </a:p>
          <a:p>
            <a:endParaRPr lang="en-CA" dirty="0"/>
          </a:p>
        </p:txBody>
      </p:sp>
    </p:spTree>
    <p:extLst>
      <p:ext uri="{BB962C8B-B14F-4D97-AF65-F5344CB8AC3E}">
        <p14:creationId xmlns:p14="http://schemas.microsoft.com/office/powerpoint/2010/main" val="1170102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Scenario 2: Unknown cancer</a:t>
            </a:r>
            <a:endParaRPr dirty="0"/>
          </a:p>
        </p:txBody>
      </p:sp>
      <p:sp>
        <p:nvSpPr>
          <p:cNvPr id="105" name="Google Shape;105;p4"/>
          <p:cNvSpPr txBox="1">
            <a:spLocks noGrp="1"/>
          </p:cNvSpPr>
          <p:nvPr>
            <p:ph type="body" idx="1"/>
          </p:nvPr>
        </p:nvSpPr>
        <p:spPr>
          <a:xfrm>
            <a:off x="838200" y="1402081"/>
            <a:ext cx="10280904" cy="1978152"/>
          </a:xfrm>
          <a:prstGeom prst="rect">
            <a:avLst/>
          </a:prstGeom>
          <a:noFill/>
          <a:ln>
            <a:noFill/>
          </a:ln>
        </p:spPr>
        <p:txBody>
          <a:bodyPr spcFirstLastPara="1" wrap="square" lIns="91425" tIns="45700" rIns="91425" bIns="45700" anchor="t" anchorCtr="0">
            <a:normAutofit/>
          </a:bodyPr>
          <a:lstStyle/>
          <a:p>
            <a:pPr algn="l"/>
            <a:r>
              <a:rPr lang="en-US" sz="2400" b="0" i="0" u="none" strike="noStrike" baseline="0" dirty="0">
                <a:latin typeface="Helvetica Neue Light" panose="020B0604020202020204" charset="0"/>
              </a:rPr>
              <a:t>Long read vs short read: SV detection and methylation</a:t>
            </a:r>
          </a:p>
          <a:p>
            <a:pPr algn="l"/>
            <a:endParaRPr lang="en-US" sz="2400" b="0" i="0" u="none" strike="noStrike" baseline="0" dirty="0">
              <a:latin typeface="Helvetica Neue Light" panose="020B0604020202020204" charset="0"/>
            </a:endParaRPr>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15</a:t>
            </a:fld>
            <a:endParaRPr/>
          </a:p>
        </p:txBody>
      </p:sp>
      <p:pic>
        <p:nvPicPr>
          <p:cNvPr id="6" name="Picture 5">
            <a:extLst>
              <a:ext uri="{FF2B5EF4-FFF2-40B4-BE49-F238E27FC236}">
                <a16:creationId xmlns:a16="http://schemas.microsoft.com/office/drawing/2014/main" id="{9E503073-55C8-47EE-880A-71C011BDEE89}"/>
              </a:ext>
            </a:extLst>
          </p:cNvPr>
          <p:cNvPicPr>
            <a:picLocks noChangeAspect="1"/>
          </p:cNvPicPr>
          <p:nvPr/>
        </p:nvPicPr>
        <p:blipFill>
          <a:blip r:embed="rId3"/>
          <a:stretch>
            <a:fillRect/>
          </a:stretch>
        </p:blipFill>
        <p:spPr>
          <a:xfrm>
            <a:off x="633201" y="2040486"/>
            <a:ext cx="5774917" cy="4200779"/>
          </a:xfrm>
          <a:prstGeom prst="rect">
            <a:avLst/>
          </a:prstGeom>
        </p:spPr>
      </p:pic>
      <p:sp>
        <p:nvSpPr>
          <p:cNvPr id="5" name="TextBox 4">
            <a:extLst>
              <a:ext uri="{FF2B5EF4-FFF2-40B4-BE49-F238E27FC236}">
                <a16:creationId xmlns:a16="http://schemas.microsoft.com/office/drawing/2014/main" id="{03E9E655-502C-476B-95A8-20A203780ACF}"/>
              </a:ext>
            </a:extLst>
          </p:cNvPr>
          <p:cNvSpPr txBox="1"/>
          <p:nvPr/>
        </p:nvSpPr>
        <p:spPr>
          <a:xfrm>
            <a:off x="292608" y="6185098"/>
            <a:ext cx="1501540" cy="307777"/>
          </a:xfrm>
          <a:prstGeom prst="rect">
            <a:avLst/>
          </a:prstGeom>
          <a:noFill/>
        </p:spPr>
        <p:txBody>
          <a:bodyPr wrap="square">
            <a:spAutoFit/>
          </a:bodyPr>
          <a:lstStyle/>
          <a:p>
            <a:r>
              <a:rPr lang="en-CA" dirty="0">
                <a:solidFill>
                  <a:schemeClr val="tx2">
                    <a:lumMod val="50000"/>
                  </a:schemeClr>
                </a:solidFill>
                <a:latin typeface="Helvetica Neue Light" panose="020B0604020202020204" charset="0"/>
              </a:rPr>
              <a:t>PMID: 40817395</a:t>
            </a:r>
          </a:p>
        </p:txBody>
      </p:sp>
      <p:pic>
        <p:nvPicPr>
          <p:cNvPr id="3" name="Picture 2">
            <a:extLst>
              <a:ext uri="{FF2B5EF4-FFF2-40B4-BE49-F238E27FC236}">
                <a16:creationId xmlns:a16="http://schemas.microsoft.com/office/drawing/2014/main" id="{EABAA18A-9C93-48FC-8FAA-382F7CD9B377}"/>
              </a:ext>
            </a:extLst>
          </p:cNvPr>
          <p:cNvPicPr>
            <a:picLocks noChangeAspect="1"/>
          </p:cNvPicPr>
          <p:nvPr/>
        </p:nvPicPr>
        <p:blipFill>
          <a:blip r:embed="rId4"/>
          <a:stretch>
            <a:fillRect/>
          </a:stretch>
        </p:blipFill>
        <p:spPr>
          <a:xfrm>
            <a:off x="9473185" y="1296765"/>
            <a:ext cx="1856232" cy="2560320"/>
          </a:xfrm>
          <a:prstGeom prst="rect">
            <a:avLst/>
          </a:prstGeom>
        </p:spPr>
      </p:pic>
      <p:sp>
        <p:nvSpPr>
          <p:cNvPr id="9" name="TextBox 8">
            <a:extLst>
              <a:ext uri="{FF2B5EF4-FFF2-40B4-BE49-F238E27FC236}">
                <a16:creationId xmlns:a16="http://schemas.microsoft.com/office/drawing/2014/main" id="{C44E4442-9B44-422D-80C0-8E627EDFA384}"/>
              </a:ext>
            </a:extLst>
          </p:cNvPr>
          <p:cNvSpPr txBox="1"/>
          <p:nvPr/>
        </p:nvSpPr>
        <p:spPr>
          <a:xfrm>
            <a:off x="10578646" y="6087376"/>
            <a:ext cx="1501540" cy="307777"/>
          </a:xfrm>
          <a:prstGeom prst="rect">
            <a:avLst/>
          </a:prstGeom>
          <a:noFill/>
        </p:spPr>
        <p:txBody>
          <a:bodyPr wrap="square">
            <a:spAutoFit/>
          </a:bodyPr>
          <a:lstStyle/>
          <a:p>
            <a:r>
              <a:rPr lang="en-CA" dirty="0">
                <a:solidFill>
                  <a:schemeClr val="tx2">
                    <a:lumMod val="50000"/>
                  </a:schemeClr>
                </a:solidFill>
                <a:latin typeface="Helvetica Neue Light" panose="020B0604020202020204" charset="0"/>
              </a:rPr>
              <a:t>PMID: 39406235</a:t>
            </a:r>
          </a:p>
        </p:txBody>
      </p:sp>
      <p:pic>
        <p:nvPicPr>
          <p:cNvPr id="7" name="Picture 6">
            <a:extLst>
              <a:ext uri="{FF2B5EF4-FFF2-40B4-BE49-F238E27FC236}">
                <a16:creationId xmlns:a16="http://schemas.microsoft.com/office/drawing/2014/main" id="{39665204-8A35-48D3-9869-B0638224225C}"/>
              </a:ext>
            </a:extLst>
          </p:cNvPr>
          <p:cNvPicPr>
            <a:picLocks noChangeAspect="1"/>
          </p:cNvPicPr>
          <p:nvPr/>
        </p:nvPicPr>
        <p:blipFill>
          <a:blip r:embed="rId5"/>
          <a:stretch>
            <a:fillRect/>
          </a:stretch>
        </p:blipFill>
        <p:spPr>
          <a:xfrm>
            <a:off x="6888315" y="3912761"/>
            <a:ext cx="5096586" cy="2076740"/>
          </a:xfrm>
          <a:prstGeom prst="rect">
            <a:avLst/>
          </a:prstGeom>
        </p:spPr>
      </p:pic>
    </p:spTree>
    <p:extLst>
      <p:ext uri="{BB962C8B-B14F-4D97-AF65-F5344CB8AC3E}">
        <p14:creationId xmlns:p14="http://schemas.microsoft.com/office/powerpoint/2010/main" val="1325235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Scenario 3: Novel species</a:t>
            </a:r>
            <a:endParaRPr dirty="0"/>
          </a:p>
        </p:txBody>
      </p:sp>
      <p:sp>
        <p:nvSpPr>
          <p:cNvPr id="105" name="Google Shape;105;p4"/>
          <p:cNvSpPr txBox="1">
            <a:spLocks noGrp="1"/>
          </p:cNvSpPr>
          <p:nvPr>
            <p:ph type="body" idx="1"/>
          </p:nvPr>
        </p:nvSpPr>
        <p:spPr>
          <a:xfrm>
            <a:off x="838200" y="1524000"/>
            <a:ext cx="7956288" cy="4652963"/>
          </a:xfrm>
          <a:prstGeom prst="rect">
            <a:avLst/>
          </a:prstGeom>
          <a:noFill/>
          <a:ln>
            <a:noFill/>
          </a:ln>
        </p:spPr>
        <p:txBody>
          <a:bodyPr spcFirstLastPara="1" wrap="square" lIns="91425" tIns="45700" rIns="91425" bIns="45700" anchor="t" anchorCtr="0">
            <a:normAutofit/>
          </a:bodyPr>
          <a:lstStyle/>
          <a:p>
            <a:pPr algn="l"/>
            <a:r>
              <a:rPr lang="en-US" sz="2400" b="0" i="0" u="none" strike="noStrike" baseline="0" dirty="0">
                <a:latin typeface="Helvetica Neue Light" panose="020B0604020202020204" charset="0"/>
              </a:rPr>
              <a:t>A rare new species has been discovered, the jackalope</a:t>
            </a:r>
          </a:p>
          <a:p>
            <a:pPr algn="l"/>
            <a:r>
              <a:rPr lang="en-US" sz="2400" dirty="0">
                <a:latin typeface="Helvetica Neue Light" panose="020B0604020202020204" charset="0"/>
              </a:rPr>
              <a:t>We have obtained tissue and blood samples</a:t>
            </a:r>
          </a:p>
          <a:p>
            <a:pPr algn="l"/>
            <a:r>
              <a:rPr lang="en-US" sz="2400" dirty="0">
                <a:latin typeface="Helvetica Neue Light" panose="020B0604020202020204" charset="0"/>
              </a:rPr>
              <a:t>We want to assemble a reference genome and understand what this species is related to</a:t>
            </a:r>
          </a:p>
          <a:p>
            <a:pPr algn="l"/>
            <a:endParaRPr lang="en-US" sz="2400" b="0" i="0" u="none" strike="noStrike" baseline="0" dirty="0">
              <a:latin typeface="Helvetica Neue Light" panose="020B0604020202020204" charset="0"/>
            </a:endParaRPr>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16</a:t>
            </a:fld>
            <a:endParaRPr/>
          </a:p>
        </p:txBody>
      </p:sp>
      <p:pic>
        <p:nvPicPr>
          <p:cNvPr id="4098" name="Picture 2" descr="On the Trail of the Jackalope - As Real as You Want Them to ...">
            <a:extLst>
              <a:ext uri="{FF2B5EF4-FFF2-40B4-BE49-F238E27FC236}">
                <a16:creationId xmlns:a16="http://schemas.microsoft.com/office/drawing/2014/main" id="{3F48BBA6-7F7A-45B8-9167-40F25B3E60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4022" y="1267968"/>
            <a:ext cx="2559312" cy="396849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7A43A86-64E1-4A16-A33B-F3337F05AEB2}"/>
              </a:ext>
            </a:extLst>
          </p:cNvPr>
          <p:cNvSpPr txBox="1"/>
          <p:nvPr/>
        </p:nvSpPr>
        <p:spPr>
          <a:xfrm>
            <a:off x="10333678" y="5334000"/>
            <a:ext cx="1847088" cy="276999"/>
          </a:xfrm>
          <a:prstGeom prst="rect">
            <a:avLst/>
          </a:prstGeom>
          <a:noFill/>
        </p:spPr>
        <p:txBody>
          <a:bodyPr wrap="square">
            <a:spAutoFit/>
          </a:bodyPr>
          <a:lstStyle/>
          <a:p>
            <a:r>
              <a:rPr lang="en-CA" sz="1200" b="0" i="0" dirty="0">
                <a:solidFill>
                  <a:schemeClr val="tx2">
                    <a:lumMod val="50000"/>
                  </a:schemeClr>
                </a:solidFill>
                <a:effectLst/>
                <a:latin typeface="Helvetica Neue Light" panose="020B0604020202020204" charset="0"/>
              </a:rPr>
              <a:t> Harold Sanborn</a:t>
            </a:r>
            <a:endParaRPr lang="en-CA" sz="1200" dirty="0">
              <a:solidFill>
                <a:schemeClr val="tx2">
                  <a:lumMod val="50000"/>
                </a:schemeClr>
              </a:solidFill>
              <a:latin typeface="Helvetica Neue Light" panose="020B0604020202020204" charset="0"/>
            </a:endParaRPr>
          </a:p>
        </p:txBody>
      </p:sp>
    </p:spTree>
    <p:extLst>
      <p:ext uri="{BB962C8B-B14F-4D97-AF65-F5344CB8AC3E}">
        <p14:creationId xmlns:p14="http://schemas.microsoft.com/office/powerpoint/2010/main" val="1847321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Scenario 3: Novel species</a:t>
            </a:r>
            <a:endParaRPr dirty="0"/>
          </a:p>
        </p:txBody>
      </p:sp>
      <p:sp>
        <p:nvSpPr>
          <p:cNvPr id="105" name="Google Shape;105;p4"/>
          <p:cNvSpPr txBox="1">
            <a:spLocks noGrp="1"/>
          </p:cNvSpPr>
          <p:nvPr>
            <p:ph type="body" idx="1"/>
          </p:nvPr>
        </p:nvSpPr>
        <p:spPr>
          <a:xfrm>
            <a:off x="838200" y="1524000"/>
            <a:ext cx="7956288" cy="4652963"/>
          </a:xfrm>
          <a:prstGeom prst="rect">
            <a:avLst/>
          </a:prstGeom>
          <a:noFill/>
          <a:ln>
            <a:noFill/>
          </a:ln>
        </p:spPr>
        <p:txBody>
          <a:bodyPr spcFirstLastPara="1" wrap="square" lIns="91425" tIns="45700" rIns="91425" bIns="45700" anchor="t" anchorCtr="0">
            <a:normAutofit/>
          </a:bodyPr>
          <a:lstStyle/>
          <a:p>
            <a:pPr algn="l"/>
            <a:r>
              <a:rPr lang="en-US" sz="2400" b="0" i="0" u="none" strike="noStrike" baseline="0" dirty="0">
                <a:latin typeface="Helvetica Neue Light" panose="020B0604020202020204" charset="0"/>
              </a:rPr>
              <a:t>A rare new species has been discovered, the jackalope</a:t>
            </a:r>
          </a:p>
          <a:p>
            <a:pPr algn="l"/>
            <a:r>
              <a:rPr lang="en-US" sz="2400" dirty="0">
                <a:latin typeface="Helvetica Neue Light" panose="020B0604020202020204" charset="0"/>
              </a:rPr>
              <a:t>We have obtained tissue and blood samples</a:t>
            </a:r>
          </a:p>
          <a:p>
            <a:pPr algn="l"/>
            <a:r>
              <a:rPr lang="en-US" sz="2400" dirty="0">
                <a:latin typeface="Helvetica Neue Light" panose="020B0604020202020204" charset="0"/>
              </a:rPr>
              <a:t>We want to assemble a reference genome and understand what this species is related to</a:t>
            </a:r>
          </a:p>
          <a:p>
            <a:pPr marL="114300" indent="0" algn="l">
              <a:buNone/>
            </a:pPr>
            <a:endParaRPr lang="en-US" sz="2400" b="0" i="0" u="none" strike="noStrike" baseline="0" dirty="0">
              <a:latin typeface="Helvetica Neue Light" panose="020B0604020202020204" charset="0"/>
            </a:endParaRPr>
          </a:p>
          <a:p>
            <a:pPr marL="114300" indent="0" algn="l">
              <a:buNone/>
            </a:pPr>
            <a:r>
              <a:rPr lang="en-US" sz="2400" dirty="0">
                <a:latin typeface="Helvetica Neue Light" panose="020B0604020202020204" charset="0"/>
              </a:rPr>
              <a:t>Discuss:</a:t>
            </a:r>
            <a:endParaRPr lang="en-US" sz="2400" b="0" i="0" u="none" strike="noStrike" baseline="0" dirty="0">
              <a:latin typeface="Helvetica Neue Light" panose="020B0604020202020204" charset="0"/>
            </a:endParaRPr>
          </a:p>
          <a:p>
            <a:pPr algn="l"/>
            <a:r>
              <a:rPr lang="en-US" sz="2400" b="0" i="0" u="none" strike="noStrike" baseline="0" dirty="0">
                <a:latin typeface="Helvetica Neue Light" panose="020B0604020202020204" charset="0"/>
              </a:rPr>
              <a:t>What kind of sequencing approaches might be useful?</a:t>
            </a:r>
          </a:p>
          <a:p>
            <a:pPr algn="l"/>
            <a:r>
              <a:rPr lang="en-US" sz="2400" b="0" i="0" u="none" strike="noStrike" baseline="0" dirty="0">
                <a:latin typeface="Helvetica Neue Light" panose="020B0604020202020204" charset="0"/>
              </a:rPr>
              <a:t>What would be the benefits or limitations of these approaches?</a:t>
            </a:r>
          </a:p>
          <a:p>
            <a:pPr algn="l"/>
            <a:endParaRPr lang="en-US" sz="2400" b="0" i="0" u="none" strike="noStrike" baseline="0" dirty="0">
              <a:latin typeface="Helvetica Neue Light" panose="020B0604020202020204" charset="0"/>
            </a:endParaRPr>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17</a:t>
            </a:fld>
            <a:endParaRPr/>
          </a:p>
        </p:txBody>
      </p:sp>
      <p:pic>
        <p:nvPicPr>
          <p:cNvPr id="4098" name="Picture 2" descr="On the Trail of the Jackalope - As Real as You Want Them to ...">
            <a:extLst>
              <a:ext uri="{FF2B5EF4-FFF2-40B4-BE49-F238E27FC236}">
                <a16:creationId xmlns:a16="http://schemas.microsoft.com/office/drawing/2014/main" id="{3F48BBA6-7F7A-45B8-9167-40F25B3E60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4022" y="1267968"/>
            <a:ext cx="2559312" cy="396849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7A43A86-64E1-4A16-A33B-F3337F05AEB2}"/>
              </a:ext>
            </a:extLst>
          </p:cNvPr>
          <p:cNvSpPr txBox="1"/>
          <p:nvPr/>
        </p:nvSpPr>
        <p:spPr>
          <a:xfrm>
            <a:off x="10333678" y="5334000"/>
            <a:ext cx="1847088" cy="276999"/>
          </a:xfrm>
          <a:prstGeom prst="rect">
            <a:avLst/>
          </a:prstGeom>
          <a:noFill/>
        </p:spPr>
        <p:txBody>
          <a:bodyPr wrap="square">
            <a:spAutoFit/>
          </a:bodyPr>
          <a:lstStyle/>
          <a:p>
            <a:r>
              <a:rPr lang="en-CA" sz="1200" b="0" i="0" dirty="0">
                <a:solidFill>
                  <a:schemeClr val="tx2">
                    <a:lumMod val="50000"/>
                  </a:schemeClr>
                </a:solidFill>
                <a:effectLst/>
                <a:latin typeface="Helvetica Neue Light" panose="020B0604020202020204" charset="0"/>
              </a:rPr>
              <a:t> Harold Sanborn</a:t>
            </a:r>
            <a:endParaRPr lang="en-CA" sz="1200" dirty="0">
              <a:solidFill>
                <a:schemeClr val="tx2">
                  <a:lumMod val="50000"/>
                </a:schemeClr>
              </a:solidFill>
              <a:latin typeface="Helvetica Neue Light" panose="020B0604020202020204" charset="0"/>
            </a:endParaRPr>
          </a:p>
        </p:txBody>
      </p:sp>
    </p:spTree>
    <p:extLst>
      <p:ext uri="{BB962C8B-B14F-4D97-AF65-F5344CB8AC3E}">
        <p14:creationId xmlns:p14="http://schemas.microsoft.com/office/powerpoint/2010/main" val="3657226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Scenario 3: Novel species</a:t>
            </a:r>
            <a:endParaRPr dirty="0"/>
          </a:p>
        </p:txBody>
      </p:sp>
      <p:sp>
        <p:nvSpPr>
          <p:cNvPr id="105" name="Google Shape;105;p4"/>
          <p:cNvSpPr txBox="1">
            <a:spLocks noGrp="1"/>
          </p:cNvSpPr>
          <p:nvPr>
            <p:ph type="body" idx="1"/>
          </p:nvPr>
        </p:nvSpPr>
        <p:spPr>
          <a:xfrm>
            <a:off x="838200" y="1520825"/>
            <a:ext cx="10515600" cy="4351338"/>
          </a:xfrm>
          <a:prstGeom prst="rect">
            <a:avLst/>
          </a:prstGeom>
          <a:noFill/>
          <a:ln>
            <a:noFill/>
          </a:ln>
        </p:spPr>
        <p:txBody>
          <a:bodyPr spcFirstLastPara="1" wrap="square" lIns="91425" tIns="45700" rIns="91425" bIns="45700" anchor="t" anchorCtr="0">
            <a:normAutofit/>
          </a:bodyPr>
          <a:lstStyle/>
          <a:p>
            <a:pPr algn="l"/>
            <a:r>
              <a:rPr lang="en-US" sz="2400" b="0" i="0" u="none" strike="noStrike" baseline="0" dirty="0">
                <a:latin typeface="Helvetica Neue Light" panose="020B0604020202020204" charset="0"/>
              </a:rPr>
              <a:t>Assembly quality</a:t>
            </a:r>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18</a:t>
            </a:fld>
            <a:endParaRPr/>
          </a:p>
        </p:txBody>
      </p:sp>
      <p:pic>
        <p:nvPicPr>
          <p:cNvPr id="6146" name="Picture 2" descr="The 3C for genome assembly quality control">
            <a:extLst>
              <a:ext uri="{FF2B5EF4-FFF2-40B4-BE49-F238E27FC236}">
                <a16:creationId xmlns:a16="http://schemas.microsoft.com/office/drawing/2014/main" id="{FE1B5153-D2CD-4076-8366-705C977C53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168" y="2305686"/>
            <a:ext cx="11353800" cy="337805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53667A9-1D2D-406D-A590-739828FF7364}"/>
              </a:ext>
            </a:extLst>
          </p:cNvPr>
          <p:cNvSpPr txBox="1"/>
          <p:nvPr/>
        </p:nvSpPr>
        <p:spPr>
          <a:xfrm>
            <a:off x="4133088" y="6050209"/>
            <a:ext cx="8007662" cy="276999"/>
          </a:xfrm>
          <a:prstGeom prst="rect">
            <a:avLst/>
          </a:prstGeom>
          <a:noFill/>
        </p:spPr>
        <p:txBody>
          <a:bodyPr wrap="square">
            <a:spAutoFit/>
          </a:bodyPr>
          <a:lstStyle/>
          <a:p>
            <a:r>
              <a:rPr lang="en-CA" sz="1200" dirty="0">
                <a:solidFill>
                  <a:schemeClr val="tx2">
                    <a:lumMod val="50000"/>
                  </a:schemeClr>
                </a:solidFill>
                <a:latin typeface="Helvetica Neue Light" panose="020B0604020202020204" charset="0"/>
              </a:rPr>
              <a:t>https://training.galaxyproject.org/training-material/topics/assembly/tutorials/assembly-quality-control/slides-plain.html</a:t>
            </a:r>
          </a:p>
        </p:txBody>
      </p:sp>
    </p:spTree>
    <p:extLst>
      <p:ext uri="{BB962C8B-B14F-4D97-AF65-F5344CB8AC3E}">
        <p14:creationId xmlns:p14="http://schemas.microsoft.com/office/powerpoint/2010/main" val="59236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Scenario 3: Novel species</a:t>
            </a:r>
            <a:endParaRPr dirty="0"/>
          </a:p>
        </p:txBody>
      </p:sp>
      <p:sp>
        <p:nvSpPr>
          <p:cNvPr id="105" name="Google Shape;105;p4"/>
          <p:cNvSpPr txBox="1">
            <a:spLocks noGrp="1"/>
          </p:cNvSpPr>
          <p:nvPr>
            <p:ph type="body" idx="1"/>
          </p:nvPr>
        </p:nvSpPr>
        <p:spPr>
          <a:xfrm>
            <a:off x="838200" y="1520825"/>
            <a:ext cx="10515600" cy="4351338"/>
          </a:xfrm>
          <a:prstGeom prst="rect">
            <a:avLst/>
          </a:prstGeom>
          <a:noFill/>
          <a:ln>
            <a:noFill/>
          </a:ln>
        </p:spPr>
        <p:txBody>
          <a:bodyPr spcFirstLastPara="1" wrap="square" lIns="91425" tIns="45700" rIns="91425" bIns="45700" anchor="t" anchorCtr="0">
            <a:normAutofit/>
          </a:bodyPr>
          <a:lstStyle/>
          <a:p>
            <a:pPr algn="l"/>
            <a:r>
              <a:rPr lang="en-US" sz="2400" b="0" i="0" u="none" strike="noStrike" baseline="0" dirty="0">
                <a:latin typeface="Helvetica Neue Light" panose="020B0604020202020204" charset="0"/>
              </a:rPr>
              <a:t>Assembly quality: Long reads and short reads are complementary</a:t>
            </a:r>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19</a:t>
            </a:fld>
            <a:endParaRPr/>
          </a:p>
        </p:txBody>
      </p:sp>
      <p:pic>
        <p:nvPicPr>
          <p:cNvPr id="6" name="Picture 5">
            <a:extLst>
              <a:ext uri="{FF2B5EF4-FFF2-40B4-BE49-F238E27FC236}">
                <a16:creationId xmlns:a16="http://schemas.microsoft.com/office/drawing/2014/main" id="{D6A68EA3-5E08-40CD-8561-B320BCABB324}"/>
              </a:ext>
            </a:extLst>
          </p:cNvPr>
          <p:cNvPicPr>
            <a:picLocks noChangeAspect="1"/>
          </p:cNvPicPr>
          <p:nvPr/>
        </p:nvPicPr>
        <p:blipFill>
          <a:blip r:embed="rId3"/>
          <a:stretch>
            <a:fillRect/>
          </a:stretch>
        </p:blipFill>
        <p:spPr>
          <a:xfrm>
            <a:off x="781015" y="2396974"/>
            <a:ext cx="6631721" cy="3266475"/>
          </a:xfrm>
          <a:prstGeom prst="rect">
            <a:avLst/>
          </a:prstGeom>
        </p:spPr>
      </p:pic>
      <p:sp>
        <p:nvSpPr>
          <p:cNvPr id="7" name="TextBox 6">
            <a:extLst>
              <a:ext uri="{FF2B5EF4-FFF2-40B4-BE49-F238E27FC236}">
                <a16:creationId xmlns:a16="http://schemas.microsoft.com/office/drawing/2014/main" id="{C1ACC549-20F3-4F5D-B2EE-7BF1FD972B8F}"/>
              </a:ext>
            </a:extLst>
          </p:cNvPr>
          <p:cNvSpPr txBox="1"/>
          <p:nvPr/>
        </p:nvSpPr>
        <p:spPr>
          <a:xfrm>
            <a:off x="838200" y="5536345"/>
            <a:ext cx="1501540" cy="276999"/>
          </a:xfrm>
          <a:prstGeom prst="rect">
            <a:avLst/>
          </a:prstGeom>
          <a:noFill/>
        </p:spPr>
        <p:txBody>
          <a:bodyPr wrap="square">
            <a:spAutoFit/>
          </a:bodyPr>
          <a:lstStyle/>
          <a:p>
            <a:r>
              <a:rPr lang="en-CA" sz="1200" dirty="0">
                <a:solidFill>
                  <a:schemeClr val="tx2">
                    <a:lumMod val="50000"/>
                  </a:schemeClr>
                </a:solidFill>
                <a:latin typeface="Helvetica Neue Light" panose="020B0604020202020204" charset="0"/>
              </a:rPr>
              <a:t>PMID: 32504078</a:t>
            </a:r>
          </a:p>
        </p:txBody>
      </p:sp>
      <p:pic>
        <p:nvPicPr>
          <p:cNvPr id="3" name="Picture 2">
            <a:extLst>
              <a:ext uri="{FF2B5EF4-FFF2-40B4-BE49-F238E27FC236}">
                <a16:creationId xmlns:a16="http://schemas.microsoft.com/office/drawing/2014/main" id="{C39AD1C8-4281-437A-A1F0-0AC03A05307E}"/>
              </a:ext>
            </a:extLst>
          </p:cNvPr>
          <p:cNvPicPr>
            <a:picLocks noChangeAspect="1"/>
          </p:cNvPicPr>
          <p:nvPr/>
        </p:nvPicPr>
        <p:blipFill>
          <a:blip r:embed="rId4"/>
          <a:stretch>
            <a:fillRect/>
          </a:stretch>
        </p:blipFill>
        <p:spPr>
          <a:xfrm>
            <a:off x="9019286" y="3325262"/>
            <a:ext cx="1810003" cy="1409897"/>
          </a:xfrm>
          <a:prstGeom prst="rect">
            <a:avLst/>
          </a:prstGeom>
        </p:spPr>
      </p:pic>
      <p:sp>
        <p:nvSpPr>
          <p:cNvPr id="11" name="TextBox 10">
            <a:extLst>
              <a:ext uri="{FF2B5EF4-FFF2-40B4-BE49-F238E27FC236}">
                <a16:creationId xmlns:a16="http://schemas.microsoft.com/office/drawing/2014/main" id="{FE806FB8-058B-455E-A463-0FB1912A9687}"/>
              </a:ext>
            </a:extLst>
          </p:cNvPr>
          <p:cNvSpPr txBox="1"/>
          <p:nvPr/>
        </p:nvSpPr>
        <p:spPr>
          <a:xfrm>
            <a:off x="10525310" y="5663449"/>
            <a:ext cx="1615440" cy="276999"/>
          </a:xfrm>
          <a:prstGeom prst="rect">
            <a:avLst/>
          </a:prstGeom>
          <a:noFill/>
        </p:spPr>
        <p:txBody>
          <a:bodyPr wrap="square">
            <a:spAutoFit/>
          </a:bodyPr>
          <a:lstStyle/>
          <a:p>
            <a:r>
              <a:rPr lang="en-CA" sz="1200" dirty="0">
                <a:solidFill>
                  <a:schemeClr val="tx2">
                    <a:lumMod val="50000"/>
                  </a:schemeClr>
                </a:solidFill>
                <a:latin typeface="Helvetica Neue Light" panose="020B0604020202020204" charset="0"/>
              </a:rPr>
              <a:t>PMID: 34775997</a:t>
            </a:r>
          </a:p>
        </p:txBody>
      </p:sp>
    </p:spTree>
    <p:extLst>
      <p:ext uri="{BB962C8B-B14F-4D97-AF65-F5344CB8AC3E}">
        <p14:creationId xmlns:p14="http://schemas.microsoft.com/office/powerpoint/2010/main" val="773476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Your own research</a:t>
            </a:r>
            <a:endParaRPr dirty="0"/>
          </a:p>
        </p:txBody>
      </p:sp>
      <p:sp>
        <p:nvSpPr>
          <p:cNvPr id="105" name="Google Shape;105;p4"/>
          <p:cNvSpPr txBox="1">
            <a:spLocks noGrp="1"/>
          </p:cNvSpPr>
          <p:nvPr>
            <p:ph type="body" idx="1"/>
          </p:nvPr>
        </p:nvSpPr>
        <p:spPr>
          <a:xfrm>
            <a:off x="838200" y="1825625"/>
            <a:ext cx="10780776" cy="4351338"/>
          </a:xfrm>
          <a:prstGeom prst="rect">
            <a:avLst/>
          </a:prstGeom>
          <a:noFill/>
          <a:ln>
            <a:noFill/>
          </a:ln>
        </p:spPr>
        <p:txBody>
          <a:bodyPr spcFirstLastPara="1" wrap="square" lIns="91425" tIns="45700" rIns="91425" bIns="45700" anchor="t" anchorCtr="0">
            <a:normAutofit/>
          </a:bodyPr>
          <a:lstStyle/>
          <a:p>
            <a:pPr algn="l">
              <a:spcBef>
                <a:spcPts val="2400"/>
              </a:spcBef>
            </a:pPr>
            <a:r>
              <a:rPr lang="en-US" sz="2400" b="0" i="0" u="none" strike="noStrike" baseline="0" dirty="0">
                <a:latin typeface="Helvetica Neue Light" panose="020B0604020202020204" charset="0"/>
              </a:rPr>
              <a:t>What is a research question you have? Explain it briefly to your group.</a:t>
            </a:r>
          </a:p>
          <a:p>
            <a:pPr algn="l">
              <a:spcBef>
                <a:spcPts val="2400"/>
              </a:spcBef>
            </a:pPr>
            <a:r>
              <a:rPr lang="en-US" sz="2400" b="0" i="0" u="none" strike="noStrike" baseline="0" dirty="0">
                <a:latin typeface="Helvetica Neue Light" panose="020B0604020202020204" charset="0"/>
              </a:rPr>
              <a:t>What technologies do you think might best apply to this question and why?</a:t>
            </a:r>
          </a:p>
          <a:p>
            <a:pPr algn="l">
              <a:spcBef>
                <a:spcPts val="2400"/>
              </a:spcBef>
            </a:pPr>
            <a:r>
              <a:rPr lang="en-US" sz="2400" b="0" i="0" u="none" strike="noStrike" baseline="0" dirty="0">
                <a:latin typeface="Helvetica Neue Light" panose="020B0604020202020204" charset="0"/>
              </a:rPr>
              <a:t>What would be some of the limitations or challenges of using these technologies for your application?</a:t>
            </a:r>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20</a:t>
            </a:fld>
            <a:endParaRPr/>
          </a:p>
        </p:txBody>
      </p:sp>
    </p:spTree>
    <p:extLst>
      <p:ext uri="{BB962C8B-B14F-4D97-AF65-F5344CB8AC3E}">
        <p14:creationId xmlns:p14="http://schemas.microsoft.com/office/powerpoint/2010/main" val="30989513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Summary</a:t>
            </a:r>
            <a:endParaRPr dirty="0"/>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21</a:t>
            </a:fld>
            <a:endParaRPr/>
          </a:p>
        </p:txBody>
      </p:sp>
      <p:graphicFrame>
        <p:nvGraphicFramePr>
          <p:cNvPr id="2" name="Table 1">
            <a:extLst>
              <a:ext uri="{FF2B5EF4-FFF2-40B4-BE49-F238E27FC236}">
                <a16:creationId xmlns:a16="http://schemas.microsoft.com/office/drawing/2014/main" id="{00ED2071-1697-463F-9D88-0B006492010A}"/>
              </a:ext>
            </a:extLst>
          </p:cNvPr>
          <p:cNvGraphicFramePr>
            <a:graphicFrameLocks noGrp="1"/>
          </p:cNvGraphicFramePr>
          <p:nvPr>
            <p:extLst>
              <p:ext uri="{D42A27DB-BD31-4B8C-83A1-F6EECF244321}">
                <p14:modId xmlns:p14="http://schemas.microsoft.com/office/powerpoint/2010/main" val="858159361"/>
              </p:ext>
            </p:extLst>
          </p:nvPr>
        </p:nvGraphicFramePr>
        <p:xfrm>
          <a:off x="368300" y="1479126"/>
          <a:ext cx="11468100" cy="4296834"/>
        </p:xfrm>
        <a:graphic>
          <a:graphicData uri="http://schemas.openxmlformats.org/drawingml/2006/table">
            <a:tbl>
              <a:tblPr firstCol="1">
                <a:tableStyleId>{5C22544A-7EE6-4342-B048-85BDC9FD1C3A}</a:tableStyleId>
              </a:tblPr>
              <a:tblGrid>
                <a:gridCol w="2142820">
                  <a:extLst>
                    <a:ext uri="{9D8B030D-6E8A-4147-A177-3AD203B41FA5}">
                      <a16:colId xmlns:a16="http://schemas.microsoft.com/office/drawing/2014/main" val="3985124106"/>
                    </a:ext>
                  </a:extLst>
                </a:gridCol>
                <a:gridCol w="5057050">
                  <a:extLst>
                    <a:ext uri="{9D8B030D-6E8A-4147-A177-3AD203B41FA5}">
                      <a16:colId xmlns:a16="http://schemas.microsoft.com/office/drawing/2014/main" val="4228389171"/>
                    </a:ext>
                  </a:extLst>
                </a:gridCol>
                <a:gridCol w="4268230">
                  <a:extLst>
                    <a:ext uri="{9D8B030D-6E8A-4147-A177-3AD203B41FA5}">
                      <a16:colId xmlns:a16="http://schemas.microsoft.com/office/drawing/2014/main" val="3993549081"/>
                    </a:ext>
                  </a:extLst>
                </a:gridCol>
              </a:tblGrid>
              <a:tr h="956108">
                <a:tc>
                  <a:txBody>
                    <a:bodyPr/>
                    <a:lstStyle/>
                    <a:p>
                      <a:pPr algn="l" fontAlgn="t">
                        <a:spcBef>
                          <a:spcPts val="600"/>
                        </a:spcBef>
                      </a:pPr>
                      <a:r>
                        <a:rPr lang="en-CA" sz="1600" dirty="0">
                          <a:effectLst/>
                        </a:rPr>
                        <a:t>Illumina sequencing</a:t>
                      </a:r>
                    </a:p>
                  </a:txBody>
                  <a:tcPr marL="17639" marR="17639" marT="17639" marB="17639"/>
                </a:tc>
                <a:tc>
                  <a:txBody>
                    <a:bodyPr/>
                    <a:lstStyle/>
                    <a:p>
                      <a:pPr marL="88900" lvl="3" indent="-88900" algn="l" fontAlgn="t">
                        <a:spcBef>
                          <a:spcPts val="600"/>
                        </a:spcBef>
                      </a:pPr>
                      <a:r>
                        <a:rPr lang="en-US" sz="1600" dirty="0">
                          <a:effectLst/>
                        </a:rPr>
                        <a:t>• Widely used with mature protocols and analysis tools</a:t>
                      </a:r>
                    </a:p>
                    <a:p>
                      <a:pPr marL="88900" lvl="3" indent="-88900" algn="l" fontAlgn="t">
                        <a:spcBef>
                          <a:spcPts val="600"/>
                        </a:spcBef>
                      </a:pPr>
                      <a:r>
                        <a:rPr lang="en-US" sz="1600" dirty="0">
                          <a:effectLst/>
                        </a:rPr>
                        <a:t>• Highest throughput and lowest cost per base</a:t>
                      </a:r>
                    </a:p>
                    <a:p>
                      <a:pPr marL="88900" marR="0" lvl="3" indent="-88900" algn="l" defTabSz="914400" rtl="0" eaLnBrk="1" fontAlgn="t" latinLnBrk="0" hangingPunct="1">
                        <a:lnSpc>
                          <a:spcPct val="100000"/>
                        </a:lnSpc>
                        <a:spcBef>
                          <a:spcPts val="600"/>
                        </a:spcBef>
                        <a:spcAft>
                          <a:spcPts val="0"/>
                        </a:spcAft>
                        <a:buClr>
                          <a:srgbClr val="000000"/>
                        </a:buClr>
                        <a:buSzTx/>
                        <a:buFont typeface="Arial"/>
                        <a:buNone/>
                        <a:tabLst/>
                        <a:defRPr/>
                      </a:pPr>
                      <a:r>
                        <a:rPr lang="en-US" sz="1600" dirty="0">
                          <a:effectLst/>
                        </a:rPr>
                        <a:t>• Extremely accurate for SNVs and small indels</a:t>
                      </a:r>
                    </a:p>
                    <a:p>
                      <a:pPr marL="88900" lvl="3" indent="-88900" algn="l" fontAlgn="t">
                        <a:spcBef>
                          <a:spcPts val="600"/>
                        </a:spcBef>
                      </a:pPr>
                      <a:r>
                        <a:rPr lang="en-US" sz="1600" dirty="0">
                          <a:effectLst/>
                        </a:rPr>
                        <a:t>• Ideal for WGS, RNA-Seq, single-cell seq, large cohorts</a:t>
                      </a:r>
                    </a:p>
                  </a:txBody>
                  <a:tcPr marL="17639" marR="17639" marT="17639" marB="17639"/>
                </a:tc>
                <a:tc>
                  <a:txBody>
                    <a:bodyPr/>
                    <a:lstStyle/>
                    <a:p>
                      <a:pPr marL="88900" lvl="3" indent="-88900" algn="l" fontAlgn="t">
                        <a:spcBef>
                          <a:spcPts val="600"/>
                        </a:spcBef>
                      </a:pPr>
                      <a:r>
                        <a:rPr lang="en-US" sz="1600" dirty="0">
                          <a:effectLst/>
                        </a:rPr>
                        <a:t>• Short reads, typically paired 150 bp</a:t>
                      </a:r>
                    </a:p>
                    <a:p>
                      <a:pPr marL="88900" marR="0" lvl="3" indent="-88900" algn="l" defTabSz="914400" rtl="0" eaLnBrk="1" fontAlgn="t" latinLnBrk="0" hangingPunct="1">
                        <a:lnSpc>
                          <a:spcPct val="100000"/>
                        </a:lnSpc>
                        <a:spcBef>
                          <a:spcPts val="600"/>
                        </a:spcBef>
                        <a:spcAft>
                          <a:spcPts val="0"/>
                        </a:spcAft>
                        <a:buClr>
                          <a:srgbClr val="000000"/>
                        </a:buClr>
                        <a:buSzTx/>
                        <a:buFont typeface="Arial"/>
                        <a:buNone/>
                        <a:tabLst/>
                        <a:defRPr/>
                      </a:pPr>
                      <a:r>
                        <a:rPr lang="en-US" sz="1600" dirty="0">
                          <a:effectLst/>
                        </a:rPr>
                        <a:t>• Structural variants, repeats, phasing can be challenging</a:t>
                      </a:r>
                    </a:p>
                    <a:p>
                      <a:pPr marL="88900" marR="0" lvl="3" indent="-88900" algn="l" defTabSz="914400" rtl="0" eaLnBrk="1" fontAlgn="t" latinLnBrk="0" hangingPunct="1">
                        <a:lnSpc>
                          <a:spcPct val="100000"/>
                        </a:lnSpc>
                        <a:spcBef>
                          <a:spcPts val="600"/>
                        </a:spcBef>
                        <a:spcAft>
                          <a:spcPts val="0"/>
                        </a:spcAft>
                        <a:buClr>
                          <a:srgbClr val="000000"/>
                        </a:buClr>
                        <a:buSzTx/>
                        <a:buFont typeface="Arial"/>
                        <a:buNone/>
                        <a:tabLst/>
                        <a:defRPr/>
                      </a:pPr>
                      <a:r>
                        <a:rPr lang="en-US" sz="1600" dirty="0">
                          <a:effectLst/>
                        </a:rPr>
                        <a:t>• Requires additional prep to detect epigenetic changes</a:t>
                      </a:r>
                    </a:p>
                  </a:txBody>
                  <a:tcPr marL="17639" marR="17639" marT="17639" marB="17639"/>
                </a:tc>
                <a:extLst>
                  <a:ext uri="{0D108BD9-81ED-4DB2-BD59-A6C34878D82A}">
                    <a16:rowId xmlns:a16="http://schemas.microsoft.com/office/drawing/2014/main" val="1778321016"/>
                  </a:ext>
                </a:extLst>
              </a:tr>
              <a:tr h="1166870">
                <a:tc>
                  <a:txBody>
                    <a:bodyPr/>
                    <a:lstStyle/>
                    <a:p>
                      <a:pPr algn="l" fontAlgn="t">
                        <a:spcBef>
                          <a:spcPts val="600"/>
                        </a:spcBef>
                      </a:pPr>
                      <a:r>
                        <a:rPr lang="en-CA" sz="1600" dirty="0">
                          <a:effectLst/>
                        </a:rPr>
                        <a:t>PacBio SMRT sequencing</a:t>
                      </a:r>
                    </a:p>
                  </a:txBody>
                  <a:tcPr marL="17639" marR="17639" marT="17639" marB="17639"/>
                </a:tc>
                <a:tc>
                  <a:txBody>
                    <a:bodyPr/>
                    <a:lstStyle/>
                    <a:p>
                      <a:pPr marL="88900" lvl="3" indent="-88900" algn="l" fontAlgn="t">
                        <a:spcBef>
                          <a:spcPts val="600"/>
                        </a:spcBef>
                      </a:pPr>
                      <a:r>
                        <a:rPr lang="en-US" sz="1600" dirty="0">
                          <a:effectLst/>
                        </a:rPr>
                        <a:t>• Long reads, typically 10-25kb</a:t>
                      </a:r>
                    </a:p>
                    <a:p>
                      <a:pPr marL="88900" lvl="3" indent="-88900" algn="l" fontAlgn="t">
                        <a:spcBef>
                          <a:spcPts val="600"/>
                        </a:spcBef>
                      </a:pPr>
                      <a:r>
                        <a:rPr lang="en-US" sz="1600" dirty="0">
                          <a:effectLst/>
                        </a:rPr>
                        <a:t>• Very high accuracy, with error rates less than 0.1%</a:t>
                      </a:r>
                    </a:p>
                    <a:p>
                      <a:pPr marL="88900" lvl="3" indent="-88900" algn="l" fontAlgn="t">
                        <a:spcBef>
                          <a:spcPts val="600"/>
                        </a:spcBef>
                      </a:pPr>
                      <a:r>
                        <a:rPr lang="en-US" sz="1600" dirty="0">
                          <a:effectLst/>
                        </a:rPr>
                        <a:t>• Native methylation detection</a:t>
                      </a:r>
                    </a:p>
                    <a:p>
                      <a:pPr marL="88900" lvl="3" indent="-88900" algn="l" fontAlgn="t">
                        <a:spcBef>
                          <a:spcPts val="600"/>
                        </a:spcBef>
                      </a:pPr>
                      <a:r>
                        <a:rPr lang="en-US" sz="1600" dirty="0">
                          <a:effectLst/>
                        </a:rPr>
                        <a:t>• Excellent for de novo assembly and structural variants</a:t>
                      </a:r>
                    </a:p>
                  </a:txBody>
                  <a:tcPr marL="17639" marR="17639" marT="17639" marB="17639"/>
                </a:tc>
                <a:tc>
                  <a:txBody>
                    <a:bodyPr/>
                    <a:lstStyle/>
                    <a:p>
                      <a:pPr marL="88900" lvl="3" indent="-88900" algn="l" fontAlgn="t">
                        <a:spcBef>
                          <a:spcPts val="600"/>
                        </a:spcBef>
                      </a:pPr>
                      <a:r>
                        <a:rPr lang="en-US" sz="1600" dirty="0">
                          <a:effectLst/>
                        </a:rPr>
                        <a:t>• High cost per base, making it the most expensive option for most applications</a:t>
                      </a:r>
                    </a:p>
                    <a:p>
                      <a:pPr marL="88900" lvl="3" indent="-88900" algn="l" fontAlgn="t">
                        <a:spcBef>
                          <a:spcPts val="600"/>
                        </a:spcBef>
                      </a:pPr>
                      <a:r>
                        <a:rPr lang="en-US" sz="1600" dirty="0">
                          <a:effectLst/>
                        </a:rPr>
                        <a:t>• Lower throughput compared to other technologies</a:t>
                      </a:r>
                    </a:p>
                    <a:p>
                      <a:pPr marL="88900" lvl="3" indent="-88900" algn="l" fontAlgn="t">
                        <a:spcBef>
                          <a:spcPts val="600"/>
                        </a:spcBef>
                      </a:pPr>
                      <a:r>
                        <a:rPr lang="en-US" sz="1600" dirty="0">
                          <a:effectLst/>
                        </a:rPr>
                        <a:t>• Requires high quality, molecular weight DNA</a:t>
                      </a:r>
                    </a:p>
                  </a:txBody>
                  <a:tcPr marL="17639" marR="17639" marT="17639" marB="17639"/>
                </a:tc>
                <a:extLst>
                  <a:ext uri="{0D108BD9-81ED-4DB2-BD59-A6C34878D82A}">
                    <a16:rowId xmlns:a16="http://schemas.microsoft.com/office/drawing/2014/main" val="3408004325"/>
                  </a:ext>
                </a:extLst>
              </a:tr>
              <a:tr h="1272251">
                <a:tc>
                  <a:txBody>
                    <a:bodyPr/>
                    <a:lstStyle/>
                    <a:p>
                      <a:pPr algn="l" fontAlgn="t">
                        <a:spcBef>
                          <a:spcPts val="600"/>
                        </a:spcBef>
                      </a:pPr>
                      <a:r>
                        <a:rPr lang="en-CA" sz="1600">
                          <a:effectLst/>
                        </a:rPr>
                        <a:t>Oxford Nanopore</a:t>
                      </a:r>
                    </a:p>
                  </a:txBody>
                  <a:tcPr marL="17639" marR="17639" marT="17639" marB="17639"/>
                </a:tc>
                <a:tc>
                  <a:txBody>
                    <a:bodyPr/>
                    <a:lstStyle/>
                    <a:p>
                      <a:pPr marL="88900" lvl="3" indent="-88900" algn="l" fontAlgn="t">
                        <a:spcBef>
                          <a:spcPts val="600"/>
                        </a:spcBef>
                      </a:pPr>
                      <a:r>
                        <a:rPr lang="en-US" sz="1600" dirty="0">
                          <a:effectLst/>
                        </a:rPr>
                        <a:t>• Very long reads, 10K-100K+ bp</a:t>
                      </a:r>
                    </a:p>
                    <a:p>
                      <a:pPr marL="88900" lvl="3" indent="-88900" algn="l" fontAlgn="t">
                        <a:spcBef>
                          <a:spcPts val="600"/>
                        </a:spcBef>
                      </a:pPr>
                      <a:r>
                        <a:rPr lang="en-US" sz="1600" dirty="0">
                          <a:effectLst/>
                        </a:rPr>
                        <a:t>• Direct detection of DNA &amp; RNA epigenetic modifications</a:t>
                      </a:r>
                    </a:p>
                    <a:p>
                      <a:pPr marL="88900" lvl="3" indent="-88900" algn="l" fontAlgn="t">
                        <a:spcBef>
                          <a:spcPts val="600"/>
                        </a:spcBef>
                      </a:pPr>
                      <a:r>
                        <a:rPr lang="en-US" sz="1600" dirty="0">
                          <a:effectLst/>
                        </a:rPr>
                        <a:t>• Portable and flexible, allowing for sequencing in remote locations or in real-time</a:t>
                      </a:r>
                    </a:p>
                  </a:txBody>
                  <a:tcPr marL="17639" marR="17639" marT="17639" marB="17639"/>
                </a:tc>
                <a:tc>
                  <a:txBody>
                    <a:bodyPr/>
                    <a:lstStyle/>
                    <a:p>
                      <a:pPr marL="88900" lvl="3" indent="-88900" algn="l" fontAlgn="t">
                        <a:spcBef>
                          <a:spcPts val="600"/>
                        </a:spcBef>
                      </a:pPr>
                      <a:r>
                        <a:rPr lang="en-US" sz="1600" dirty="0">
                          <a:effectLst/>
                        </a:rPr>
                        <a:t>• Somewhat higher cost and lower throughput than short read sequencing</a:t>
                      </a:r>
                    </a:p>
                    <a:p>
                      <a:pPr marL="88900" lvl="3" indent="-88900" algn="l" fontAlgn="t">
                        <a:spcBef>
                          <a:spcPts val="600"/>
                        </a:spcBef>
                      </a:pPr>
                      <a:r>
                        <a:rPr lang="en-US" sz="1600" dirty="0">
                          <a:effectLst/>
                        </a:rPr>
                        <a:t>• Higher variability in accuracy compared to other technologies, particularly in homopolymers</a:t>
                      </a:r>
                    </a:p>
                  </a:txBody>
                  <a:tcPr marL="17639" marR="17639" marT="17639" marB="17639"/>
                </a:tc>
                <a:extLst>
                  <a:ext uri="{0D108BD9-81ED-4DB2-BD59-A6C34878D82A}">
                    <a16:rowId xmlns:a16="http://schemas.microsoft.com/office/drawing/2014/main" val="3079844816"/>
                  </a:ext>
                </a:extLst>
              </a:tr>
            </a:tbl>
          </a:graphicData>
        </a:graphic>
      </p:graphicFrame>
      <p:sp>
        <p:nvSpPr>
          <p:cNvPr id="7" name="TextBox 6">
            <a:extLst>
              <a:ext uri="{FF2B5EF4-FFF2-40B4-BE49-F238E27FC236}">
                <a16:creationId xmlns:a16="http://schemas.microsoft.com/office/drawing/2014/main" id="{2EE305A1-7533-4025-8A01-EE3D990FE29E}"/>
              </a:ext>
            </a:extLst>
          </p:cNvPr>
          <p:cNvSpPr txBox="1"/>
          <p:nvPr/>
        </p:nvSpPr>
        <p:spPr>
          <a:xfrm>
            <a:off x="5524500" y="6059064"/>
            <a:ext cx="6108700" cy="276999"/>
          </a:xfrm>
          <a:prstGeom prst="rect">
            <a:avLst/>
          </a:prstGeom>
          <a:noFill/>
        </p:spPr>
        <p:txBody>
          <a:bodyPr wrap="square">
            <a:spAutoFit/>
          </a:bodyPr>
          <a:lstStyle/>
          <a:p>
            <a:r>
              <a:rPr lang="en-CA" sz="1200" dirty="0">
                <a:solidFill>
                  <a:schemeClr val="tx2">
                    <a:lumMod val="50000"/>
                  </a:schemeClr>
                </a:solidFill>
                <a:latin typeface="Helvetica Neue Light" panose="020B0604020202020204" charset="0"/>
              </a:rPr>
              <a:t>Adapted from https://pmc.ncbi.nlm.nih.gov/articles/PMC10703097/table/t1/</a:t>
            </a:r>
          </a:p>
        </p:txBody>
      </p:sp>
    </p:spTree>
    <p:extLst>
      <p:ext uri="{BB962C8B-B14F-4D97-AF65-F5344CB8AC3E}">
        <p14:creationId xmlns:p14="http://schemas.microsoft.com/office/powerpoint/2010/main" val="2535839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DNA sequencing history</a:t>
            </a:r>
            <a:endParaRPr dirty="0"/>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22</a:t>
            </a:fld>
            <a:endParaRPr/>
          </a:p>
        </p:txBody>
      </p:sp>
      <p:pic>
        <p:nvPicPr>
          <p:cNvPr id="5" name="Picture 2">
            <a:extLst>
              <a:ext uri="{FF2B5EF4-FFF2-40B4-BE49-F238E27FC236}">
                <a16:creationId xmlns:a16="http://schemas.microsoft.com/office/drawing/2014/main" id="{BDFDF870-1D88-4AF4-9120-FDB7F67422E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873"/>
          <a:stretch/>
        </p:blipFill>
        <p:spPr bwMode="auto">
          <a:xfrm>
            <a:off x="542266" y="1899599"/>
            <a:ext cx="8572500" cy="377290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9B49DB0-5101-474A-A7B1-1893558F2FC4}"/>
              </a:ext>
            </a:extLst>
          </p:cNvPr>
          <p:cNvSpPr txBox="1"/>
          <p:nvPr/>
        </p:nvSpPr>
        <p:spPr>
          <a:xfrm>
            <a:off x="210493" y="5739973"/>
            <a:ext cx="6106562" cy="307777"/>
          </a:xfrm>
          <a:prstGeom prst="rect">
            <a:avLst/>
          </a:prstGeom>
          <a:noFill/>
        </p:spPr>
        <p:txBody>
          <a:bodyPr wrap="square">
            <a:spAutoFit/>
          </a:bodyPr>
          <a:lstStyle/>
          <a:p>
            <a:r>
              <a:rPr lang="en-CA" dirty="0">
                <a:solidFill>
                  <a:schemeClr val="tx2">
                    <a:lumMod val="50000"/>
                  </a:schemeClr>
                </a:solidFill>
                <a:latin typeface="Helvetica Neue Light" panose="020B0604020202020204" charset="0"/>
              </a:rPr>
              <a:t>https://www.criver.com/eureka/history-dna-sequencing</a:t>
            </a:r>
          </a:p>
        </p:txBody>
      </p:sp>
      <p:sp>
        <p:nvSpPr>
          <p:cNvPr id="7" name="TextBox 6">
            <a:extLst>
              <a:ext uri="{FF2B5EF4-FFF2-40B4-BE49-F238E27FC236}">
                <a16:creationId xmlns:a16="http://schemas.microsoft.com/office/drawing/2014/main" id="{693F6695-1AEF-4B88-8D4D-81E9478F3ECA}"/>
              </a:ext>
            </a:extLst>
          </p:cNvPr>
          <p:cNvSpPr txBox="1"/>
          <p:nvPr/>
        </p:nvSpPr>
        <p:spPr>
          <a:xfrm>
            <a:off x="9278293" y="2093530"/>
            <a:ext cx="2703214" cy="2893100"/>
          </a:xfrm>
          <a:prstGeom prst="rect">
            <a:avLst/>
          </a:prstGeom>
          <a:noFill/>
        </p:spPr>
        <p:txBody>
          <a:bodyPr wrap="square">
            <a:spAutoFit/>
          </a:bodyPr>
          <a:lstStyle/>
          <a:p>
            <a:r>
              <a:rPr lang="en-CA" dirty="0">
                <a:solidFill>
                  <a:schemeClr val="tx1"/>
                </a:solidFill>
                <a:latin typeface="Helvetica Neue Light" panose="020B0604020202020204" charset="0"/>
              </a:rPr>
              <a:t>Newer technologies competing in short-read space:</a:t>
            </a:r>
          </a:p>
          <a:p>
            <a:endParaRPr lang="en-CA" dirty="0">
              <a:solidFill>
                <a:schemeClr val="tx1"/>
              </a:solidFill>
              <a:latin typeface="Helvetica Neue Light" panose="020B0604020202020204" charset="0"/>
            </a:endParaRPr>
          </a:p>
          <a:p>
            <a:endParaRPr lang="en-CA" b="1" dirty="0">
              <a:solidFill>
                <a:schemeClr val="tx1"/>
              </a:solidFill>
              <a:latin typeface="Helvetica Neue Light" panose="020B0604020202020204" charset="0"/>
            </a:endParaRPr>
          </a:p>
          <a:p>
            <a:r>
              <a:rPr lang="en-CA" b="1" dirty="0">
                <a:solidFill>
                  <a:schemeClr val="tx1"/>
                </a:solidFill>
                <a:latin typeface="Helvetica Neue Light" panose="020B0604020202020204" charset="0"/>
              </a:rPr>
              <a:t>2022</a:t>
            </a:r>
          </a:p>
          <a:p>
            <a:r>
              <a:rPr lang="en-CA" dirty="0">
                <a:solidFill>
                  <a:schemeClr val="tx1"/>
                </a:solidFill>
                <a:latin typeface="Helvetica Neue Light" panose="020B0604020202020204" charset="0"/>
              </a:rPr>
              <a:t>AVITI (Element Biosciences)</a:t>
            </a:r>
          </a:p>
          <a:p>
            <a:endParaRPr lang="en-CA" dirty="0">
              <a:solidFill>
                <a:schemeClr val="tx1"/>
              </a:solidFill>
              <a:latin typeface="Helvetica Neue Light" panose="020B0604020202020204" charset="0"/>
            </a:endParaRPr>
          </a:p>
          <a:p>
            <a:r>
              <a:rPr lang="en-CA" b="1" dirty="0">
                <a:solidFill>
                  <a:schemeClr val="tx1"/>
                </a:solidFill>
                <a:latin typeface="Helvetica Neue Light" panose="020B0604020202020204" charset="0"/>
              </a:rPr>
              <a:t>2023</a:t>
            </a:r>
          </a:p>
          <a:p>
            <a:r>
              <a:rPr lang="en-CA" dirty="0">
                <a:solidFill>
                  <a:schemeClr val="tx1"/>
                </a:solidFill>
                <a:latin typeface="Helvetica Neue Light" panose="020B0604020202020204" charset="0"/>
              </a:rPr>
              <a:t>Complete Genomics</a:t>
            </a:r>
          </a:p>
          <a:p>
            <a:endParaRPr lang="en-CA" dirty="0">
              <a:solidFill>
                <a:schemeClr val="tx1"/>
              </a:solidFill>
              <a:latin typeface="Helvetica Neue Light" panose="020B0604020202020204" charset="0"/>
            </a:endParaRPr>
          </a:p>
          <a:p>
            <a:r>
              <a:rPr lang="en-CA" b="1" dirty="0">
                <a:solidFill>
                  <a:schemeClr val="tx1"/>
                </a:solidFill>
                <a:latin typeface="Helvetica Neue Light" panose="020B0604020202020204" charset="0"/>
              </a:rPr>
              <a:t>2024</a:t>
            </a:r>
          </a:p>
          <a:p>
            <a:r>
              <a:rPr lang="en-CA" dirty="0">
                <a:solidFill>
                  <a:schemeClr val="tx1"/>
                </a:solidFill>
                <a:latin typeface="Helvetica Neue Light" panose="020B0604020202020204" charset="0"/>
              </a:rPr>
              <a:t>Ultima</a:t>
            </a:r>
          </a:p>
          <a:p>
            <a:endParaRPr lang="en-CA" dirty="0">
              <a:solidFill>
                <a:schemeClr val="tx1"/>
              </a:solidFill>
              <a:latin typeface="Helvetica Neue Light" panose="020B0604020202020204" charset="0"/>
            </a:endParaRPr>
          </a:p>
        </p:txBody>
      </p:sp>
    </p:spTree>
    <p:extLst>
      <p:ext uri="{BB962C8B-B14F-4D97-AF65-F5344CB8AC3E}">
        <p14:creationId xmlns:p14="http://schemas.microsoft.com/office/powerpoint/2010/main" val="1567934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Helvetica Neue Light"/>
              <a:buNone/>
            </a:pPr>
            <a:r>
              <a:rPr lang="en-US" dirty="0"/>
              <a:t>Summary</a:t>
            </a:r>
            <a:endParaRPr dirty="0"/>
          </a:p>
        </p:txBody>
      </p:sp>
      <p:sp>
        <p:nvSpPr>
          <p:cNvPr id="105" name="Google Shape;105;p4"/>
          <p:cNvSpPr txBox="1">
            <a:spLocks noGrp="1"/>
          </p:cNvSpPr>
          <p:nvPr>
            <p:ph type="body" idx="1"/>
          </p:nvPr>
        </p:nvSpPr>
        <p:spPr>
          <a:xfrm>
            <a:off x="838200" y="1825625"/>
            <a:ext cx="5638800" cy="4351338"/>
          </a:xfrm>
          <a:prstGeom prst="rect">
            <a:avLst/>
          </a:prstGeom>
          <a:noFill/>
          <a:ln>
            <a:noFill/>
          </a:ln>
        </p:spPr>
        <p:txBody>
          <a:bodyPr spcFirstLastPara="1" wrap="square" lIns="91425" tIns="45700" rIns="91425" bIns="45700" anchor="t" anchorCtr="0">
            <a:normAutofit/>
          </a:bodyPr>
          <a:lstStyle/>
          <a:p>
            <a:pPr algn="l">
              <a:spcBef>
                <a:spcPts val="2400"/>
              </a:spcBef>
            </a:pPr>
            <a:r>
              <a:rPr lang="en-US" sz="2400" b="0" i="0" u="none" strike="noStrike" baseline="0" dirty="0">
                <a:latin typeface="Helvetica Neue Light" panose="020B0604020202020204" charset="0"/>
              </a:rPr>
              <a:t>Technology is constantly changing</a:t>
            </a:r>
          </a:p>
          <a:p>
            <a:pPr algn="l">
              <a:spcBef>
                <a:spcPts val="2400"/>
              </a:spcBef>
            </a:pPr>
            <a:r>
              <a:rPr lang="en-US" sz="2400" dirty="0">
                <a:latin typeface="Helvetica Neue Light" panose="020B0604020202020204" charset="0"/>
              </a:rPr>
              <a:t>Enables more science:</a:t>
            </a:r>
          </a:p>
          <a:p>
            <a:pPr marL="723900" indent="0" algn="l">
              <a:spcBef>
                <a:spcPts val="2400"/>
              </a:spcBef>
              <a:buNone/>
            </a:pPr>
            <a:r>
              <a:rPr lang="en-US" sz="2400" b="1" dirty="0">
                <a:latin typeface="Helvetica Neue Light" panose="020B0604020202020204" charset="0"/>
              </a:rPr>
              <a:t>What can I ask now that I never could before?</a:t>
            </a:r>
            <a:endParaRPr lang="en-US" sz="2400" b="1" i="0" u="none" strike="noStrike" baseline="0" dirty="0">
              <a:latin typeface="Helvetica Neue Light" panose="020B0604020202020204" charset="0"/>
            </a:endParaRPr>
          </a:p>
        </p:txBody>
      </p:sp>
      <p:sp>
        <p:nvSpPr>
          <p:cNvPr id="106" name="Google Shape;106;p4"/>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23</a:t>
            </a:fld>
            <a:endParaRPr/>
          </a:p>
        </p:txBody>
      </p:sp>
      <p:pic>
        <p:nvPicPr>
          <p:cNvPr id="8194" name="Picture 2" descr="Looking at genomes from a new angle reveals patterns hidden in seemingly  random differences | Whitehead Institute">
            <a:extLst>
              <a:ext uri="{FF2B5EF4-FFF2-40B4-BE49-F238E27FC236}">
                <a16:creationId xmlns:a16="http://schemas.microsoft.com/office/drawing/2014/main" id="{AE209A94-2567-46D4-9A90-DFB8292026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121" b="18427"/>
          <a:stretch/>
        </p:blipFill>
        <p:spPr bwMode="auto">
          <a:xfrm>
            <a:off x="957263" y="4896586"/>
            <a:ext cx="4592637" cy="1280377"/>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Structure of DNA; drawing shows a chromosome, nucleosome, histone, gene, and nucleotide base pairs: guanine, cytosine, adenine, and thymine. Also shown is a cell and its nucleus.">
            <a:extLst>
              <a:ext uri="{FF2B5EF4-FFF2-40B4-BE49-F238E27FC236}">
                <a16:creationId xmlns:a16="http://schemas.microsoft.com/office/drawing/2014/main" id="{C007BB19-E312-467F-8678-E0B2546D0B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6063" y="1200150"/>
            <a:ext cx="5438775" cy="445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40864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6"/>
          <p:cNvSpPr txBox="1">
            <a:spLocks noGrp="1"/>
          </p:cNvSpPr>
          <p:nvPr>
            <p:ph type="title"/>
          </p:nvPr>
        </p:nvSpPr>
        <p:spPr>
          <a:xfrm>
            <a:off x="838200" y="2103437"/>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Helvetica Neue Light"/>
              <a:buNone/>
            </a:pPr>
            <a:r>
              <a:rPr lang="en-US" dirty="0"/>
              <a:t>Lunch Break</a:t>
            </a:r>
            <a:endParaRPr dirty="0"/>
          </a:p>
        </p:txBody>
      </p:sp>
      <p:sp>
        <p:nvSpPr>
          <p:cNvPr id="120" name="Google Shape;120;p6"/>
          <p:cNvSpPr txBox="1">
            <a:spLocks noGrp="1"/>
          </p:cNvSpPr>
          <p:nvPr>
            <p:ph type="body" idx="1"/>
          </p:nvPr>
        </p:nvSpPr>
        <p:spPr>
          <a:xfrm>
            <a:off x="4386275" y="4087063"/>
            <a:ext cx="3419400" cy="5175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1"/>
              </a:buClr>
              <a:buSzPts val="2000"/>
              <a:buNone/>
            </a:pPr>
            <a:r>
              <a:rPr lang="en-US" sz="2000"/>
              <a:t>Workshop Sponsors</a:t>
            </a:r>
            <a:endParaRPr/>
          </a:p>
        </p:txBody>
      </p:sp>
      <p:pic>
        <p:nvPicPr>
          <p:cNvPr id="121" name="Google Shape;121;p6" title="cihr.png"/>
          <p:cNvPicPr preferRelativeResize="0"/>
          <p:nvPr/>
        </p:nvPicPr>
        <p:blipFill rotWithShape="1">
          <a:blip r:embed="rId3">
            <a:alphaModFix/>
          </a:blip>
          <a:srcRect/>
          <a:stretch/>
        </p:blipFill>
        <p:spPr>
          <a:xfrm>
            <a:off x="178890" y="4826757"/>
            <a:ext cx="3500780" cy="833735"/>
          </a:xfrm>
          <a:prstGeom prst="rect">
            <a:avLst/>
          </a:prstGeom>
          <a:noFill/>
          <a:ln>
            <a:noFill/>
          </a:ln>
        </p:spPr>
      </p:pic>
      <p:pic>
        <p:nvPicPr>
          <p:cNvPr id="122" name="Google Shape;122;p6" title="oicr.png"/>
          <p:cNvPicPr preferRelativeResize="0"/>
          <p:nvPr/>
        </p:nvPicPr>
        <p:blipFill rotWithShape="1">
          <a:blip r:embed="rId4">
            <a:alphaModFix/>
          </a:blip>
          <a:srcRect/>
          <a:stretch/>
        </p:blipFill>
        <p:spPr>
          <a:xfrm>
            <a:off x="8018232" y="4787446"/>
            <a:ext cx="1256757" cy="912349"/>
          </a:xfrm>
          <a:prstGeom prst="rect">
            <a:avLst/>
          </a:prstGeom>
          <a:noFill/>
          <a:ln>
            <a:noFill/>
          </a:ln>
        </p:spPr>
      </p:pic>
      <p:pic>
        <p:nvPicPr>
          <p:cNvPr id="123" name="Google Shape;123;p6" title="genomecanada.png"/>
          <p:cNvPicPr preferRelativeResize="0"/>
          <p:nvPr/>
        </p:nvPicPr>
        <p:blipFill rotWithShape="1">
          <a:blip r:embed="rId5">
            <a:alphaModFix/>
          </a:blip>
          <a:srcRect/>
          <a:stretch/>
        </p:blipFill>
        <p:spPr>
          <a:xfrm>
            <a:off x="3898627" y="4826745"/>
            <a:ext cx="1724888" cy="833750"/>
          </a:xfrm>
          <a:prstGeom prst="rect">
            <a:avLst/>
          </a:prstGeom>
          <a:noFill/>
          <a:ln>
            <a:noFill/>
          </a:ln>
        </p:spPr>
      </p:pic>
      <p:pic>
        <p:nvPicPr>
          <p:cNvPr id="124" name="Google Shape;124;p6" title="ontariogenomics.png"/>
          <p:cNvPicPr preferRelativeResize="0"/>
          <p:nvPr/>
        </p:nvPicPr>
        <p:blipFill rotWithShape="1">
          <a:blip r:embed="rId6">
            <a:alphaModFix/>
          </a:blip>
          <a:srcRect/>
          <a:stretch/>
        </p:blipFill>
        <p:spPr>
          <a:xfrm>
            <a:off x="5842488" y="4852281"/>
            <a:ext cx="1956783" cy="782704"/>
          </a:xfrm>
          <a:prstGeom prst="rect">
            <a:avLst/>
          </a:prstGeom>
          <a:noFill/>
          <a:ln>
            <a:noFill/>
          </a:ln>
        </p:spPr>
      </p:pic>
      <p:sp>
        <p:nvSpPr>
          <p:cNvPr id="125" name="Google Shape;125;p6"/>
          <p:cNvSpPr txBox="1">
            <a:spLocks noGrp="1"/>
          </p:cNvSpPr>
          <p:nvPr>
            <p:ph type="sldNum" idx="12"/>
          </p:nvPr>
        </p:nvSpPr>
        <p:spPr>
          <a:xfrm>
            <a:off x="11409050" y="6493028"/>
            <a:ext cx="731700" cy="365100"/>
          </a:xfrm>
          <a:prstGeom prst="rect">
            <a:avLst/>
          </a:prstGeom>
          <a:noFill/>
          <a:ln>
            <a:noFill/>
          </a:ln>
        </p:spPr>
        <p:txBody>
          <a:bodyPr spcFirstLastPara="1" wrap="square" lIns="91425" tIns="91425" rIns="91425" bIns="91425" anchor="t" anchorCtr="0">
            <a:noAutofit/>
          </a:bodyPr>
          <a:lstStyle/>
          <a:p>
            <a:pPr marL="0" lvl="0" indent="0" algn="r" rtl="0">
              <a:lnSpc>
                <a:spcPct val="100000"/>
              </a:lnSpc>
              <a:spcBef>
                <a:spcPts val="0"/>
              </a:spcBef>
              <a:spcAft>
                <a:spcPts val="0"/>
              </a:spcAft>
              <a:buSzPts val="1300"/>
              <a:buNone/>
            </a:pPr>
            <a:fld id="{00000000-1234-1234-1234-123412341234}" type="slidenum">
              <a:rPr lang="en-US"/>
              <a:t>24</a:t>
            </a:fld>
            <a:endParaRPr/>
          </a:p>
        </p:txBody>
      </p:sp>
      <p:pic>
        <p:nvPicPr>
          <p:cNvPr id="126" name="Google Shape;126;p6"/>
          <p:cNvPicPr preferRelativeResize="0"/>
          <p:nvPr/>
        </p:nvPicPr>
        <p:blipFill rotWithShape="1">
          <a:blip r:embed="rId7">
            <a:alphaModFix/>
          </a:blip>
          <a:srcRect/>
          <a:stretch/>
        </p:blipFill>
        <p:spPr>
          <a:xfrm>
            <a:off x="9493962" y="4944438"/>
            <a:ext cx="2519149" cy="598375"/>
          </a:xfrm>
          <a:prstGeom prst="rect">
            <a:avLst/>
          </a:prstGeom>
          <a:noFill/>
          <a:ln>
            <a:noFill/>
          </a:ln>
        </p:spPr>
      </p:pic>
    </p:spTree>
  </p:cSld>
  <p:clrMapOvr>
    <a:masterClrMapping/>
  </p:clrMapOvr>
</p:sld>
</file>

<file path=ppt/theme/theme1.xml><?xml version="1.0" encoding="utf-8"?>
<a:theme xmlns:a="http://schemas.openxmlformats.org/drawingml/2006/main" name="1_Custom Design">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9266</TotalTime>
  <Words>1005</Words>
  <Application>Microsoft Office PowerPoint</Application>
  <PresentationFormat>Widescreen</PresentationFormat>
  <Paragraphs>180</Paragraphs>
  <Slides>24</Slides>
  <Notes>24</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24</vt:i4>
      </vt:variant>
    </vt:vector>
  </HeadingPairs>
  <TitlesOfParts>
    <vt:vector size="31" baseType="lpstr">
      <vt:lpstr>Arial</vt:lpstr>
      <vt:lpstr>Helvetica Neue</vt:lpstr>
      <vt:lpstr>Manrope</vt:lpstr>
      <vt:lpstr>Helvetica Neue Light</vt:lpstr>
      <vt:lpstr>1_Custom Design</vt:lpstr>
      <vt:lpstr>Office Theme</vt:lpstr>
      <vt:lpstr>Custom Design</vt:lpstr>
      <vt:lpstr>PowerPoint Presentation</vt:lpstr>
      <vt:lpstr>PowerPoint Presentation</vt:lpstr>
      <vt:lpstr>Module #1b: Application Scenarios</vt:lpstr>
      <vt:lpstr>Scenarios</vt:lpstr>
      <vt:lpstr>Introductions (10 mins)</vt:lpstr>
      <vt:lpstr>Scenario 1: Pneumonia outbreak</vt:lpstr>
      <vt:lpstr>Scenario 1: Pneumonia outbreak</vt:lpstr>
      <vt:lpstr>Scenario 1: Pneumonia outbreak</vt:lpstr>
      <vt:lpstr>Scenario 1: Pneumonia outbreak</vt:lpstr>
      <vt:lpstr>Scenario 1: Pneumonia outbreak</vt:lpstr>
      <vt:lpstr>Scenario 2: Unknown cancer</vt:lpstr>
      <vt:lpstr>Scenario 2: Unknown cancer</vt:lpstr>
      <vt:lpstr>Scenario 2: Unknown cancer</vt:lpstr>
      <vt:lpstr>Scenario 2: Unknown cancer</vt:lpstr>
      <vt:lpstr>Scenario 2: Unknown cancer</vt:lpstr>
      <vt:lpstr>Scenario 3: Novel species</vt:lpstr>
      <vt:lpstr>Scenario 3: Novel species</vt:lpstr>
      <vt:lpstr>Scenario 3: Novel species</vt:lpstr>
      <vt:lpstr>Scenario 3: Novel species</vt:lpstr>
      <vt:lpstr>Your own research</vt:lpstr>
      <vt:lpstr>Summary</vt:lpstr>
      <vt:lpstr>DNA sequencing history</vt:lpstr>
      <vt:lpstr>Summary</vt:lpstr>
      <vt:lpstr>Lunch Break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Nia Hughes</dc:creator>
  <cp:lastModifiedBy>Erin Pleasance</cp:lastModifiedBy>
  <cp:revision>140</cp:revision>
  <dcterms:created xsi:type="dcterms:W3CDTF">2025-05-15T14:28:53Z</dcterms:created>
  <dcterms:modified xsi:type="dcterms:W3CDTF">2026-10-26T19:30:23Z</dcterms:modified>
</cp:coreProperties>
</file>