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0" r:id="rId2"/>
    <p:sldMasterId id="2147483662" r:id="rId3"/>
  </p:sldMasterIdLst>
  <p:notesMasterIdLst>
    <p:notesMasterId r:id="rId64"/>
  </p:notesMasterIdLst>
  <p:sldIdLst>
    <p:sldId id="256" r:id="rId4"/>
    <p:sldId id="257" r:id="rId5"/>
    <p:sldId id="258" r:id="rId6"/>
    <p:sldId id="259" r:id="rId7"/>
    <p:sldId id="262" r:id="rId8"/>
    <p:sldId id="264" r:id="rId9"/>
    <p:sldId id="265" r:id="rId10"/>
    <p:sldId id="266" r:id="rId11"/>
    <p:sldId id="269" r:id="rId12"/>
    <p:sldId id="267" r:id="rId13"/>
    <p:sldId id="270" r:id="rId14"/>
    <p:sldId id="272" r:id="rId15"/>
    <p:sldId id="271" r:id="rId16"/>
    <p:sldId id="273" r:id="rId17"/>
    <p:sldId id="260" r:id="rId18"/>
    <p:sldId id="274" r:id="rId19"/>
    <p:sldId id="275" r:id="rId20"/>
    <p:sldId id="276" r:id="rId21"/>
    <p:sldId id="325" r:id="rId22"/>
    <p:sldId id="277" r:id="rId23"/>
    <p:sldId id="278" r:id="rId24"/>
    <p:sldId id="279" r:id="rId25"/>
    <p:sldId id="280" r:id="rId26"/>
    <p:sldId id="282" r:id="rId27"/>
    <p:sldId id="283" r:id="rId28"/>
    <p:sldId id="284" r:id="rId29"/>
    <p:sldId id="285" r:id="rId30"/>
    <p:sldId id="289" r:id="rId31"/>
    <p:sldId id="286" r:id="rId32"/>
    <p:sldId id="287" r:id="rId33"/>
    <p:sldId id="296" r:id="rId34"/>
    <p:sldId id="288" r:id="rId35"/>
    <p:sldId id="290" r:id="rId36"/>
    <p:sldId id="291" r:id="rId37"/>
    <p:sldId id="292" r:id="rId38"/>
    <p:sldId id="293" r:id="rId39"/>
    <p:sldId id="297" r:id="rId40"/>
    <p:sldId id="299" r:id="rId41"/>
    <p:sldId id="298" r:id="rId42"/>
    <p:sldId id="300" r:id="rId43"/>
    <p:sldId id="301" r:id="rId44"/>
    <p:sldId id="302" r:id="rId45"/>
    <p:sldId id="303" r:id="rId46"/>
    <p:sldId id="304" r:id="rId47"/>
    <p:sldId id="305" r:id="rId48"/>
    <p:sldId id="306" r:id="rId49"/>
    <p:sldId id="294" r:id="rId50"/>
    <p:sldId id="307" r:id="rId51"/>
    <p:sldId id="308" r:id="rId52"/>
    <p:sldId id="315" r:id="rId53"/>
    <p:sldId id="316" r:id="rId54"/>
    <p:sldId id="295" r:id="rId55"/>
    <p:sldId id="317" r:id="rId56"/>
    <p:sldId id="328" r:id="rId57"/>
    <p:sldId id="329" r:id="rId58"/>
    <p:sldId id="327" r:id="rId59"/>
    <p:sldId id="324" r:id="rId60"/>
    <p:sldId id="326" r:id="rId61"/>
    <p:sldId id="330" r:id="rId62"/>
    <p:sldId id="261" r:id="rId63"/>
  </p:sldIdLst>
  <p:sldSz cx="12192000" cy="6858000"/>
  <p:notesSz cx="6858000" cy="9144000"/>
  <p:embeddedFontLst>
    <p:embeddedFont>
      <p:font typeface="Helvetica Neue" panose="020B0604020202020204" charset="0"/>
      <p:regular r:id="rId65"/>
      <p:bold r:id="rId66"/>
      <p:italic r:id="rId67"/>
      <p:boldItalic r:id="rId68"/>
    </p:embeddedFont>
    <p:embeddedFont>
      <p:font typeface="Helvetica Neue Light" panose="020B0604020202020204" charset="0"/>
      <p:regular r:id="rId69"/>
      <p:bold r:id="rId70"/>
      <p:italic r:id="rId71"/>
      <p:boldItalic r:id="rId72"/>
    </p:embeddedFont>
    <p:embeddedFont>
      <p:font typeface="Manrope" panose="020B0604020202020204" charset="0"/>
      <p:regular r:id="rId73"/>
      <p:bold r:id="rId7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75" roundtripDataSignature="AMtx7mh9VR97KJQ+WksNuSOp9ZuQxzPL7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54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63" Type="http://schemas.openxmlformats.org/officeDocument/2006/relationships/slide" Target="slides/slide60.xml"/><Relationship Id="rId68" Type="http://schemas.openxmlformats.org/officeDocument/2006/relationships/font" Target="fonts/font4.fntdata"/><Relationship Id="rId76" Type="http://schemas.openxmlformats.org/officeDocument/2006/relationships/presProps" Target="presProps.xml"/><Relationship Id="rId7" Type="http://schemas.openxmlformats.org/officeDocument/2006/relationships/slide" Target="slides/slide4.xml"/><Relationship Id="rId71" Type="http://schemas.openxmlformats.org/officeDocument/2006/relationships/font" Target="fonts/font7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font" Target="fonts/font2.fntdata"/><Relationship Id="rId74" Type="http://schemas.openxmlformats.org/officeDocument/2006/relationships/font" Target="fonts/font10.fntdata"/><Relationship Id="rId79" Type="http://schemas.openxmlformats.org/officeDocument/2006/relationships/tableStyles" Target="tableStyles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font" Target="fonts/font1.fntdata"/><Relationship Id="rId73" Type="http://schemas.openxmlformats.org/officeDocument/2006/relationships/font" Target="fonts/font9.fntdata"/><Relationship Id="rId78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notesMaster" Target="notesMasters/notesMaster1.xml"/><Relationship Id="rId69" Type="http://schemas.openxmlformats.org/officeDocument/2006/relationships/font" Target="fonts/font5.fntdata"/><Relationship Id="rId77" Type="http://schemas.openxmlformats.org/officeDocument/2006/relationships/viewProps" Target="viewProp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font" Target="fonts/font8.fntdata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font" Target="fonts/font3.fntdata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font" Target="fonts/font6.fntdata"/><Relationship Id="rId75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" name="Google Shape;7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0" name="Google Shape;80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3" name="Google Shape;9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282720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7" name="Google Shape;117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037491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567728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989809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03096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684690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328767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478153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504043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556844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9" name="Google Shape;10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9" name="Google Shape;10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083803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9" name="Google Shape;10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709990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9" name="Google Shape;10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4765514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9" name="Google Shape;10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1601359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9" name="Google Shape;10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2328173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9" name="Google Shape;10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2015214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9" name="Google Shape;10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2966874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9" name="Google Shape;10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0194315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9" name="Google Shape;10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3196040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9" name="Google Shape;10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6866508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9" name="Google Shape;10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3831344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9" name="Google Shape;10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400291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9" name="Google Shape;10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6428891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9" name="Google Shape;10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5046506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9" name="Google Shape;10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8027641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9" name="Google Shape;10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4028228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9" name="Google Shape;10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2092764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9" name="Google Shape;10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8845058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9" name="Google Shape;10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798061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9" name="Google Shape;10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5615540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9" name="Google Shape;10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0236490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9" name="Google Shape;10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8263343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9" name="Google Shape;10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1485811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9" name="Google Shape;10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0368257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9" name="Google Shape;10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9905058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9" name="Google Shape;10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4345801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9" name="Google Shape;10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0751275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9" name="Google Shape;10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9802652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9" name="Google Shape;10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3651692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9" name="Google Shape;10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3601885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9" name="Google Shape;10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5461894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9" name="Google Shape;10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7407013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9" name="Google Shape;10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8553520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9" name="Google Shape;10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5893216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9" name="Google Shape;10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7725262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9" name="Google Shape;10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0643430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9" name="Google Shape;10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79958130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9" name="Google Shape;10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71229542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9" name="Google Shape;10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23572030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9" name="Google Shape;10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63207815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9" name="Google Shape;10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49466397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9" name="Google Shape;10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4308293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9" name="Google Shape;10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32434530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9" name="Google Shape;10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7049641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7" name="Google Shape;117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60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8"/>
          <p:cNvSpPr txBox="1">
            <a:spLocks noGrp="1"/>
          </p:cNvSpPr>
          <p:nvPr>
            <p:ph type="ctrTitle"/>
          </p:nvPr>
        </p:nvSpPr>
        <p:spPr>
          <a:xfrm>
            <a:off x="2548581" y="2505673"/>
            <a:ext cx="7094700" cy="10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Helvetica Neue Light"/>
              <a:buNone/>
              <a:defRPr sz="6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subTitle" idx="1"/>
          </p:nvPr>
        </p:nvSpPr>
        <p:spPr>
          <a:xfrm>
            <a:off x="3690730" y="3532213"/>
            <a:ext cx="48105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Helvetica Neue"/>
              <a:buNone/>
              <a:defRPr sz="60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13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Helvetica Neue Light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14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757575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757575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757575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757575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757575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757575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757575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757575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757575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5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6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7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8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 Light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3" name="Google Shape;53;p1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4" name="Google Shape;54;p19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 Light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2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9" name="Google Shape;59;p20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1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21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2"/>
          <p:cNvSpPr txBox="1">
            <a:spLocks noGrp="1"/>
          </p:cNvSpPr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2"/>
          <p:cNvSpPr txBox="1">
            <a:spLocks noGrp="1"/>
          </p:cNvSpPr>
          <p:nvPr>
            <p:ph type="body" idx="1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22"/>
          <p:cNvSpPr txBox="1">
            <a:spLocks noGrp="1"/>
          </p:cNvSpPr>
          <p:nvPr>
            <p:ph type="sldNum" idx="12"/>
          </p:nvPr>
        </p:nvSpPr>
        <p:spPr>
          <a:xfrm>
            <a:off x="11460295" y="6473109"/>
            <a:ext cx="7317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orkshop title slide">
  <p:cSld name="Workshop title slide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>
            <a:spLocks noGrp="1"/>
          </p:cNvSpPr>
          <p:nvPr>
            <p:ph type="ctrTitle"/>
          </p:nvPr>
        </p:nvSpPr>
        <p:spPr>
          <a:xfrm>
            <a:off x="640492" y="2250180"/>
            <a:ext cx="7094700" cy="10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Helvetica Neue Light"/>
              <a:buNone/>
              <a:defRPr sz="6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4" name="Google Shape;74;p12" descr="A logo with white dots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980843" y="236128"/>
            <a:ext cx="2653569" cy="1326784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2"/>
          <p:cNvSpPr txBox="1"/>
          <p:nvPr/>
        </p:nvSpPr>
        <p:spPr>
          <a:xfrm>
            <a:off x="0" y="6521547"/>
            <a:ext cx="4810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Canadian Bioinformatics Workshops | bioinformatics.ca</a:t>
            </a:r>
            <a:endParaRPr sz="1400" b="0" i="0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6" name="Google Shape;76;p12"/>
          <p:cNvSpPr txBox="1">
            <a:spLocks noGrp="1"/>
          </p:cNvSpPr>
          <p:nvPr>
            <p:ph type="subTitle" idx="1"/>
          </p:nvPr>
        </p:nvSpPr>
        <p:spPr>
          <a:xfrm>
            <a:off x="1782641" y="3276720"/>
            <a:ext cx="48105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4393F"/>
            </a:gs>
            <a:gs pos="45000">
              <a:srgbClr val="70247F"/>
            </a:gs>
            <a:gs pos="100000">
              <a:srgbClr val="B40805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Helvetica Neue Light"/>
              <a:buNone/>
              <a:defRPr sz="4400" b="0" i="0" u="none" strike="noStrike" cap="non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/>
          <p:nvPr/>
        </p:nvSpPr>
        <p:spPr>
          <a:xfrm>
            <a:off x="0" y="6492874"/>
            <a:ext cx="12192000" cy="365100"/>
          </a:xfrm>
          <a:prstGeom prst="rect">
            <a:avLst/>
          </a:prstGeom>
          <a:solidFill>
            <a:srgbClr val="70247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  <a:defRPr sz="4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Google Shape;18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9"/>
          <p:cNvSpPr txBox="1"/>
          <p:nvPr/>
        </p:nvSpPr>
        <p:spPr>
          <a:xfrm>
            <a:off x="0" y="6521547"/>
            <a:ext cx="4810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Canadian Bioinformatics Workshops | bioinformatics.ca</a:t>
            </a:r>
            <a:endParaRPr sz="1400" b="0" i="0" u="none" strike="noStrike" cap="none">
              <a:solidFill>
                <a:schemeClr val="lt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20" name="Google Shape;20;p9" descr="Purple circles on a black background&#10;&#10;AI-generated content may be incorrect.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1352340" y="0"/>
            <a:ext cx="839659" cy="839659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9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/>
          <p:nvPr/>
        </p:nvSpPr>
        <p:spPr>
          <a:xfrm>
            <a:off x="0" y="0"/>
            <a:ext cx="8610600" cy="6858000"/>
          </a:xfrm>
          <a:prstGeom prst="rect">
            <a:avLst/>
          </a:prstGeom>
          <a:gradFill>
            <a:gsLst>
              <a:gs pos="0">
                <a:srgbClr val="24393F"/>
              </a:gs>
              <a:gs pos="54000">
                <a:srgbClr val="70247F"/>
              </a:gs>
              <a:gs pos="100000">
                <a:srgbClr val="B40805"/>
              </a:gs>
            </a:gsLst>
            <a:path path="circle">
              <a:fillToRect l="100000" t="100000"/>
            </a:path>
            <a:tileRect r="-100000" b="-100000"/>
          </a:gradFill>
          <a:ln w="19050" cap="flat" cmpd="sng">
            <a:solidFill>
              <a:srgbClr val="082836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Helvetica Neue Light"/>
              <a:buNone/>
              <a:defRPr sz="4400" b="0" i="0" u="none" strike="noStrike" cap="non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https://genome.ucsc.edu/" TargetMode="External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5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4393F"/>
            </a:gs>
            <a:gs pos="24000">
              <a:srgbClr val="70247F"/>
            </a:gs>
            <a:gs pos="100000">
              <a:srgbClr val="B40805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"/>
          <p:cNvSpPr txBox="1">
            <a:spLocks noGrp="1"/>
          </p:cNvSpPr>
          <p:nvPr>
            <p:ph type="subTitle" idx="1"/>
          </p:nvPr>
        </p:nvSpPr>
        <p:spPr>
          <a:xfrm>
            <a:off x="6801238" y="3429000"/>
            <a:ext cx="4567235" cy="781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 sz="4400" b="1">
                <a:latin typeface="Helvetica Neue"/>
                <a:ea typeface="Helvetica Neue"/>
                <a:cs typeface="Helvetica Neue"/>
                <a:sym typeface="Helvetica Neue"/>
              </a:rPr>
              <a:t>bioinformatics.ca</a:t>
            </a:r>
            <a:endParaRPr/>
          </a:p>
        </p:txBody>
      </p:sp>
      <p:pic>
        <p:nvPicPr>
          <p:cNvPr id="83" name="Google Shape;83;p1" descr="A logo with white dots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 l="12297" r="12122"/>
          <a:stretch/>
        </p:blipFill>
        <p:spPr>
          <a:xfrm>
            <a:off x="670379" y="1341316"/>
            <a:ext cx="5766816" cy="3815097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"/>
          <p:cNvSpPr txBox="1"/>
          <p:nvPr/>
        </p:nvSpPr>
        <p:spPr>
          <a:xfrm>
            <a:off x="6648092" y="4210755"/>
            <a:ext cx="4873529" cy="416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bioinformaticsdotca.github.io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10523913" y="465513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85493" y="271515"/>
            <a:ext cx="4021014" cy="6033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"/>
          <p:cNvSpPr txBox="1">
            <a:spLocks noGrp="1"/>
          </p:cNvSpPr>
          <p:nvPr>
            <p:ph type="ctrTitle"/>
          </p:nvPr>
        </p:nvSpPr>
        <p:spPr>
          <a:xfrm>
            <a:off x="640492" y="2250180"/>
            <a:ext cx="7094838" cy="102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Helvetica Neue Light"/>
              <a:buNone/>
            </a:pPr>
            <a:r>
              <a:rPr lang="en-US" b="1" dirty="0"/>
              <a:t>Module 2:</a:t>
            </a:r>
            <a:br>
              <a:rPr lang="en-US" b="1" dirty="0"/>
            </a:br>
            <a:r>
              <a:rPr lang="en-US" b="1" dirty="0"/>
              <a:t>Genome Visualization</a:t>
            </a:r>
            <a:endParaRPr dirty="0"/>
          </a:p>
        </p:txBody>
      </p:sp>
      <p:sp>
        <p:nvSpPr>
          <p:cNvPr id="96" name="Google Shape;96;p3"/>
          <p:cNvSpPr txBox="1">
            <a:spLocks noGrp="1"/>
          </p:cNvSpPr>
          <p:nvPr>
            <p:ph type="subTitle" idx="1"/>
          </p:nvPr>
        </p:nvSpPr>
        <p:spPr>
          <a:xfrm>
            <a:off x="1782641" y="3342345"/>
            <a:ext cx="48105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 dirty="0"/>
              <a:t>Dr. Erin Pleasance</a:t>
            </a:r>
            <a:endParaRPr dirty="0"/>
          </a:p>
          <a:p>
            <a:pPr marL="0" lvl="0" indent="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 dirty="0"/>
              <a:t>CBW High-Throughput Genomics</a:t>
            </a:r>
            <a:endParaRPr dirty="0"/>
          </a:p>
          <a:p>
            <a:pPr marL="0" lvl="0" indent="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 dirty="0"/>
              <a:t>November 4-6, 2026</a:t>
            </a:r>
            <a:endParaRPr dirty="0"/>
          </a:p>
          <a:p>
            <a:pPr marL="0" lvl="0" indent="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endParaRPr dirty="0"/>
          </a:p>
        </p:txBody>
      </p:sp>
      <p:pic>
        <p:nvPicPr>
          <p:cNvPr id="98" name="Google Shape;98;p3" title="HTG_logo_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99561" y="557625"/>
            <a:ext cx="2881750" cy="288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D5C7BE7E-53ED-49D9-AB10-8FB74D7BCB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0213" y="3780581"/>
            <a:ext cx="2698292" cy="1312201"/>
          </a:xfrm>
          <a:prstGeom prst="rect">
            <a:avLst/>
          </a:prstGeom>
          <a:ln w="3175">
            <a:miter lim="400000"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50C8C05-0693-4FDA-B92F-68B3E2991F04}"/>
              </a:ext>
            </a:extLst>
          </p:cNvPr>
          <p:cNvSpPr txBox="1"/>
          <p:nvPr/>
        </p:nvSpPr>
        <p:spPr>
          <a:xfrm>
            <a:off x="9060213" y="6111089"/>
            <a:ext cx="28817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" panose="020B0604020202020204" charset="0"/>
              </a:rPr>
              <a:t>Some slides adapted from Rob Syme and previous instructors</a:t>
            </a:r>
            <a:endParaRPr lang="en-CA" dirty="0">
              <a:solidFill>
                <a:schemeClr val="tx1">
                  <a:lumMod val="50000"/>
                  <a:lumOff val="50000"/>
                </a:schemeClr>
              </a:solidFill>
              <a:latin typeface="Helvetica Neue" panose="020B06040202020202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/>
              <a:t>Learning Objectives</a:t>
            </a:r>
            <a:endParaRPr/>
          </a:p>
        </p:txBody>
      </p:sp>
      <p:sp>
        <p:nvSpPr>
          <p:cNvPr id="105" name="Google Shape;105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l"/>
            <a:r>
              <a:rPr lang="en-US" sz="2400" b="0" i="0" u="none" strike="noStrike" baseline="0" dirty="0">
                <a:latin typeface="Helvetica Neue Light" panose="020B0604020202020204" charset="0"/>
              </a:rPr>
              <a:t>Understand the value and diversity of data visualization</a:t>
            </a:r>
          </a:p>
          <a:p>
            <a:pPr algn="l"/>
            <a:r>
              <a:rPr lang="en-US" sz="2400" b="0" i="0" u="none" strike="noStrike" baseline="0" dirty="0">
                <a:latin typeface="Helvetica Neue Light" panose="020B0604020202020204" charset="0"/>
              </a:rPr>
              <a:t>Gain experience with genome browsers</a:t>
            </a:r>
          </a:p>
          <a:p>
            <a:pPr algn="l"/>
            <a:r>
              <a:rPr lang="en-US" sz="2400" dirty="0">
                <a:latin typeface="Helvetica Neue Light" panose="020B0604020202020204" charset="0"/>
              </a:rPr>
              <a:t>Explore variation inspection</a:t>
            </a:r>
            <a:endParaRPr lang="en-US" sz="2400" b="0" i="0" u="none" strike="noStrike" baseline="0" dirty="0">
              <a:latin typeface="Helvetica Neue Light" panose="020B0604020202020204" charset="0"/>
            </a:endParaRPr>
          </a:p>
        </p:txBody>
      </p:sp>
      <p:sp>
        <p:nvSpPr>
          <p:cNvPr id="106" name="Google Shape;106;p4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 dirty="0"/>
              <a:t>Overview</a:t>
            </a:r>
            <a:endParaRPr dirty="0"/>
          </a:p>
        </p:txBody>
      </p:sp>
      <p:sp>
        <p:nvSpPr>
          <p:cNvPr id="105" name="Google Shape;105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l"/>
            <a:r>
              <a:rPr lang="en-US" sz="2400" b="0" i="0" u="none" strike="noStrike" baseline="0" dirty="0">
                <a:latin typeface="Helvetica Neue Light" panose="020B0604020202020204" charset="0"/>
              </a:rPr>
              <a:t>Part I (lecture)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latin typeface="Helvetica Neue Light" panose="020B0604020202020204" charset="0"/>
              </a:rPr>
              <a:t>Discussion of visualization goals and approaches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latin typeface="Helvetica Neue Light" panose="020B0604020202020204" charset="0"/>
              </a:rPr>
              <a:t>Overview of IGV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latin typeface="Helvetica Neue Light" panose="020B0604020202020204" charset="0"/>
              </a:rPr>
              <a:t>Overview of UCSC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US" sz="2000" dirty="0">
              <a:latin typeface="Helvetica Neue Light" panose="020B0604020202020204" charset="0"/>
            </a:endParaRPr>
          </a:p>
          <a:p>
            <a:pPr algn="l"/>
            <a:r>
              <a:rPr lang="en-US" sz="2400" b="0" i="0" u="none" strike="noStrike" baseline="0" dirty="0">
                <a:latin typeface="Helvetica Neue Light" panose="020B0604020202020204" charset="0"/>
              </a:rPr>
              <a:t>Part II (lab)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latin typeface="Helvetica Neue Light" panose="020B0604020202020204" charset="0"/>
              </a:rPr>
              <a:t>Load data and references in IGV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latin typeface="Helvetica Neue Light" panose="020B0604020202020204" charset="0"/>
              </a:rPr>
              <a:t>Visualize variants in IGV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latin typeface="Helvetica Neue Light" panose="020B0604020202020204" charset="0"/>
              </a:rPr>
              <a:t>Explore UCSC tutorial</a:t>
            </a:r>
          </a:p>
        </p:txBody>
      </p:sp>
      <p:sp>
        <p:nvSpPr>
          <p:cNvPr id="106" name="Google Shape;106;p4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05425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"/>
          <p:cNvSpPr txBox="1">
            <a:spLocks noGrp="1"/>
          </p:cNvSpPr>
          <p:nvPr>
            <p:ph type="title"/>
          </p:nvPr>
        </p:nvSpPr>
        <p:spPr>
          <a:xfrm>
            <a:off x="838200" y="210343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 dirty="0"/>
              <a:t>Why visualize?</a:t>
            </a:r>
            <a:endParaRPr dirty="0"/>
          </a:p>
        </p:txBody>
      </p:sp>
      <p:sp>
        <p:nvSpPr>
          <p:cNvPr id="125" name="Google Shape;125;p6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473340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 dirty="0"/>
              <a:t>Data interpretation</a:t>
            </a:r>
            <a:endParaRPr dirty="0"/>
          </a:p>
        </p:txBody>
      </p:sp>
      <p:sp>
        <p:nvSpPr>
          <p:cNvPr id="105" name="Google Shape;105;p4"/>
          <p:cNvSpPr txBox="1">
            <a:spLocks noGrp="1"/>
          </p:cNvSpPr>
          <p:nvPr>
            <p:ph type="body" idx="1"/>
          </p:nvPr>
        </p:nvSpPr>
        <p:spPr>
          <a:xfrm>
            <a:off x="838200" y="146714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l"/>
            <a:r>
              <a:rPr lang="en-US" sz="2400" b="0" i="0" u="none" strike="noStrike" baseline="0" dirty="0">
                <a:latin typeface="Helvetica Neue Light" panose="020B0604020202020204" charset="0"/>
              </a:rPr>
              <a:t>Summar</a:t>
            </a:r>
            <a:r>
              <a:rPr lang="en-US" sz="2400" dirty="0">
                <a:latin typeface="Helvetica Neue Light" panose="020B0604020202020204" charset="0"/>
              </a:rPr>
              <a:t>y statistics don’t tell the whole story</a:t>
            </a:r>
          </a:p>
        </p:txBody>
      </p:sp>
      <p:sp>
        <p:nvSpPr>
          <p:cNvPr id="106" name="Google Shape;106;p4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2C61C8-1363-43C6-8547-7E654522381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064" t="32314" r="37282" b="14708"/>
          <a:stretch/>
        </p:blipFill>
        <p:spPr>
          <a:xfrm>
            <a:off x="439848" y="2207535"/>
            <a:ext cx="5816098" cy="4204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83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 dirty="0"/>
              <a:t>Data interpretation</a:t>
            </a:r>
            <a:endParaRPr dirty="0"/>
          </a:p>
        </p:txBody>
      </p:sp>
      <p:sp>
        <p:nvSpPr>
          <p:cNvPr id="105" name="Google Shape;105;p4"/>
          <p:cNvSpPr txBox="1">
            <a:spLocks noGrp="1"/>
          </p:cNvSpPr>
          <p:nvPr>
            <p:ph type="body" idx="1"/>
          </p:nvPr>
        </p:nvSpPr>
        <p:spPr>
          <a:xfrm>
            <a:off x="838200" y="146714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l"/>
            <a:r>
              <a:rPr lang="en-US" sz="2400" b="0" i="0" u="none" strike="noStrike" baseline="0" dirty="0">
                <a:latin typeface="Helvetica Neue Light" panose="020B0604020202020204" charset="0"/>
              </a:rPr>
              <a:t>Summar</a:t>
            </a:r>
            <a:r>
              <a:rPr lang="en-US" sz="2400" dirty="0">
                <a:latin typeface="Helvetica Neue Light" panose="020B0604020202020204" charset="0"/>
              </a:rPr>
              <a:t>y statistics don’t tell the whole story</a:t>
            </a:r>
          </a:p>
        </p:txBody>
      </p:sp>
      <p:sp>
        <p:nvSpPr>
          <p:cNvPr id="106" name="Google Shape;106;p4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2C61C8-1363-43C6-8547-7E654522381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064" t="32314" r="5182" b="14708"/>
          <a:stretch/>
        </p:blipFill>
        <p:spPr>
          <a:xfrm>
            <a:off x="439847" y="2207535"/>
            <a:ext cx="9111559" cy="420412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3C067D0-0DEA-4D8E-A9DC-0841D83CEA99}"/>
              </a:ext>
            </a:extLst>
          </p:cNvPr>
          <p:cNvSpPr txBox="1"/>
          <p:nvPr/>
        </p:nvSpPr>
        <p:spPr>
          <a:xfrm>
            <a:off x="8220546" y="5979278"/>
            <a:ext cx="37662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https://mk.bcgsc.ca/talks/datavisualization/</a:t>
            </a:r>
          </a:p>
        </p:txBody>
      </p:sp>
    </p:spTree>
    <p:extLst>
      <p:ext uri="{BB962C8B-B14F-4D97-AF65-F5344CB8AC3E}">
        <p14:creationId xmlns:p14="http://schemas.microsoft.com/office/powerpoint/2010/main" val="16382258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 dirty="0"/>
              <a:t>Data interpretation</a:t>
            </a:r>
            <a:endParaRPr dirty="0"/>
          </a:p>
        </p:txBody>
      </p:sp>
      <p:sp>
        <p:nvSpPr>
          <p:cNvPr id="105" name="Google Shape;105;p4"/>
          <p:cNvSpPr txBox="1">
            <a:spLocks noGrp="1"/>
          </p:cNvSpPr>
          <p:nvPr>
            <p:ph type="body" idx="1"/>
          </p:nvPr>
        </p:nvSpPr>
        <p:spPr>
          <a:xfrm>
            <a:off x="838200" y="146714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l"/>
            <a:r>
              <a:rPr lang="en-US" sz="2400" b="0" i="0" u="none" strike="noStrike" baseline="0" dirty="0">
                <a:latin typeface="Helvetica Neue Light" panose="020B0604020202020204" charset="0"/>
              </a:rPr>
              <a:t>How is the data distributed?</a:t>
            </a:r>
          </a:p>
          <a:p>
            <a:pPr algn="l"/>
            <a:r>
              <a:rPr lang="en-US" sz="2400" dirty="0">
                <a:latin typeface="Helvetica Neue Light" panose="020B0604020202020204" charset="0"/>
              </a:rPr>
              <a:t>Are there outliers?</a:t>
            </a:r>
          </a:p>
          <a:p>
            <a:pPr algn="l"/>
            <a:r>
              <a:rPr lang="en-US" sz="2400" dirty="0">
                <a:latin typeface="Helvetica Neue Light" panose="020B0604020202020204" charset="0"/>
              </a:rPr>
              <a:t>Are there batch effects?</a:t>
            </a:r>
          </a:p>
          <a:p>
            <a:pPr algn="l"/>
            <a:r>
              <a:rPr lang="en-US" sz="2400" dirty="0">
                <a:latin typeface="Helvetica Neue Light" panose="020B0604020202020204" charset="0"/>
              </a:rPr>
              <a:t>Does the data make sense?</a:t>
            </a:r>
          </a:p>
        </p:txBody>
      </p:sp>
      <p:sp>
        <p:nvSpPr>
          <p:cNvPr id="106" name="Google Shape;106;p4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1026" name="Picture 2" descr="A population distribution and a distribution of sample means.">
            <a:extLst>
              <a:ext uri="{FF2B5EF4-FFF2-40B4-BE49-F238E27FC236}">
                <a16:creationId xmlns:a16="http://schemas.microsoft.com/office/drawing/2014/main" id="{CACCF57C-793E-4BA9-A995-D89B923400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2448" y="3642809"/>
            <a:ext cx="1666875" cy="247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1EF888C-34D2-4518-92B6-B3460107E52C}"/>
              </a:ext>
            </a:extLst>
          </p:cNvPr>
          <p:cNvSpPr txBox="1"/>
          <p:nvPr/>
        </p:nvSpPr>
        <p:spPr>
          <a:xfrm>
            <a:off x="749553" y="6126296"/>
            <a:ext cx="59126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B0604020202020204" charset="0"/>
              </a:rPr>
              <a:t>https://blogs.nature.com/methagora/2013/08/giving_statistics_the_attention_it_deserves.html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C09B6A-A27D-4919-8877-7FCACEE1E98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5342" t="29175" r="14009" b="38350"/>
          <a:stretch/>
        </p:blipFill>
        <p:spPr>
          <a:xfrm>
            <a:off x="6310265" y="2202439"/>
            <a:ext cx="5043535" cy="34949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10C09B3-595B-47E7-A888-CD7DAE93E36B}"/>
              </a:ext>
            </a:extLst>
          </p:cNvPr>
          <p:cNvSpPr txBox="1"/>
          <p:nvPr/>
        </p:nvSpPr>
        <p:spPr>
          <a:xfrm>
            <a:off x="9859978" y="6000432"/>
            <a:ext cx="149382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Helvetica Neue Light" panose="020B0604020202020204" charset="0"/>
              </a:rPr>
              <a:t>PMID: 35121966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6709531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 dirty="0"/>
              <a:t>Data size &amp; complexity</a:t>
            </a:r>
            <a:endParaRPr dirty="0"/>
          </a:p>
        </p:txBody>
      </p:sp>
      <p:sp>
        <p:nvSpPr>
          <p:cNvPr id="105" name="Google Shape;105;p4"/>
          <p:cNvSpPr txBox="1">
            <a:spLocks noGrp="1"/>
          </p:cNvSpPr>
          <p:nvPr>
            <p:ph type="body" idx="1"/>
          </p:nvPr>
        </p:nvSpPr>
        <p:spPr>
          <a:xfrm>
            <a:off x="838200" y="127860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l"/>
            <a:r>
              <a:rPr lang="en-US" sz="2400" dirty="0">
                <a:latin typeface="Helvetica Neue Light" panose="020B0604020202020204" charset="0"/>
              </a:rPr>
              <a:t>Understanding, finding patterns and relationships in large datasets</a:t>
            </a:r>
          </a:p>
          <a:p>
            <a:pPr algn="l"/>
            <a:r>
              <a:rPr lang="en-US" sz="2400" dirty="0">
                <a:latin typeface="Helvetica Neue Light" panose="020B0604020202020204" charset="0"/>
              </a:rPr>
              <a:t>Look at the data multiple ways</a:t>
            </a:r>
          </a:p>
        </p:txBody>
      </p:sp>
      <p:sp>
        <p:nvSpPr>
          <p:cNvPr id="106" name="Google Shape;106;p4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532CD5D-B1E1-4DAD-A7BA-0E8C1B63A64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77134" b="57977"/>
          <a:stretch/>
        </p:blipFill>
        <p:spPr>
          <a:xfrm>
            <a:off x="228090" y="3001477"/>
            <a:ext cx="1392480" cy="236420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D7FBEF1-C6A4-41E9-9109-EE9F0F2B217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4361" r="12009" b="57977"/>
          <a:stretch/>
        </p:blipFill>
        <p:spPr>
          <a:xfrm>
            <a:off x="2992742" y="3001477"/>
            <a:ext cx="3874883" cy="236420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89D1357-C1B7-43B5-8C06-8E97062758B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7745" b="57977"/>
          <a:stretch/>
        </p:blipFill>
        <p:spPr>
          <a:xfrm>
            <a:off x="1636354" y="3001477"/>
            <a:ext cx="746278" cy="236420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6E1E654-7CB8-4F88-86CD-08065A4D7C7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4183" t="86697" r="12187" b="-1663"/>
          <a:stretch/>
        </p:blipFill>
        <p:spPr>
          <a:xfrm>
            <a:off x="2937492" y="5365685"/>
            <a:ext cx="3874883" cy="84197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799428C-A730-4AE1-95BF-85D593A31B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3411" y="2435812"/>
            <a:ext cx="969712" cy="56566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E4E2FDD6-DC19-4E50-8728-02E2499CDAD8}"/>
              </a:ext>
            </a:extLst>
          </p:cNvPr>
          <p:cNvSpPr txBox="1"/>
          <p:nvPr/>
        </p:nvSpPr>
        <p:spPr>
          <a:xfrm>
            <a:off x="9859978" y="6000432"/>
            <a:ext cx="149382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Helvetica Neue Light" panose="020B0604020202020204" charset="0"/>
              </a:rPr>
              <a:t>PMID: 35121966</a:t>
            </a:r>
          </a:p>
          <a:p>
            <a:endParaRPr lang="en-CA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F23C495-E054-4AC8-840D-E1B1AA3B16E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68218" t="16302" r="3985" b="32695"/>
          <a:stretch/>
        </p:blipFill>
        <p:spPr>
          <a:xfrm>
            <a:off x="7692427" y="2399167"/>
            <a:ext cx="3389015" cy="3208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4838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 dirty="0"/>
              <a:t>PCA/</a:t>
            </a:r>
            <a:r>
              <a:rPr lang="en-US" dirty="0" err="1"/>
              <a:t>tSNE</a:t>
            </a:r>
            <a:r>
              <a:rPr lang="en-US" dirty="0"/>
              <a:t>/UMAP</a:t>
            </a:r>
            <a:endParaRPr dirty="0"/>
          </a:p>
        </p:txBody>
      </p:sp>
      <p:sp>
        <p:nvSpPr>
          <p:cNvPr id="105" name="Google Shape;105;p4"/>
          <p:cNvSpPr txBox="1">
            <a:spLocks noGrp="1"/>
          </p:cNvSpPr>
          <p:nvPr>
            <p:ph type="body" idx="1"/>
          </p:nvPr>
        </p:nvSpPr>
        <p:spPr>
          <a:xfrm>
            <a:off x="838200" y="127860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l"/>
            <a:r>
              <a:rPr lang="en-US" sz="2400" dirty="0">
                <a:latin typeface="Helvetica Neue Light" panose="020B0604020202020204" charset="0"/>
              </a:rPr>
              <a:t>  Can use </a:t>
            </a:r>
            <a:r>
              <a:rPr lang="en-US" sz="2400" dirty="0" err="1">
                <a:latin typeface="Helvetica Neue Light" panose="020B0604020202020204" charset="0"/>
              </a:rPr>
              <a:t>eg.</a:t>
            </a:r>
            <a:r>
              <a:rPr lang="en-US" sz="2400" dirty="0">
                <a:latin typeface="Helvetica Neue Light" panose="020B0604020202020204" charset="0"/>
              </a:rPr>
              <a:t> R ggplot2, </a:t>
            </a:r>
            <a:r>
              <a:rPr lang="en-US" sz="2400" dirty="0" err="1">
                <a:latin typeface="Helvetica Neue Light" panose="020B0604020202020204" charset="0"/>
              </a:rPr>
              <a:t>PCAtools</a:t>
            </a:r>
            <a:r>
              <a:rPr lang="en-US" sz="2400" dirty="0">
                <a:latin typeface="Helvetica Neue Light" panose="020B0604020202020204" charset="0"/>
              </a:rPr>
              <a:t>, </a:t>
            </a:r>
            <a:r>
              <a:rPr lang="en-US" sz="2400" dirty="0" err="1">
                <a:latin typeface="Helvetica Neue Light" panose="020B0604020202020204" charset="0"/>
              </a:rPr>
              <a:t>Rtsne</a:t>
            </a:r>
            <a:endParaRPr lang="en-US" sz="2400" dirty="0">
              <a:latin typeface="Helvetica Neue Light" panose="020B0604020202020204" charset="0"/>
            </a:endParaRPr>
          </a:p>
        </p:txBody>
      </p:sp>
      <p:sp>
        <p:nvSpPr>
          <p:cNvPr id="106" name="Google Shape;106;p4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4E2FDD6-DC19-4E50-8728-02E2499CDAD8}"/>
              </a:ext>
            </a:extLst>
          </p:cNvPr>
          <p:cNvSpPr txBox="1"/>
          <p:nvPr/>
        </p:nvSpPr>
        <p:spPr>
          <a:xfrm>
            <a:off x="9859978" y="6000432"/>
            <a:ext cx="149382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Helvetica Neue Light" panose="020B0604020202020204" charset="0"/>
              </a:rPr>
              <a:t>PMID: 35121966</a:t>
            </a:r>
          </a:p>
          <a:p>
            <a:endParaRPr lang="en-CA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41CCA2C-FF6F-4ABD-BF32-758C11D1E8C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342" t="29175" r="14009" b="38350"/>
          <a:stretch/>
        </p:blipFill>
        <p:spPr>
          <a:xfrm>
            <a:off x="6310265" y="2202439"/>
            <a:ext cx="5043535" cy="349495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703500B-57FB-49E8-BB2F-399EEA2731D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126" t="12409" r="61555" b="22905"/>
          <a:stretch/>
        </p:blipFill>
        <p:spPr>
          <a:xfrm>
            <a:off x="1511928" y="2325162"/>
            <a:ext cx="3385997" cy="337223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2DB3B17-22E0-4AA5-B8A7-7D2B3477A133}"/>
              </a:ext>
            </a:extLst>
          </p:cNvPr>
          <p:cNvSpPr txBox="1"/>
          <p:nvPr/>
        </p:nvSpPr>
        <p:spPr>
          <a:xfrm>
            <a:off x="1385180" y="6000432"/>
            <a:ext cx="149382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Helvetica Neue Light" panose="020B0604020202020204" charset="0"/>
              </a:rPr>
              <a:t>PMID: 37977148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2495155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 dirty="0"/>
              <a:t>Heatmaps / </a:t>
            </a:r>
            <a:r>
              <a:rPr lang="en-US" dirty="0" err="1"/>
              <a:t>oncoplots</a:t>
            </a:r>
            <a:endParaRPr dirty="0"/>
          </a:p>
        </p:txBody>
      </p:sp>
      <p:sp>
        <p:nvSpPr>
          <p:cNvPr id="105" name="Google Shape;105;p4"/>
          <p:cNvSpPr txBox="1">
            <a:spLocks noGrp="1"/>
          </p:cNvSpPr>
          <p:nvPr>
            <p:ph type="body" idx="1"/>
          </p:nvPr>
        </p:nvSpPr>
        <p:spPr>
          <a:xfrm>
            <a:off x="838200" y="127860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l"/>
            <a:r>
              <a:rPr lang="en-US" sz="2400" dirty="0">
                <a:latin typeface="Helvetica Neue Light" panose="020B0604020202020204" charset="0"/>
              </a:rPr>
              <a:t>  Can use </a:t>
            </a:r>
            <a:r>
              <a:rPr lang="en-US" sz="2400" dirty="0" err="1">
                <a:latin typeface="Helvetica Neue Light" panose="020B0604020202020204" charset="0"/>
              </a:rPr>
              <a:t>eg.</a:t>
            </a:r>
            <a:r>
              <a:rPr lang="en-US" sz="2400" dirty="0">
                <a:latin typeface="Helvetica Neue Light" panose="020B0604020202020204" charset="0"/>
              </a:rPr>
              <a:t> R </a:t>
            </a:r>
            <a:r>
              <a:rPr lang="en-US" sz="2400" dirty="0" err="1">
                <a:latin typeface="Helvetica Neue Light" panose="020B0604020202020204" charset="0"/>
              </a:rPr>
              <a:t>complexheatmap</a:t>
            </a:r>
            <a:r>
              <a:rPr lang="en-US" sz="2400" dirty="0">
                <a:latin typeface="Helvetica Neue Light" panose="020B0604020202020204" charset="0"/>
              </a:rPr>
              <a:t>/</a:t>
            </a:r>
            <a:r>
              <a:rPr lang="en-US" sz="2400" dirty="0" err="1">
                <a:latin typeface="Helvetica Neue Light" panose="020B0604020202020204" charset="0"/>
              </a:rPr>
              <a:t>pheatmap</a:t>
            </a:r>
            <a:r>
              <a:rPr lang="en-US" sz="2400" dirty="0">
                <a:latin typeface="Helvetica Neue Light" panose="020B0604020202020204" charset="0"/>
              </a:rPr>
              <a:t>, </a:t>
            </a:r>
            <a:r>
              <a:rPr lang="en-US" sz="2400" dirty="0" err="1">
                <a:latin typeface="Helvetica Neue Light" panose="020B0604020202020204" charset="0"/>
              </a:rPr>
              <a:t>maftools</a:t>
            </a:r>
            <a:endParaRPr lang="en-US" sz="2400" dirty="0">
              <a:latin typeface="Helvetica Neue Light" panose="020B0604020202020204" charset="0"/>
            </a:endParaRPr>
          </a:p>
        </p:txBody>
      </p:sp>
      <p:sp>
        <p:nvSpPr>
          <p:cNvPr id="106" name="Google Shape;106;p4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4E2FDD6-DC19-4E50-8728-02E2499CDAD8}"/>
              </a:ext>
            </a:extLst>
          </p:cNvPr>
          <p:cNvSpPr txBox="1"/>
          <p:nvPr/>
        </p:nvSpPr>
        <p:spPr>
          <a:xfrm>
            <a:off x="9859978" y="6000432"/>
            <a:ext cx="149382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Helvetica Neue Light" panose="020B0604020202020204" charset="0"/>
              </a:rPr>
              <a:t>PMID: 35121966</a:t>
            </a:r>
          </a:p>
          <a:p>
            <a:endParaRPr lang="en-CA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116CE5-D45E-44B8-97BC-002E745B2ED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322" t="14503" r="29084" b="12485"/>
          <a:stretch/>
        </p:blipFill>
        <p:spPr>
          <a:xfrm>
            <a:off x="760491" y="2264162"/>
            <a:ext cx="5241957" cy="35510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561AC3D-36EC-49C5-BBD0-7CE57924EAF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4925" t="14238" r="27896" b="6644"/>
          <a:stretch/>
        </p:blipFill>
        <p:spPr>
          <a:xfrm>
            <a:off x="6652150" y="2061181"/>
            <a:ext cx="4942321" cy="3844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0679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 dirty="0" err="1"/>
              <a:t>Circos</a:t>
            </a:r>
            <a:r>
              <a:rPr lang="en-US" dirty="0"/>
              <a:t> diagrams</a:t>
            </a:r>
            <a:endParaRPr dirty="0"/>
          </a:p>
        </p:txBody>
      </p:sp>
      <p:sp>
        <p:nvSpPr>
          <p:cNvPr id="105" name="Google Shape;105;p4"/>
          <p:cNvSpPr txBox="1">
            <a:spLocks noGrp="1"/>
          </p:cNvSpPr>
          <p:nvPr>
            <p:ph type="body" idx="1"/>
          </p:nvPr>
        </p:nvSpPr>
        <p:spPr>
          <a:xfrm>
            <a:off x="838200" y="127860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l"/>
            <a:r>
              <a:rPr lang="en-US" sz="2400" dirty="0">
                <a:latin typeface="Helvetica Neue Light" panose="020B0604020202020204" charset="0"/>
              </a:rPr>
              <a:t>  Can use </a:t>
            </a:r>
            <a:r>
              <a:rPr lang="en-US" sz="2400" dirty="0" err="1">
                <a:latin typeface="Helvetica Neue Light" panose="020B0604020202020204" charset="0"/>
              </a:rPr>
              <a:t>eg.</a:t>
            </a:r>
            <a:r>
              <a:rPr lang="en-US" sz="2400" dirty="0">
                <a:latin typeface="Helvetica Neue Light" panose="020B0604020202020204" charset="0"/>
              </a:rPr>
              <a:t> R </a:t>
            </a:r>
            <a:r>
              <a:rPr lang="en-US" sz="2400" dirty="0" err="1">
                <a:latin typeface="Helvetica Neue Light" panose="020B0604020202020204" charset="0"/>
              </a:rPr>
              <a:t>circlize</a:t>
            </a:r>
            <a:r>
              <a:rPr lang="en-US" sz="2400" dirty="0">
                <a:latin typeface="Helvetica Neue Light" panose="020B0604020202020204" charset="0"/>
              </a:rPr>
              <a:t>, Perl </a:t>
            </a:r>
            <a:r>
              <a:rPr lang="en-US" sz="2400" dirty="0" err="1">
                <a:latin typeface="Helvetica Neue Light" panose="020B0604020202020204" charset="0"/>
              </a:rPr>
              <a:t>circos</a:t>
            </a:r>
            <a:endParaRPr lang="en-US" sz="2400" dirty="0">
              <a:solidFill>
                <a:schemeClr val="tx1">
                  <a:lumMod val="50000"/>
                  <a:lumOff val="50000"/>
                </a:schemeClr>
              </a:solidFill>
              <a:latin typeface="Helvetica Neue Light" panose="020B0604020202020204" charset="0"/>
            </a:endParaRPr>
          </a:p>
          <a:p>
            <a:pPr lvl="1"/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B0604020202020204" charset="0"/>
              </a:rPr>
              <a:t>Check out mk.bcgsc.ca, circos.ca</a:t>
            </a:r>
          </a:p>
        </p:txBody>
      </p:sp>
      <p:sp>
        <p:nvSpPr>
          <p:cNvPr id="106" name="Google Shape;106;p4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4E2FDD6-DC19-4E50-8728-02E2499CDAD8}"/>
              </a:ext>
            </a:extLst>
          </p:cNvPr>
          <p:cNvSpPr txBox="1"/>
          <p:nvPr/>
        </p:nvSpPr>
        <p:spPr>
          <a:xfrm>
            <a:off x="498694" y="5815186"/>
            <a:ext cx="149382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Helvetica Neue Light" panose="020B0604020202020204" charset="0"/>
              </a:rPr>
              <a:t>PMID: 35121966</a:t>
            </a:r>
          </a:p>
          <a:p>
            <a:endParaRPr lang="en-CA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7C1DA2-8BA0-410C-9701-153F5463BE5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8755" t="30169" r="5229" b="31044"/>
          <a:stretch/>
        </p:blipFill>
        <p:spPr>
          <a:xfrm>
            <a:off x="838200" y="2508944"/>
            <a:ext cx="4361485" cy="266007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421B74D-2023-4B38-B3E2-101AC92BCB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3770" y="519963"/>
            <a:ext cx="5330030" cy="533003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44034FC-E884-4F9E-AA5B-CAEB13AD8EDC}"/>
              </a:ext>
            </a:extLst>
          </p:cNvPr>
          <p:cNvSpPr txBox="1"/>
          <p:nvPr/>
        </p:nvSpPr>
        <p:spPr>
          <a:xfrm>
            <a:off x="6862527" y="5849993"/>
            <a:ext cx="4830779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Helvetica Neue Light" panose="020B0604020202020204" charset="0"/>
              </a:rPr>
              <a:t>Circos</a:t>
            </a:r>
            <a:r>
              <a:rPr lang="en-CA" sz="1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Helvetica Neue Light" panose="020B0604020202020204" charset="0"/>
              </a:rPr>
              <a:t> diagram from Purple (https://github.com/hartwigmedical/hmftools/blob/master/purple)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512572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 dirty="0"/>
              <a:t>Pathways/networks</a:t>
            </a:r>
            <a:endParaRPr dirty="0"/>
          </a:p>
        </p:txBody>
      </p:sp>
      <p:sp>
        <p:nvSpPr>
          <p:cNvPr id="105" name="Google Shape;105;p4"/>
          <p:cNvSpPr txBox="1">
            <a:spLocks noGrp="1"/>
          </p:cNvSpPr>
          <p:nvPr>
            <p:ph type="body" idx="1"/>
          </p:nvPr>
        </p:nvSpPr>
        <p:spPr>
          <a:xfrm>
            <a:off x="838200" y="127860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l"/>
            <a:r>
              <a:rPr lang="en-US" sz="2400" dirty="0">
                <a:latin typeface="Helvetica Neue Light" panose="020B0604020202020204" charset="0"/>
              </a:rPr>
              <a:t>  Can use </a:t>
            </a:r>
            <a:r>
              <a:rPr lang="en-US" sz="2400" dirty="0" err="1">
                <a:latin typeface="Helvetica Neue Light" panose="020B0604020202020204" charset="0"/>
              </a:rPr>
              <a:t>eg.</a:t>
            </a:r>
            <a:r>
              <a:rPr lang="en-US" sz="2400" dirty="0">
                <a:latin typeface="Helvetica Neue Light" panose="020B0604020202020204" charset="0"/>
              </a:rPr>
              <a:t> R </a:t>
            </a:r>
            <a:r>
              <a:rPr lang="en-US" sz="2400" dirty="0" err="1">
                <a:latin typeface="Helvetica Neue Light" panose="020B0604020202020204" charset="0"/>
              </a:rPr>
              <a:t>clusterprofiler</a:t>
            </a:r>
            <a:r>
              <a:rPr lang="en-US" sz="2400" dirty="0">
                <a:latin typeface="Helvetica Neue Light" panose="020B0604020202020204" charset="0"/>
              </a:rPr>
              <a:t>, </a:t>
            </a:r>
            <a:r>
              <a:rPr lang="en-US" sz="2400" dirty="0" err="1">
                <a:latin typeface="Helvetica Neue Light" panose="020B0604020202020204" charset="0"/>
              </a:rPr>
              <a:t>Cytoscape</a:t>
            </a:r>
            <a:endParaRPr lang="en-US" sz="2400" dirty="0">
              <a:latin typeface="Helvetica Neue Light" panose="020B0604020202020204" charset="0"/>
            </a:endParaRPr>
          </a:p>
        </p:txBody>
      </p:sp>
      <p:sp>
        <p:nvSpPr>
          <p:cNvPr id="106" name="Google Shape;106;p4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4E2FDD6-DC19-4E50-8728-02E2499CDAD8}"/>
              </a:ext>
            </a:extLst>
          </p:cNvPr>
          <p:cNvSpPr txBox="1"/>
          <p:nvPr/>
        </p:nvSpPr>
        <p:spPr>
          <a:xfrm>
            <a:off x="561315" y="5750652"/>
            <a:ext cx="42822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Helvetica Neue Light" panose="020B0604020202020204" charset="0"/>
              </a:rPr>
              <a:t>https://cytoscape.org/cytoscape-tutorials/protocols/pathway-figure-gene-set-analysis</a:t>
            </a:r>
            <a:endParaRPr lang="en-CA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FE830F8-6EBD-4E4E-BAF8-587EAE5D01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856" b="18391"/>
          <a:stretch/>
        </p:blipFill>
        <p:spPr bwMode="auto">
          <a:xfrm>
            <a:off x="688064" y="2323606"/>
            <a:ext cx="4155541" cy="3255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FD3C27B-98C7-4CE7-A422-A1CCEFA80B5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2908" t="14785" r="34324" b="13135"/>
          <a:stretch/>
        </p:blipFill>
        <p:spPr>
          <a:xfrm>
            <a:off x="7348397" y="1188718"/>
            <a:ext cx="3911098" cy="494319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5711409-6A5B-49CA-A3AB-BEA2080D7209}"/>
              </a:ext>
            </a:extLst>
          </p:cNvPr>
          <p:cNvSpPr txBox="1"/>
          <p:nvPr/>
        </p:nvSpPr>
        <p:spPr>
          <a:xfrm>
            <a:off x="7492610" y="5981484"/>
            <a:ext cx="42822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Helvetica Neue Light" panose="020B0604020202020204" charset="0"/>
              </a:rPr>
              <a:t>https://yulab-smu.top/biomedical-knowledge-mining-book/enrichplot-networks.html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2858089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 dirty="0"/>
              <a:t>Genome browsers</a:t>
            </a:r>
            <a:endParaRPr dirty="0"/>
          </a:p>
        </p:txBody>
      </p:sp>
      <p:sp>
        <p:nvSpPr>
          <p:cNvPr id="113" name="Google Shape;113;p5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14" name="Google Shape;105;p4">
            <a:extLst>
              <a:ext uri="{FF2B5EF4-FFF2-40B4-BE49-F238E27FC236}">
                <a16:creationId xmlns:a16="http://schemas.microsoft.com/office/drawing/2014/main" id="{ACDB7B4D-B6AE-4923-AC21-5498DB4C9C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690687"/>
            <a:ext cx="10515600" cy="3939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l"/>
            <a:r>
              <a:rPr lang="en-US" sz="2400" dirty="0">
                <a:latin typeface="Helvetica Neue Light" panose="020B0604020202020204" charset="0"/>
              </a:rPr>
              <a:t>Sequencing data files are huge</a:t>
            </a:r>
          </a:p>
          <a:p>
            <a:pPr lvl="1"/>
            <a:r>
              <a:rPr lang="en-US" sz="2000" dirty="0">
                <a:latin typeface="Helvetica Neue Light" panose="020B0604020202020204" charset="0"/>
              </a:rPr>
              <a:t>Bam/cram file of a human genome is 100-300GB</a:t>
            </a:r>
          </a:p>
          <a:p>
            <a:pPr lvl="1"/>
            <a:r>
              <a:rPr lang="en-US" sz="2000" dirty="0">
                <a:latin typeface="Helvetica Neue Light" panose="020B0604020202020204" charset="0"/>
              </a:rPr>
              <a:t>Require specialized tools for fast interactive viewing</a:t>
            </a:r>
          </a:p>
          <a:p>
            <a:pPr algn="l"/>
            <a:endParaRPr lang="en-US" sz="2400" dirty="0">
              <a:latin typeface="Helvetica Neue Light" panose="020B0604020202020204" charset="0"/>
            </a:endParaRPr>
          </a:p>
          <a:p>
            <a:pPr algn="l"/>
            <a:r>
              <a:rPr lang="en-US" sz="2400" dirty="0">
                <a:latin typeface="Helvetica Neue Light" panose="020B0604020202020204" charset="0"/>
              </a:rPr>
              <a:t>Typical tasks:</a:t>
            </a:r>
          </a:p>
          <a:p>
            <a:pPr lvl="1"/>
            <a:r>
              <a:rPr lang="en-US" sz="2000" dirty="0">
                <a:latin typeface="Helvetica Neue Light" panose="020B0604020202020204" charset="0"/>
              </a:rPr>
              <a:t>Visualizing reads</a:t>
            </a:r>
          </a:p>
          <a:p>
            <a:pPr lvl="1"/>
            <a:r>
              <a:rPr lang="en-US" sz="2000" dirty="0">
                <a:latin typeface="Helvetica Neue Light" panose="020B0604020202020204" charset="0"/>
              </a:rPr>
              <a:t>Inspecting variants</a:t>
            </a:r>
            <a:endParaRPr lang="en-US" sz="2400" dirty="0">
              <a:latin typeface="Helvetica Neue Light" panose="020B060402020202020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 dirty="0"/>
              <a:t>Popular genome browsers</a:t>
            </a:r>
            <a:endParaRPr dirty="0"/>
          </a:p>
        </p:txBody>
      </p:sp>
      <p:sp>
        <p:nvSpPr>
          <p:cNvPr id="113" name="Google Shape;113;p5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D4DBDDC-47B2-4F3E-9477-6DF168D8BA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2844684"/>
              </p:ext>
            </p:extLst>
          </p:nvPr>
        </p:nvGraphicFramePr>
        <p:xfrm>
          <a:off x="413302" y="1595375"/>
          <a:ext cx="11211818" cy="4683395"/>
        </p:xfrm>
        <a:graphic>
          <a:graphicData uri="http://schemas.openxmlformats.org/drawingml/2006/table">
            <a:tbl>
              <a:tblPr firstCol="1">
                <a:tableStyleId>{B301B821-A1FF-4177-AEE7-76D212191A09}</a:tableStyleId>
              </a:tblPr>
              <a:tblGrid>
                <a:gridCol w="3601088">
                  <a:extLst>
                    <a:ext uri="{9D8B030D-6E8A-4147-A177-3AD203B41FA5}">
                      <a16:colId xmlns:a16="http://schemas.microsoft.com/office/drawing/2014/main" val="2431249591"/>
                    </a:ext>
                  </a:extLst>
                </a:gridCol>
                <a:gridCol w="7610730">
                  <a:extLst>
                    <a:ext uri="{9D8B030D-6E8A-4147-A177-3AD203B41FA5}">
                      <a16:colId xmlns:a16="http://schemas.microsoft.com/office/drawing/2014/main" val="1548704493"/>
                    </a:ext>
                  </a:extLst>
                </a:gridCol>
              </a:tblGrid>
              <a:tr h="911429">
                <a:tc>
                  <a:txBody>
                    <a:bodyPr/>
                    <a:lstStyle/>
                    <a:p>
                      <a:endParaRPr lang="en-CA" sz="1800" dirty="0">
                        <a:latin typeface="Helvetica Neue Light" panose="020B0604020202020204" charset="0"/>
                      </a:endParaRPr>
                    </a:p>
                  </a:txBody>
                  <a:tcPr marL="88203" marR="88203" marT="44101" marB="44101"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CA" sz="1800" dirty="0">
                          <a:latin typeface="Helvetica Neue Light" panose="020B0604020202020204" charset="0"/>
                        </a:rPr>
                        <a:t>Runs on local computer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CA" sz="1800" dirty="0">
                          <a:latin typeface="Helvetica Neue Light" panose="020B0604020202020204" charset="0"/>
                        </a:rPr>
                        <a:t>Excellent for bam/cram visualization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CA" sz="1800" dirty="0">
                          <a:latin typeface="Helvetica Neue Light" panose="020B0604020202020204" charset="0"/>
                        </a:rPr>
                        <a:t>The first choice for variant review</a:t>
                      </a: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2970876919"/>
                  </a:ext>
                </a:extLst>
              </a:tr>
              <a:tr h="1117235">
                <a:tc>
                  <a:txBody>
                    <a:bodyPr/>
                    <a:lstStyle/>
                    <a:p>
                      <a:endParaRPr lang="en-CA" sz="1800" dirty="0">
                        <a:latin typeface="Helvetica Neue Light" panose="020B0604020202020204" charset="0"/>
                      </a:endParaRPr>
                    </a:p>
                  </a:txBody>
                  <a:tcPr marL="88203" marR="88203" marT="44101" marB="44101"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Helvetica Neue Light" panose="020B0604020202020204" charset="0"/>
                        </a:rPr>
                        <a:t>Runs in browser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Helvetica Neue Light" panose="020B0604020202020204" charset="0"/>
                        </a:rPr>
                        <a:t>Excellent for viewing public genomic data (annotations, regulatory elements, conservation, variation)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Helvetica Neue Light" panose="020B0604020202020204" charset="0"/>
                        </a:rPr>
                        <a:t>Can add custom data tracks</a:t>
                      </a: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416403304"/>
                  </a:ext>
                </a:extLst>
              </a:tr>
              <a:tr h="911429">
                <a:tc>
                  <a:txBody>
                    <a:bodyPr/>
                    <a:lstStyle/>
                    <a:p>
                      <a:endParaRPr lang="en-CA" sz="1800" dirty="0">
                        <a:latin typeface="Helvetica Neue Light" panose="020B0604020202020204" charset="0"/>
                      </a:endParaRPr>
                    </a:p>
                  </a:txBody>
                  <a:tcPr marL="88203" marR="88203" marT="44101" marB="44101"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Helvetica Neue Light" panose="020B0604020202020204" charset="0"/>
                        </a:rPr>
                        <a:t>Runs in browser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Helvetica Neue Light" panose="020B0604020202020204" charset="0"/>
                        </a:rPr>
                        <a:t>Excellent for comparing transcript models and variant effects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 err="1">
                          <a:latin typeface="Helvetica Neue Light" panose="020B0604020202020204" charset="0"/>
                        </a:rPr>
                        <a:t>Ensembl</a:t>
                      </a:r>
                      <a:r>
                        <a:rPr lang="en-US" sz="1800" dirty="0">
                          <a:latin typeface="Helvetica Neue Light" panose="020B0604020202020204" charset="0"/>
                        </a:rPr>
                        <a:t> annotations frequently used in genomic annotation pipelines</a:t>
                      </a:r>
                      <a:endParaRPr lang="fr-FR" sz="1800" dirty="0">
                        <a:latin typeface="Helvetica Neue Light" panose="020B0604020202020204" charset="0"/>
                      </a:endParaRP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2350802108"/>
                  </a:ext>
                </a:extLst>
              </a:tr>
              <a:tr h="1117235">
                <a:tc>
                  <a:txBody>
                    <a:bodyPr/>
                    <a:lstStyle/>
                    <a:p>
                      <a:endParaRPr lang="en-CA" sz="1800" dirty="0">
                        <a:latin typeface="Helvetica Neue Light" panose="020B0604020202020204" charset="0"/>
                      </a:endParaRPr>
                    </a:p>
                  </a:txBody>
                  <a:tcPr marL="88203" marR="88203" marT="44101" marB="44101"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Helvetica Neue Light" panose="020B0604020202020204" charset="0"/>
                        </a:rPr>
                        <a:t>Locally hosted, runs in browser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Helvetica Neue Light" panose="020B0604020202020204" charset="0"/>
                        </a:rPr>
                        <a:t>Excellent for visualizing and sharing custom/local genomic datasets</a:t>
                      </a: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2647250771"/>
                  </a:ext>
                </a:extLst>
              </a:tr>
            </a:tbl>
          </a:graphicData>
        </a:graphic>
      </p:graphicFrame>
      <p:pic>
        <p:nvPicPr>
          <p:cNvPr id="6146" name="Picture 2" descr="igvteam · GitHub">
            <a:extLst>
              <a:ext uri="{FF2B5EF4-FFF2-40B4-BE49-F238E27FC236}">
                <a16:creationId xmlns:a16="http://schemas.microsoft.com/office/drawing/2014/main" id="{3BFFA368-B8DE-4FD6-AEFC-7876315683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754" y="1726907"/>
            <a:ext cx="830573" cy="773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UCSC Genome Browser">
            <a:extLst>
              <a:ext uri="{FF2B5EF4-FFF2-40B4-BE49-F238E27FC236}">
                <a16:creationId xmlns:a16="http://schemas.microsoft.com/office/drawing/2014/main" id="{45BC4141-49CB-45EF-8148-08C5297334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264" b="22858"/>
          <a:stretch/>
        </p:blipFill>
        <p:spPr bwMode="auto">
          <a:xfrm>
            <a:off x="711754" y="2858902"/>
            <a:ext cx="2946133" cy="862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Ensembl Genome Browser">
            <a:extLst>
              <a:ext uri="{FF2B5EF4-FFF2-40B4-BE49-F238E27FC236}">
                <a16:creationId xmlns:a16="http://schemas.microsoft.com/office/drawing/2014/main" id="{1EBFA7CA-FA7A-4544-895B-B4D0CAC402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52" b="21843"/>
          <a:stretch/>
        </p:blipFill>
        <p:spPr bwMode="auto">
          <a:xfrm>
            <a:off x="566880" y="4162529"/>
            <a:ext cx="2638136" cy="837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 descr="GMOD | GMOD Website, derived from gmod.github.io">
            <a:extLst>
              <a:ext uri="{FF2B5EF4-FFF2-40B4-BE49-F238E27FC236}">
                <a16:creationId xmlns:a16="http://schemas.microsoft.com/office/drawing/2014/main" id="{56A5EF88-5D44-42A1-B63D-6368085649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880" y="5212570"/>
            <a:ext cx="2869602" cy="954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88512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CA" dirty="0"/>
              <a:t>Integrative Genomics Viewer (IGV)</a:t>
            </a:r>
            <a:endParaRPr dirty="0"/>
          </a:p>
        </p:txBody>
      </p:sp>
      <p:sp>
        <p:nvSpPr>
          <p:cNvPr id="113" name="Google Shape;113;p5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9B0ADB-89A2-4269-8CBC-C358702000E7}"/>
              </a:ext>
            </a:extLst>
          </p:cNvPr>
          <p:cNvSpPr txBox="1"/>
          <p:nvPr/>
        </p:nvSpPr>
        <p:spPr>
          <a:xfrm>
            <a:off x="2636821" y="1544556"/>
            <a:ext cx="6106562" cy="707886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ln>
            <a:solidFill>
              <a:schemeClr val="bg2">
                <a:lumMod val="25000"/>
                <a:lumOff val="7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CA" sz="2000" dirty="0">
                <a:solidFill>
                  <a:schemeClr val="bg2">
                    <a:lumMod val="75000"/>
                    <a:lumOff val="25000"/>
                  </a:schemeClr>
                </a:solidFill>
                <a:latin typeface="Helvetica Neue Light" panose="020B0604020202020204" charset="0"/>
              </a:rPr>
              <a:t>Desktop application for the interactive</a:t>
            </a:r>
          </a:p>
          <a:p>
            <a:pPr algn="ctr"/>
            <a:r>
              <a:rPr lang="en-CA" sz="2000" dirty="0">
                <a:solidFill>
                  <a:schemeClr val="bg2">
                    <a:lumMod val="75000"/>
                    <a:lumOff val="25000"/>
                  </a:schemeClr>
                </a:solidFill>
                <a:latin typeface="Helvetica Neue Light" panose="020B0604020202020204" charset="0"/>
              </a:rPr>
              <a:t>visual exploration of integrated genomic datasets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622E492-4466-4867-88A7-25C14CCCDC2A}"/>
              </a:ext>
            </a:extLst>
          </p:cNvPr>
          <p:cNvGrpSpPr/>
          <p:nvPr/>
        </p:nvGrpSpPr>
        <p:grpSpPr>
          <a:xfrm>
            <a:off x="1702051" y="2480820"/>
            <a:ext cx="7523431" cy="3603109"/>
            <a:chOff x="1702051" y="2480820"/>
            <a:chExt cx="7523431" cy="3603109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9DF8ECA-536E-48AE-873E-86053D180C0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20495" t="41468" r="19653" b="6983"/>
            <a:stretch/>
          </p:blipFill>
          <p:spPr>
            <a:xfrm>
              <a:off x="1928388" y="2480820"/>
              <a:ext cx="7297094" cy="3376772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207AE6C-68F5-431D-8E1F-11BE0D7A692A}"/>
                </a:ext>
              </a:extLst>
            </p:cNvPr>
            <p:cNvSpPr/>
            <p:nvPr/>
          </p:nvSpPr>
          <p:spPr>
            <a:xfrm>
              <a:off x="1702051" y="5232903"/>
              <a:ext cx="4393949" cy="85102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9D67C485-C50F-4C20-B638-C16296748E31}"/>
              </a:ext>
            </a:extLst>
          </p:cNvPr>
          <p:cNvSpPr txBox="1"/>
          <p:nvPr/>
        </p:nvSpPr>
        <p:spPr>
          <a:xfrm>
            <a:off x="1287855" y="5448429"/>
            <a:ext cx="61065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000" b="1" dirty="0">
                <a:latin typeface="Helvetica Neue Light" panose="020B0604020202020204" charset="0"/>
              </a:rPr>
              <a:t>https://igv.org/</a:t>
            </a:r>
          </a:p>
        </p:txBody>
      </p:sp>
    </p:spTree>
    <p:extLst>
      <p:ext uri="{BB962C8B-B14F-4D97-AF65-F5344CB8AC3E}">
        <p14:creationId xmlns:p14="http://schemas.microsoft.com/office/powerpoint/2010/main" val="39737409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 dirty="0"/>
              <a:t>Features</a:t>
            </a:r>
            <a:endParaRPr dirty="0"/>
          </a:p>
        </p:txBody>
      </p:sp>
      <p:sp>
        <p:nvSpPr>
          <p:cNvPr id="113" name="Google Shape;113;p5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14" name="Google Shape;105;p4">
            <a:extLst>
              <a:ext uri="{FF2B5EF4-FFF2-40B4-BE49-F238E27FC236}">
                <a16:creationId xmlns:a16="http://schemas.microsoft.com/office/drawing/2014/main" id="{ACDB7B4D-B6AE-4923-AC21-5498DB4C9C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690687"/>
            <a:ext cx="10515600" cy="3939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l">
              <a:lnSpc>
                <a:spcPct val="150000"/>
              </a:lnSpc>
            </a:pPr>
            <a:r>
              <a:rPr lang="en-US" sz="2400" dirty="0">
                <a:latin typeface="Helvetica Neue Light" panose="020B0604020202020204" charset="0"/>
              </a:rPr>
              <a:t>With IGV you can…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Helvetica Neue Light" panose="020B0604020202020204" charset="0"/>
              </a:rPr>
              <a:t>Explore large genomic datasets with an intuitive, easy-to-use interface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Helvetica Neue Light" panose="020B0604020202020204" charset="0"/>
              </a:rPr>
              <a:t>Integrate multiple data types with clinical and other sample </a:t>
            </a:r>
            <a:r>
              <a:rPr lang="en-US" sz="2400" dirty="0">
                <a:latin typeface="Helvetica Neue Light" panose="020B0604020202020204" charset="0"/>
              </a:rPr>
              <a:t>information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latin typeface="Helvetica Neue Light" panose="020B0604020202020204" charset="0"/>
              </a:rPr>
              <a:t>View data from multiple sources: local, remote, and “cloud-based”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Helvetica Neue Light" panose="020B0604020202020204" charset="0"/>
              </a:rPr>
              <a:t>Automation of specific tasks using command-line interface</a:t>
            </a:r>
          </a:p>
        </p:txBody>
      </p:sp>
    </p:spTree>
    <p:extLst>
      <p:ext uri="{BB962C8B-B14F-4D97-AF65-F5344CB8AC3E}">
        <p14:creationId xmlns:p14="http://schemas.microsoft.com/office/powerpoint/2010/main" val="14886418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 dirty="0"/>
              <a:t>A note about genome assemblies</a:t>
            </a:r>
            <a:endParaRPr dirty="0"/>
          </a:p>
        </p:txBody>
      </p:sp>
      <p:sp>
        <p:nvSpPr>
          <p:cNvPr id="113" name="Google Shape;113;p5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14" name="Google Shape;105;p4">
            <a:extLst>
              <a:ext uri="{FF2B5EF4-FFF2-40B4-BE49-F238E27FC236}">
                <a16:creationId xmlns:a16="http://schemas.microsoft.com/office/drawing/2014/main" id="{ACDB7B4D-B6AE-4923-AC21-5498DB4C9C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3372" y="1451885"/>
            <a:ext cx="6813264" cy="4937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/>
          <a:p>
            <a:pPr algn="l"/>
            <a:r>
              <a:rPr lang="en-US" sz="2400" dirty="0">
                <a:latin typeface="Helvetica Neue Light" panose="020B0604020202020204" charset="0"/>
              </a:rPr>
              <a:t>Reads are usually shown in alignment to the </a:t>
            </a:r>
            <a:r>
              <a:rPr lang="en-US" sz="2400" b="1" dirty="0">
                <a:latin typeface="Helvetica Neue Light" panose="020B0604020202020204" charset="0"/>
              </a:rPr>
              <a:t>reference genome</a:t>
            </a:r>
            <a:r>
              <a:rPr lang="en-US" sz="2400" dirty="0">
                <a:latin typeface="Helvetica Neue Light" panose="020B0604020202020204" charset="0"/>
              </a:rPr>
              <a:t> for a species</a:t>
            </a:r>
          </a:p>
          <a:p>
            <a:pPr algn="l"/>
            <a:r>
              <a:rPr lang="en-US" sz="2400" dirty="0">
                <a:latin typeface="Helvetica Neue Light" panose="020B0604020202020204" charset="0"/>
              </a:rPr>
              <a:t>Reference genomes are imperfect and being improved</a:t>
            </a:r>
          </a:p>
          <a:p>
            <a:pPr algn="l"/>
            <a:r>
              <a:rPr lang="en-US" sz="2400" dirty="0">
                <a:latin typeface="Helvetica Neue Light" panose="020B0604020202020204" charset="0"/>
              </a:rPr>
              <a:t>For human:</a:t>
            </a:r>
          </a:p>
          <a:p>
            <a:pPr lvl="1"/>
            <a:r>
              <a:rPr lang="en-US" sz="2000" dirty="0">
                <a:latin typeface="Helvetica Neue Light" panose="020B0604020202020204" charset="0"/>
              </a:rPr>
              <a:t>hg19/GRCh37: Older version, still used in clinical settings</a:t>
            </a:r>
          </a:p>
          <a:p>
            <a:pPr lvl="1"/>
            <a:r>
              <a:rPr lang="en-US" sz="2000" dirty="0">
                <a:latin typeface="Helvetica Neue Light" panose="020B0604020202020204" charset="0"/>
              </a:rPr>
              <a:t>hg38/GRCh38: Newest version of a the standard reference</a:t>
            </a:r>
          </a:p>
          <a:p>
            <a:pPr lvl="2"/>
            <a:r>
              <a:rPr lang="en-US" sz="1600" dirty="0">
                <a:latin typeface="Helvetica Neue Light" panose="020B0604020202020204" charset="0"/>
              </a:rPr>
              <a:t>Many annotations available</a:t>
            </a:r>
          </a:p>
          <a:p>
            <a:pPr lvl="2"/>
            <a:r>
              <a:rPr lang="en-US" sz="1600" dirty="0">
                <a:latin typeface="Helvetica Neue Light" panose="020B0604020202020204" charset="0"/>
              </a:rPr>
              <a:t>Most commonly used in genomics</a:t>
            </a:r>
          </a:p>
          <a:p>
            <a:pPr lvl="2"/>
            <a:r>
              <a:rPr lang="en-US" sz="1600" dirty="0">
                <a:latin typeface="Helvetica Neue Light" panose="020B0604020202020204" charset="0"/>
              </a:rPr>
              <a:t>Still contains gaps, does not capture all variation</a:t>
            </a:r>
          </a:p>
          <a:p>
            <a:pPr lvl="1"/>
            <a:r>
              <a:rPr lang="en-US" sz="2000" dirty="0">
                <a:latin typeface="Helvetica Neue Light" panose="020B0604020202020204" charset="0"/>
              </a:rPr>
              <a:t>T2T-CHM13: Telomere-to-telomere assembly from one haplotype</a:t>
            </a:r>
          </a:p>
          <a:p>
            <a:pPr lvl="2"/>
            <a:r>
              <a:rPr lang="en-US" sz="1600" dirty="0">
                <a:latin typeface="Helvetica Neue Light" panose="020B0604020202020204" charset="0"/>
              </a:rPr>
              <a:t>Fewer gaps, excellent for repetitive regions</a:t>
            </a:r>
          </a:p>
          <a:p>
            <a:pPr lvl="2"/>
            <a:r>
              <a:rPr lang="en-US" sz="1600" dirty="0">
                <a:latin typeface="Helvetica Neue Light" panose="020B0604020202020204" charset="0"/>
              </a:rPr>
              <a:t>Incomplete annotation resources</a:t>
            </a:r>
          </a:p>
          <a:p>
            <a:pPr lvl="1"/>
            <a:r>
              <a:rPr lang="en-US" sz="2000" dirty="0">
                <a:latin typeface="Helvetica Neue Light" panose="020B0604020202020204" charset="0"/>
              </a:rPr>
              <a:t>Pangenome: Graph-based</a:t>
            </a:r>
          </a:p>
          <a:p>
            <a:pPr lvl="2"/>
            <a:r>
              <a:rPr lang="en-US" sz="1600" dirty="0">
                <a:latin typeface="Helvetica Neue Light" panose="020B0604020202020204" charset="0"/>
              </a:rPr>
              <a:t>Not just one version of the reference - captures the most variation</a:t>
            </a:r>
          </a:p>
          <a:p>
            <a:pPr lvl="2"/>
            <a:r>
              <a:rPr lang="en-US" sz="1600" dirty="0">
                <a:latin typeface="Helvetica Neue Light" panose="020B0604020202020204" charset="0"/>
              </a:rPr>
              <a:t>Requires specialized approaches to make use of it</a:t>
            </a:r>
          </a:p>
          <a:p>
            <a:endParaRPr lang="en-US" sz="2400" dirty="0">
              <a:latin typeface="Helvetica Neue Light" panose="020B0604020202020204" charset="0"/>
            </a:endParaRPr>
          </a:p>
          <a:p>
            <a:pPr lvl="1"/>
            <a:endParaRPr lang="en-US" sz="2000" dirty="0">
              <a:latin typeface="Helvetica Neue Light" panose="020B0604020202020204" charset="0"/>
            </a:endParaRPr>
          </a:p>
          <a:p>
            <a:pPr algn="l"/>
            <a:endParaRPr lang="en-US" sz="2400" dirty="0">
              <a:latin typeface="Helvetica Neue Light" panose="020B060402020202020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3D38F5-EC42-4160-93B0-9520888B71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7349" y="1451886"/>
            <a:ext cx="4545609" cy="39542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A68C9FF-4F08-45E9-9813-09E36F1A69D6}"/>
              </a:ext>
            </a:extLst>
          </p:cNvPr>
          <p:cNvSpPr txBox="1"/>
          <p:nvPr/>
        </p:nvSpPr>
        <p:spPr>
          <a:xfrm>
            <a:off x="10041030" y="5574218"/>
            <a:ext cx="15015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solidFill>
                  <a:schemeClr val="tx2">
                    <a:lumMod val="50000"/>
                  </a:schemeClr>
                </a:solidFill>
                <a:latin typeface="Helvetica Neue Light" panose="020B0604020202020204" charset="0"/>
              </a:rPr>
              <a:t>PMID: 32504078</a:t>
            </a:r>
          </a:p>
        </p:txBody>
      </p:sp>
    </p:spTree>
    <p:extLst>
      <p:ext uri="{BB962C8B-B14F-4D97-AF65-F5344CB8AC3E}">
        <p14:creationId xmlns:p14="http://schemas.microsoft.com/office/powerpoint/2010/main" val="19456775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 dirty="0"/>
              <a:t>IGV data sources</a:t>
            </a:r>
            <a:endParaRPr dirty="0"/>
          </a:p>
        </p:txBody>
      </p:sp>
      <p:sp>
        <p:nvSpPr>
          <p:cNvPr id="113" name="Google Shape;113;p5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sp>
        <p:nvSpPr>
          <p:cNvPr id="14" name="Google Shape;105;p4">
            <a:extLst>
              <a:ext uri="{FF2B5EF4-FFF2-40B4-BE49-F238E27FC236}">
                <a16:creationId xmlns:a16="http://schemas.microsoft.com/office/drawing/2014/main" id="{ACDB7B4D-B6AE-4923-AC21-5498DB4C9C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8612" y="4854583"/>
            <a:ext cx="10515600" cy="1157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l"/>
            <a:r>
              <a:rPr lang="en-US" sz="2400" dirty="0">
                <a:latin typeface="Helvetica Neue Light" panose="020B0604020202020204" charset="0"/>
              </a:rPr>
              <a:t>View </a:t>
            </a:r>
            <a:r>
              <a:rPr lang="en-US" sz="2400" b="1" dirty="0">
                <a:latin typeface="Helvetica Neue Light" panose="020B0604020202020204" charset="0"/>
              </a:rPr>
              <a:t>local files </a:t>
            </a:r>
            <a:r>
              <a:rPr lang="en-US" sz="2400" dirty="0">
                <a:latin typeface="Helvetica Neue Light" panose="020B0604020202020204" charset="0"/>
              </a:rPr>
              <a:t>without uploading</a:t>
            </a:r>
          </a:p>
          <a:p>
            <a:pPr algn="l"/>
            <a:r>
              <a:rPr lang="en-US" sz="2400" dirty="0">
                <a:latin typeface="Helvetica Neue Light" panose="020B0604020202020204" charset="0"/>
              </a:rPr>
              <a:t>View </a:t>
            </a:r>
            <a:r>
              <a:rPr lang="en-US" sz="2400" b="1" dirty="0">
                <a:latin typeface="Helvetica Neue Light" panose="020B0604020202020204" charset="0"/>
              </a:rPr>
              <a:t>remote files </a:t>
            </a:r>
            <a:r>
              <a:rPr lang="en-US" sz="2400" dirty="0">
                <a:latin typeface="Helvetica Neue Light" panose="020B0604020202020204" charset="0"/>
              </a:rPr>
              <a:t>with downloading the whole dataset</a:t>
            </a:r>
          </a:p>
        </p:txBody>
      </p:sp>
      <p:pic>
        <p:nvPicPr>
          <p:cNvPr id="5" name="Picture 2" descr="igvteam · GitHub">
            <a:extLst>
              <a:ext uri="{FF2B5EF4-FFF2-40B4-BE49-F238E27FC236}">
                <a16:creationId xmlns:a16="http://schemas.microsoft.com/office/drawing/2014/main" id="{A1D1ECE3-110D-4F2B-9FBB-FFD6807828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0879" y="2541719"/>
            <a:ext cx="1353829" cy="1260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5793E31-03E8-47DE-A8C5-A3A78463DF10}"/>
              </a:ext>
            </a:extLst>
          </p:cNvPr>
          <p:cNvSpPr txBox="1"/>
          <p:nvPr/>
        </p:nvSpPr>
        <p:spPr>
          <a:xfrm>
            <a:off x="1704315" y="4038564"/>
            <a:ext cx="2179622" cy="369332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ln>
            <a:solidFill>
              <a:schemeClr val="bg2">
                <a:lumMod val="25000"/>
                <a:lumOff val="7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CA" sz="1800" b="1" i="0" u="none" strike="noStrike" baseline="0" dirty="0">
                <a:solidFill>
                  <a:schemeClr val="bg2">
                    <a:lumMod val="75000"/>
                    <a:lumOff val="25000"/>
                  </a:schemeClr>
                </a:solidFill>
                <a:latin typeface="Helvetica Neue Light" panose="020B0604020202020204" charset="0"/>
              </a:rPr>
              <a:t>HTTP/FTP server</a:t>
            </a:r>
            <a:endParaRPr lang="en-CA" sz="1800" b="1" dirty="0">
              <a:solidFill>
                <a:schemeClr val="bg2">
                  <a:lumMod val="75000"/>
                  <a:lumOff val="25000"/>
                </a:schemeClr>
              </a:solidFill>
              <a:latin typeface="Helvetica Neue Light" panose="020B060402020202020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F0D262-7A00-455B-9876-0283B9620AFB}"/>
              </a:ext>
            </a:extLst>
          </p:cNvPr>
          <p:cNvSpPr txBox="1"/>
          <p:nvPr/>
        </p:nvSpPr>
        <p:spPr>
          <a:xfrm>
            <a:off x="2235452" y="1698108"/>
            <a:ext cx="1901417" cy="369332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ln>
            <a:solidFill>
              <a:schemeClr val="bg2">
                <a:lumMod val="25000"/>
                <a:lumOff val="7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CA" sz="1800" b="1" i="0" u="none" strike="noStrike" baseline="0" dirty="0">
                <a:solidFill>
                  <a:schemeClr val="bg2">
                    <a:lumMod val="75000"/>
                    <a:lumOff val="25000"/>
                  </a:schemeClr>
                </a:solidFill>
                <a:latin typeface="Helvetica Neue Light" panose="020B0604020202020204" charset="0"/>
              </a:rPr>
              <a:t>AWS cloud</a:t>
            </a:r>
            <a:endParaRPr lang="en-CA" sz="1800" b="1" dirty="0">
              <a:solidFill>
                <a:schemeClr val="bg2">
                  <a:lumMod val="75000"/>
                  <a:lumOff val="25000"/>
                </a:schemeClr>
              </a:solidFill>
              <a:latin typeface="Helvetica Neue Light" panose="020B060402020202020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E46E04-381C-4C42-A2A9-543704B05A55}"/>
              </a:ext>
            </a:extLst>
          </p:cNvPr>
          <p:cNvSpPr txBox="1"/>
          <p:nvPr/>
        </p:nvSpPr>
        <p:spPr>
          <a:xfrm>
            <a:off x="7269557" y="1672645"/>
            <a:ext cx="2198881" cy="369332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ln w="19050">
            <a:solidFill>
              <a:schemeClr val="bg2">
                <a:lumMod val="25000"/>
                <a:lumOff val="7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CA" sz="1800" b="1" i="0" u="none" strike="noStrike" baseline="0" dirty="0">
                <a:solidFill>
                  <a:schemeClr val="bg2">
                    <a:lumMod val="75000"/>
                    <a:lumOff val="25000"/>
                  </a:schemeClr>
                </a:solidFill>
                <a:latin typeface="Helvetica Neue Light" panose="020B0604020202020204" charset="0"/>
              </a:rPr>
              <a:t>Local files</a:t>
            </a:r>
            <a:endParaRPr lang="en-CA" sz="1800" b="1" dirty="0">
              <a:solidFill>
                <a:schemeClr val="bg2">
                  <a:lumMod val="75000"/>
                  <a:lumOff val="25000"/>
                </a:schemeClr>
              </a:solidFill>
              <a:latin typeface="Helvetica Neue Light" panose="020B060402020202020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606B53-6AB9-4315-AE34-B202C4A77892}"/>
              </a:ext>
            </a:extLst>
          </p:cNvPr>
          <p:cNvSpPr txBox="1"/>
          <p:nvPr/>
        </p:nvSpPr>
        <p:spPr>
          <a:xfrm>
            <a:off x="8044760" y="4038565"/>
            <a:ext cx="2198881" cy="369332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ln w="19050">
            <a:solidFill>
              <a:schemeClr val="bg2">
                <a:lumMod val="25000"/>
                <a:lumOff val="7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CA" sz="1800" b="1" i="0" u="none" strike="noStrike" baseline="0" dirty="0">
                <a:solidFill>
                  <a:schemeClr val="bg2">
                    <a:lumMod val="75000"/>
                    <a:lumOff val="25000"/>
                  </a:schemeClr>
                </a:solidFill>
                <a:latin typeface="Helvetica Neue Light" panose="020B0604020202020204" charset="0"/>
              </a:rPr>
              <a:t>TCGA</a:t>
            </a:r>
            <a:endParaRPr lang="en-CA" sz="1800" b="1" dirty="0">
              <a:solidFill>
                <a:schemeClr val="bg2">
                  <a:lumMod val="75000"/>
                  <a:lumOff val="25000"/>
                </a:schemeClr>
              </a:solidFill>
              <a:latin typeface="Helvetica Neue Light" panose="020B060402020202020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1716A9-8C73-4500-A17A-31076925C437}"/>
              </a:ext>
            </a:extLst>
          </p:cNvPr>
          <p:cNvSpPr txBox="1"/>
          <p:nvPr/>
        </p:nvSpPr>
        <p:spPr>
          <a:xfrm>
            <a:off x="1723574" y="4038564"/>
            <a:ext cx="2179622" cy="369332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ln w="19050">
            <a:solidFill>
              <a:schemeClr val="bg2">
                <a:lumMod val="25000"/>
                <a:lumOff val="7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CA" sz="1800" b="1" i="0" u="none" strike="noStrike" baseline="0" dirty="0">
                <a:solidFill>
                  <a:schemeClr val="bg2">
                    <a:lumMod val="75000"/>
                    <a:lumOff val="25000"/>
                  </a:schemeClr>
                </a:solidFill>
                <a:latin typeface="Helvetica Neue Light" panose="020B0604020202020204" charset="0"/>
              </a:rPr>
              <a:t>HTTP/FTP server</a:t>
            </a:r>
            <a:endParaRPr lang="en-CA" sz="1800" b="1" dirty="0">
              <a:solidFill>
                <a:schemeClr val="bg2">
                  <a:lumMod val="75000"/>
                  <a:lumOff val="25000"/>
                </a:schemeClr>
              </a:solidFill>
              <a:latin typeface="Helvetica Neue Light" panose="020B060402020202020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849F2A-79D3-4B06-825C-6D0D7411602C}"/>
              </a:ext>
            </a:extLst>
          </p:cNvPr>
          <p:cNvSpPr txBox="1"/>
          <p:nvPr/>
        </p:nvSpPr>
        <p:spPr>
          <a:xfrm>
            <a:off x="2254711" y="1698108"/>
            <a:ext cx="1901417" cy="369332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ln w="19050">
            <a:solidFill>
              <a:schemeClr val="bg2">
                <a:lumMod val="25000"/>
                <a:lumOff val="7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CA" sz="1800" b="1" i="0" u="none" strike="noStrike" baseline="0" dirty="0">
                <a:solidFill>
                  <a:schemeClr val="bg2">
                    <a:lumMod val="75000"/>
                    <a:lumOff val="25000"/>
                  </a:schemeClr>
                </a:solidFill>
                <a:latin typeface="Helvetica Neue Light" panose="020B0604020202020204" charset="0"/>
              </a:rPr>
              <a:t>AWS cloud</a:t>
            </a:r>
            <a:endParaRPr lang="en-CA" sz="1800" b="1" dirty="0">
              <a:solidFill>
                <a:schemeClr val="bg2">
                  <a:lumMod val="75000"/>
                  <a:lumOff val="25000"/>
                </a:schemeClr>
              </a:solidFill>
              <a:latin typeface="Helvetica Neue Light" panose="020B0604020202020204" charset="0"/>
            </a:endParaRP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E6E9090B-FB25-44CF-B868-C18D41C1CE93}"/>
              </a:ext>
            </a:extLst>
          </p:cNvPr>
          <p:cNvSpPr/>
          <p:nvPr/>
        </p:nvSpPr>
        <p:spPr>
          <a:xfrm rot="2228904">
            <a:off x="4151241" y="2360844"/>
            <a:ext cx="763417" cy="304134"/>
          </a:xfrm>
          <a:prstGeom prst="rightArrow">
            <a:avLst/>
          </a:prstGeom>
          <a:solidFill>
            <a:schemeClr val="bg2">
              <a:lumMod val="50000"/>
              <a:lumOff val="50000"/>
            </a:schemeClr>
          </a:solidFill>
          <a:ln>
            <a:solidFill>
              <a:schemeClr val="bg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7C8E6A76-D397-44C3-9D5B-554EF6F32519}"/>
              </a:ext>
            </a:extLst>
          </p:cNvPr>
          <p:cNvSpPr/>
          <p:nvPr/>
        </p:nvSpPr>
        <p:spPr>
          <a:xfrm rot="19880167">
            <a:off x="4088943" y="3770302"/>
            <a:ext cx="835280" cy="304134"/>
          </a:xfrm>
          <a:prstGeom prst="rightArrow">
            <a:avLst/>
          </a:prstGeom>
          <a:solidFill>
            <a:schemeClr val="bg2">
              <a:lumMod val="50000"/>
              <a:lumOff val="50000"/>
            </a:schemeClr>
          </a:solidFill>
          <a:ln>
            <a:solidFill>
              <a:schemeClr val="bg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35110D8A-CC3B-4B80-A146-5D5D6E885E20}"/>
              </a:ext>
            </a:extLst>
          </p:cNvPr>
          <p:cNvSpPr/>
          <p:nvPr/>
        </p:nvSpPr>
        <p:spPr>
          <a:xfrm rot="12123218">
            <a:off x="6853097" y="3770301"/>
            <a:ext cx="835280" cy="304134"/>
          </a:xfrm>
          <a:prstGeom prst="rightArrow">
            <a:avLst/>
          </a:prstGeom>
          <a:solidFill>
            <a:schemeClr val="bg2">
              <a:lumMod val="50000"/>
              <a:lumOff val="50000"/>
            </a:schemeClr>
          </a:solidFill>
          <a:ln>
            <a:solidFill>
              <a:schemeClr val="bg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F5E1D69F-38E0-4DC1-B34A-58FB37F34326}"/>
              </a:ext>
            </a:extLst>
          </p:cNvPr>
          <p:cNvSpPr/>
          <p:nvPr/>
        </p:nvSpPr>
        <p:spPr>
          <a:xfrm rot="8693896">
            <a:off x="6811749" y="2383475"/>
            <a:ext cx="835280" cy="304134"/>
          </a:xfrm>
          <a:prstGeom prst="rightArrow">
            <a:avLst/>
          </a:prstGeom>
          <a:solidFill>
            <a:schemeClr val="bg2">
              <a:lumMod val="50000"/>
              <a:lumOff val="50000"/>
            </a:schemeClr>
          </a:solidFill>
          <a:ln>
            <a:solidFill>
              <a:schemeClr val="bg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483328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 dirty="0"/>
              <a:t>Using IGV: The basics</a:t>
            </a:r>
            <a:endParaRPr dirty="0"/>
          </a:p>
        </p:txBody>
      </p:sp>
      <p:sp>
        <p:nvSpPr>
          <p:cNvPr id="113" name="Google Shape;113;p5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14" name="Google Shape;105;p4">
            <a:extLst>
              <a:ext uri="{FF2B5EF4-FFF2-40B4-BE49-F238E27FC236}">
                <a16:creationId xmlns:a16="http://schemas.microsoft.com/office/drawing/2014/main" id="{ACDB7B4D-B6AE-4923-AC21-5498DB4C9C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690687"/>
            <a:ext cx="10515600" cy="3939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l"/>
            <a:r>
              <a:rPr lang="en-US" sz="2400" dirty="0">
                <a:latin typeface="Helvetica Neue Light" panose="020B0604020202020204" charset="0"/>
              </a:rPr>
              <a:t>Launch IGV</a:t>
            </a:r>
          </a:p>
          <a:p>
            <a:pPr algn="l"/>
            <a:r>
              <a:rPr lang="en-US" sz="2400" dirty="0">
                <a:latin typeface="Helvetica Neue Light" panose="020B0604020202020204" charset="0"/>
              </a:rPr>
              <a:t>Select a reference genome</a:t>
            </a:r>
          </a:p>
          <a:p>
            <a:pPr algn="l"/>
            <a:r>
              <a:rPr lang="en-US" sz="2400" dirty="0">
                <a:latin typeface="Helvetica Neue Light" panose="020B0604020202020204" charset="0"/>
              </a:rPr>
              <a:t>Load data</a:t>
            </a:r>
          </a:p>
          <a:p>
            <a:pPr algn="l"/>
            <a:r>
              <a:rPr lang="en-US" sz="2400" dirty="0">
                <a:latin typeface="Helvetica Neue Light" panose="020B0604020202020204" charset="0"/>
              </a:rPr>
              <a:t>Navigate through the data</a:t>
            </a:r>
          </a:p>
          <a:p>
            <a:pPr lvl="1"/>
            <a:r>
              <a:rPr lang="en-US" sz="2000" dirty="0">
                <a:latin typeface="Helvetica Neue Light" panose="020B0604020202020204" charset="0"/>
              </a:rPr>
              <a:t>WGS data</a:t>
            </a:r>
          </a:p>
          <a:p>
            <a:pPr lvl="1"/>
            <a:r>
              <a:rPr lang="en-US" sz="2000" dirty="0">
                <a:latin typeface="Helvetica Neue Light" panose="020B0604020202020204" charset="0"/>
              </a:rPr>
              <a:t>SNVs</a:t>
            </a:r>
          </a:p>
          <a:p>
            <a:pPr lvl="1"/>
            <a:r>
              <a:rPr lang="en-US" sz="2000" dirty="0">
                <a:latin typeface="Helvetica Neue Light" panose="020B0604020202020204" charset="0"/>
              </a:rPr>
              <a:t>Structural variants</a:t>
            </a:r>
          </a:p>
        </p:txBody>
      </p:sp>
    </p:spTree>
    <p:extLst>
      <p:ext uri="{BB962C8B-B14F-4D97-AF65-F5344CB8AC3E}">
        <p14:creationId xmlns:p14="http://schemas.microsoft.com/office/powerpoint/2010/main" val="34282165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 dirty="0"/>
              <a:t>Launch IGV and select genome</a:t>
            </a:r>
            <a:endParaRPr dirty="0"/>
          </a:p>
        </p:txBody>
      </p:sp>
      <p:sp>
        <p:nvSpPr>
          <p:cNvPr id="113" name="Google Shape;113;p5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3D5F97-9E41-4B1F-B777-CEBE7D1E97B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0866" t="27092" r="19951" b="10714"/>
          <a:stretch/>
        </p:blipFill>
        <p:spPr>
          <a:xfrm>
            <a:off x="1955549" y="1690688"/>
            <a:ext cx="7215612" cy="407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3284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 dirty="0"/>
              <a:t>Load data</a:t>
            </a:r>
            <a:endParaRPr dirty="0"/>
          </a:p>
        </p:txBody>
      </p:sp>
      <p:sp>
        <p:nvSpPr>
          <p:cNvPr id="113" name="Google Shape;113;p5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A64C72-DECE-4C94-87B6-D651E1D4A62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1781" t="22531" r="31684" b="22462"/>
          <a:stretch/>
        </p:blipFill>
        <p:spPr>
          <a:xfrm>
            <a:off x="2942375" y="1321806"/>
            <a:ext cx="5848539" cy="4731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7561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 dirty="0"/>
              <a:t>Screen layout</a:t>
            </a:r>
            <a:endParaRPr dirty="0"/>
          </a:p>
        </p:txBody>
      </p:sp>
      <p:sp>
        <p:nvSpPr>
          <p:cNvPr id="113" name="Google Shape;113;p5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F81271-271D-45FF-B7F8-82CA4013E70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9827" t="23463" r="18317" b="8641"/>
          <a:stretch/>
        </p:blipFill>
        <p:spPr>
          <a:xfrm>
            <a:off x="1973655" y="1419085"/>
            <a:ext cx="7541538" cy="4447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9741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 dirty="0"/>
              <a:t>File formats and track types</a:t>
            </a:r>
            <a:endParaRPr dirty="0"/>
          </a:p>
        </p:txBody>
      </p:sp>
      <p:sp>
        <p:nvSpPr>
          <p:cNvPr id="113" name="Google Shape;113;p5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sp>
        <p:nvSpPr>
          <p:cNvPr id="14" name="Google Shape;105;p4">
            <a:extLst>
              <a:ext uri="{FF2B5EF4-FFF2-40B4-BE49-F238E27FC236}">
                <a16:creationId xmlns:a16="http://schemas.microsoft.com/office/drawing/2014/main" id="{ACDB7B4D-B6AE-4923-AC21-5498DB4C9C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459374"/>
            <a:ext cx="10515600" cy="3939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l"/>
            <a:r>
              <a:rPr lang="en-US" sz="2400" dirty="0">
                <a:latin typeface="Helvetica Neue Light" panose="020B0604020202020204" charset="0"/>
              </a:rPr>
              <a:t>The file format defines the track type</a:t>
            </a:r>
          </a:p>
          <a:p>
            <a:pPr algn="l"/>
            <a:r>
              <a:rPr lang="en-US" sz="2400" dirty="0">
                <a:latin typeface="Helvetica Neue Light" panose="020B0604020202020204" charset="0"/>
              </a:rPr>
              <a:t>The track type determines the display options</a:t>
            </a:r>
          </a:p>
          <a:p>
            <a:pPr algn="l"/>
            <a:r>
              <a:rPr lang="en-US" sz="2400" dirty="0">
                <a:latin typeface="Helvetica Neue Light" panose="020B0604020202020204" charset="0"/>
              </a:rPr>
              <a:t>Compatible data formats: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13E83A-D9E0-481C-8977-D786C8C4BCC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0866" t="43400" r="30644" b="7259"/>
          <a:stretch/>
        </p:blipFill>
        <p:spPr>
          <a:xfrm>
            <a:off x="2544024" y="2996697"/>
            <a:ext cx="5911913" cy="3232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4293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 dirty="0"/>
              <a:t>Viewing alignments</a:t>
            </a:r>
            <a:endParaRPr dirty="0"/>
          </a:p>
        </p:txBody>
      </p:sp>
      <p:sp>
        <p:nvSpPr>
          <p:cNvPr id="113" name="Google Shape;113;p5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9BA844-6534-4B61-83B5-0DD7360FCFD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1312" t="31376" r="19950" b="11406"/>
          <a:stretch/>
        </p:blipFill>
        <p:spPr>
          <a:xfrm>
            <a:off x="2027977" y="1774481"/>
            <a:ext cx="7161292" cy="3748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6900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 dirty="0"/>
              <a:t>Viewing alignments – Zoom in</a:t>
            </a:r>
            <a:endParaRPr dirty="0"/>
          </a:p>
        </p:txBody>
      </p:sp>
      <p:sp>
        <p:nvSpPr>
          <p:cNvPr id="113" name="Google Shape;113;p5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7466A8-F75B-4DDA-98D2-13DA69232C5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317" t="27092" r="25669" b="6982"/>
          <a:stretch/>
        </p:blipFill>
        <p:spPr>
          <a:xfrm>
            <a:off x="2308634" y="1611517"/>
            <a:ext cx="6219731" cy="4318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4478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 dirty="0"/>
              <a:t>Viewing alignments – Zoom in</a:t>
            </a:r>
            <a:endParaRPr dirty="0"/>
          </a:p>
        </p:txBody>
      </p:sp>
      <p:sp>
        <p:nvSpPr>
          <p:cNvPr id="113" name="Google Shape;113;p5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84E8F5-2DC1-4A49-B083-72B557231F7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658" t="25434" r="20248" b="6153"/>
          <a:stretch/>
        </p:blipFill>
        <p:spPr>
          <a:xfrm>
            <a:off x="2779414" y="1611518"/>
            <a:ext cx="6473228" cy="4481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5141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CA" dirty="0"/>
              <a:t>SNVs and structural variants</a:t>
            </a:r>
            <a:endParaRPr dirty="0"/>
          </a:p>
        </p:txBody>
      </p:sp>
      <p:sp>
        <p:nvSpPr>
          <p:cNvPr id="113" name="Google Shape;113;p5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  <p:sp>
        <p:nvSpPr>
          <p:cNvPr id="14" name="Google Shape;105;p4">
            <a:extLst>
              <a:ext uri="{FF2B5EF4-FFF2-40B4-BE49-F238E27FC236}">
                <a16:creationId xmlns:a16="http://schemas.microsoft.com/office/drawing/2014/main" id="{ACDB7B4D-B6AE-4923-AC21-5498DB4C9C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690687"/>
            <a:ext cx="10515600" cy="439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algn="l"/>
            <a:r>
              <a:rPr lang="en-US" sz="2400" dirty="0">
                <a:latin typeface="Helvetica Neue Light" panose="020B0604020202020204" charset="0"/>
              </a:rPr>
              <a:t>Important metrics for evaluating the validity of SNVs:</a:t>
            </a:r>
          </a:p>
          <a:p>
            <a:pPr lvl="1"/>
            <a:r>
              <a:rPr lang="en-US" sz="2000" dirty="0">
                <a:latin typeface="Helvetica Neue Light" panose="020B0604020202020204" charset="0"/>
              </a:rPr>
              <a:t>Coverage</a:t>
            </a:r>
          </a:p>
          <a:p>
            <a:pPr lvl="1"/>
            <a:r>
              <a:rPr lang="en-US" sz="2000" dirty="0">
                <a:latin typeface="Helvetica Neue Light" panose="020B0604020202020204" charset="0"/>
              </a:rPr>
              <a:t>Amount of support</a:t>
            </a:r>
          </a:p>
          <a:p>
            <a:pPr lvl="1"/>
            <a:r>
              <a:rPr lang="en-US" sz="2000" dirty="0">
                <a:latin typeface="Helvetica Neue Light" panose="020B0604020202020204" charset="0"/>
              </a:rPr>
              <a:t>Strand bias / PCR artifacts</a:t>
            </a:r>
          </a:p>
          <a:p>
            <a:pPr lvl="1"/>
            <a:r>
              <a:rPr lang="en-US" sz="2000" dirty="0">
                <a:latin typeface="Helvetica Neue Light" panose="020B0604020202020204" charset="0"/>
              </a:rPr>
              <a:t>Mapping qualities</a:t>
            </a:r>
          </a:p>
          <a:p>
            <a:pPr lvl="1"/>
            <a:r>
              <a:rPr lang="en-US" sz="2000" dirty="0">
                <a:latin typeface="Helvetica Neue Light" panose="020B0604020202020204" charset="0"/>
              </a:rPr>
              <a:t>Base qualities</a:t>
            </a:r>
          </a:p>
          <a:p>
            <a:pPr algn="l"/>
            <a:endParaRPr lang="en-US" sz="2400" dirty="0">
              <a:latin typeface="Helvetica Neue Light" panose="020B0604020202020204" charset="0"/>
            </a:endParaRPr>
          </a:p>
          <a:p>
            <a:pPr algn="l"/>
            <a:r>
              <a:rPr lang="en-US" sz="2400" dirty="0">
                <a:latin typeface="Helvetica Neue Light" panose="020B0604020202020204" charset="0"/>
              </a:rPr>
              <a:t>Important metrics for evaluating SVs:</a:t>
            </a:r>
          </a:p>
          <a:p>
            <a:pPr lvl="1"/>
            <a:r>
              <a:rPr lang="en-US" sz="2000" dirty="0">
                <a:latin typeface="Helvetica Neue Light" panose="020B0604020202020204" charset="0"/>
              </a:rPr>
              <a:t>Coverage</a:t>
            </a:r>
          </a:p>
          <a:p>
            <a:pPr lvl="1"/>
            <a:r>
              <a:rPr lang="en-US" sz="2000" dirty="0">
                <a:latin typeface="Helvetica Neue Light" panose="020B0604020202020204" charset="0"/>
              </a:rPr>
              <a:t>Insert size</a:t>
            </a:r>
          </a:p>
          <a:p>
            <a:pPr lvl="1"/>
            <a:r>
              <a:rPr lang="en-US" sz="2000" dirty="0">
                <a:latin typeface="Helvetica Neue Light" panose="020B0604020202020204" charset="0"/>
              </a:rPr>
              <a:t>Read pair orientation</a:t>
            </a:r>
          </a:p>
        </p:txBody>
      </p:sp>
    </p:spTree>
    <p:extLst>
      <p:ext uri="{BB962C8B-B14F-4D97-AF65-F5344CB8AC3E}">
        <p14:creationId xmlns:p14="http://schemas.microsoft.com/office/powerpoint/2010/main" val="10790602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 dirty="0"/>
              <a:t>Viewing SNPs and SNVs</a:t>
            </a:r>
            <a:endParaRPr dirty="0"/>
          </a:p>
        </p:txBody>
      </p:sp>
      <p:sp>
        <p:nvSpPr>
          <p:cNvPr id="113" name="Google Shape;113;p5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302516-BD53-4086-917A-3806E4A5C4F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836" t="25296" r="24332" b="6982"/>
          <a:stretch/>
        </p:blipFill>
        <p:spPr>
          <a:xfrm>
            <a:off x="1140736" y="1493822"/>
            <a:ext cx="6319319" cy="4436198"/>
          </a:xfrm>
          <a:prstGeom prst="rect">
            <a:avLst/>
          </a:prstGeom>
        </p:spPr>
      </p:pic>
      <p:sp>
        <p:nvSpPr>
          <p:cNvPr id="7" name="Google Shape;105;p4">
            <a:extLst>
              <a:ext uri="{FF2B5EF4-FFF2-40B4-BE49-F238E27FC236}">
                <a16:creationId xmlns:a16="http://schemas.microsoft.com/office/drawing/2014/main" id="{6F5FB2EA-7403-4E3C-848A-B7D90E109C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8696" y="1690687"/>
            <a:ext cx="4336611" cy="439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l"/>
            <a:r>
              <a:rPr lang="en-US" sz="2400" dirty="0">
                <a:latin typeface="Helvetica Neue Light" panose="020B0604020202020204" charset="0"/>
              </a:rPr>
              <a:t>Things to watch for:</a:t>
            </a:r>
          </a:p>
          <a:p>
            <a:pPr lvl="1"/>
            <a:r>
              <a:rPr lang="en-US" sz="2000" dirty="0">
                <a:latin typeface="Helvetica Neue Light" panose="020B0604020202020204" charset="0"/>
              </a:rPr>
              <a:t>variant allele frequency (VAF)</a:t>
            </a:r>
          </a:p>
          <a:p>
            <a:pPr lvl="1"/>
            <a:r>
              <a:rPr lang="en-US" sz="2000" dirty="0">
                <a:latin typeface="Helvetica Neue Light" panose="020B0604020202020204" charset="0"/>
              </a:rPr>
              <a:t>number of supporting reads</a:t>
            </a:r>
          </a:p>
          <a:p>
            <a:pPr lvl="1"/>
            <a:r>
              <a:rPr lang="en-US" sz="2000" dirty="0">
                <a:latin typeface="Helvetica Neue Light" panose="020B0604020202020204" charset="0"/>
              </a:rPr>
              <a:t>poor quality bases</a:t>
            </a:r>
          </a:p>
          <a:p>
            <a:pPr lvl="1"/>
            <a:r>
              <a:rPr lang="en-US" sz="2000" dirty="0">
                <a:latin typeface="Helvetica Neue Light" panose="020B0604020202020204" charset="0"/>
              </a:rPr>
              <a:t>nearby mismatches</a:t>
            </a:r>
            <a:endParaRPr lang="en-US" sz="1600" dirty="0">
              <a:latin typeface="Helvetica Neue 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76650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 dirty="0"/>
              <a:t>Viewing SNPs and SNVs</a:t>
            </a:r>
            <a:endParaRPr dirty="0"/>
          </a:p>
        </p:txBody>
      </p:sp>
      <p:sp>
        <p:nvSpPr>
          <p:cNvPr id="113" name="Google Shape;113;p5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508466-94DA-45F5-82AD-67A36953EBD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539" t="25020" r="20025" b="7534"/>
          <a:stretch/>
        </p:blipFill>
        <p:spPr>
          <a:xfrm>
            <a:off x="1041149" y="1602462"/>
            <a:ext cx="6880634" cy="4418091"/>
          </a:xfrm>
          <a:prstGeom prst="rect">
            <a:avLst/>
          </a:prstGeom>
        </p:spPr>
      </p:pic>
      <p:sp>
        <p:nvSpPr>
          <p:cNvPr id="7" name="Google Shape;105;p4">
            <a:extLst>
              <a:ext uri="{FF2B5EF4-FFF2-40B4-BE49-F238E27FC236}">
                <a16:creationId xmlns:a16="http://schemas.microsoft.com/office/drawing/2014/main" id="{C024F3D2-BD5A-47A4-A4A4-7E3F0AE73C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8696" y="1690687"/>
            <a:ext cx="4336611" cy="439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l"/>
            <a:r>
              <a:rPr lang="en-US" sz="2400" dirty="0">
                <a:latin typeface="Helvetica Neue Light" panose="020B0604020202020204" charset="0"/>
              </a:rPr>
              <a:t>Things to watch for:</a:t>
            </a:r>
          </a:p>
          <a:p>
            <a:pPr lvl="1"/>
            <a:r>
              <a:rPr lang="en-US" sz="2000" dirty="0">
                <a:latin typeface="Helvetica Neue Light" panose="020B0604020202020204" charset="0"/>
              </a:rPr>
              <a:t>strand bias</a:t>
            </a:r>
          </a:p>
          <a:p>
            <a:pPr lvl="1"/>
            <a:r>
              <a:rPr lang="en-US" sz="2000" dirty="0">
                <a:latin typeface="Helvetica Neue Light" panose="020B0604020202020204" charset="0"/>
              </a:rPr>
              <a:t>variants near read ends</a:t>
            </a:r>
          </a:p>
          <a:p>
            <a:pPr lvl="1"/>
            <a:r>
              <a:rPr lang="en-US" sz="2000" dirty="0">
                <a:latin typeface="Helvetica Neue Light" panose="020B0604020202020204" charset="0"/>
              </a:rPr>
              <a:t>read mapping quality</a:t>
            </a:r>
          </a:p>
          <a:p>
            <a:pPr lvl="1"/>
            <a:r>
              <a:rPr lang="en-US" sz="2000" dirty="0">
                <a:latin typeface="Helvetica Neue Light" panose="020B0604020202020204" charset="0"/>
              </a:rPr>
              <a:t>repetitive sequence</a:t>
            </a:r>
            <a:endParaRPr lang="en-US" sz="1200" dirty="0">
              <a:latin typeface="Helvetica Neue 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81735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 dirty="0"/>
              <a:t>Viewing structural variants</a:t>
            </a:r>
            <a:endParaRPr dirty="0"/>
          </a:p>
        </p:txBody>
      </p:sp>
      <p:sp>
        <p:nvSpPr>
          <p:cNvPr id="113" name="Google Shape;113;p5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  <p:sp>
        <p:nvSpPr>
          <p:cNvPr id="14" name="Google Shape;105;p4">
            <a:extLst>
              <a:ext uri="{FF2B5EF4-FFF2-40B4-BE49-F238E27FC236}">
                <a16:creationId xmlns:a16="http://schemas.microsoft.com/office/drawing/2014/main" id="{ACDB7B4D-B6AE-4923-AC21-5498DB4C9C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690687"/>
            <a:ext cx="10515600" cy="3939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l"/>
            <a:r>
              <a:rPr lang="en-US" dirty="0">
                <a:latin typeface="Helvetica Neue Light" panose="020B0604020202020204" charset="0"/>
              </a:rPr>
              <a:t>Paired reads can yield evidence for genomic “structural events”, such as deletions, translocations, and inversions</a:t>
            </a:r>
          </a:p>
          <a:p>
            <a:pPr algn="l"/>
            <a:endParaRPr lang="en-US" dirty="0">
              <a:latin typeface="Helvetica Neue Light" panose="020B0604020202020204" charset="0"/>
            </a:endParaRPr>
          </a:p>
          <a:p>
            <a:pPr algn="l"/>
            <a:r>
              <a:rPr lang="en-US" dirty="0">
                <a:latin typeface="Helvetica Neue Light" panose="020B0604020202020204" charset="0"/>
              </a:rPr>
              <a:t>Alignment coloring options help highlight these events based on:</a:t>
            </a:r>
          </a:p>
          <a:p>
            <a:pPr lvl="1"/>
            <a:r>
              <a:rPr lang="en-US" dirty="0">
                <a:latin typeface="Helvetica Neue Light" panose="020B0604020202020204" charset="0"/>
              </a:rPr>
              <a:t>Inferred insert size (template length)</a:t>
            </a:r>
          </a:p>
          <a:p>
            <a:pPr lvl="1"/>
            <a:r>
              <a:rPr lang="en-US" dirty="0">
                <a:latin typeface="Helvetica Neue Light" panose="020B0604020202020204" charset="0"/>
              </a:rPr>
              <a:t>Pair orientation (relative strand of pair)</a:t>
            </a:r>
          </a:p>
        </p:txBody>
      </p:sp>
    </p:spTree>
    <p:extLst>
      <p:ext uri="{BB962C8B-B14F-4D97-AF65-F5344CB8AC3E}">
        <p14:creationId xmlns:p14="http://schemas.microsoft.com/office/powerpoint/2010/main" val="22120331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 dirty="0"/>
              <a:t>Paired-end sequencing</a:t>
            </a:r>
            <a:endParaRPr dirty="0"/>
          </a:p>
        </p:txBody>
      </p:sp>
      <p:sp>
        <p:nvSpPr>
          <p:cNvPr id="113" name="Google Shape;113;p5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54A4A76-5203-4554-9081-2DFF7C42846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1015" t="26678" r="21807" b="8504"/>
          <a:stretch/>
        </p:blipFill>
        <p:spPr>
          <a:xfrm>
            <a:off x="2136617" y="1611517"/>
            <a:ext cx="6971169" cy="4246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0330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 dirty="0"/>
              <a:t>Interpreting inferred insert size</a:t>
            </a:r>
            <a:endParaRPr dirty="0"/>
          </a:p>
        </p:txBody>
      </p:sp>
      <p:sp>
        <p:nvSpPr>
          <p:cNvPr id="113" name="Google Shape;113;p5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  <p:sp>
        <p:nvSpPr>
          <p:cNvPr id="14" name="Google Shape;105;p4">
            <a:extLst>
              <a:ext uri="{FF2B5EF4-FFF2-40B4-BE49-F238E27FC236}">
                <a16:creationId xmlns:a16="http://schemas.microsoft.com/office/drawing/2014/main" id="{ACDB7B4D-B6AE-4923-AC21-5498DB4C9C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690687"/>
            <a:ext cx="8649832" cy="3939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l"/>
            <a:r>
              <a:rPr lang="en-US" dirty="0">
                <a:latin typeface="Helvetica Neue Light" panose="020B0604020202020204" charset="0"/>
              </a:rPr>
              <a:t>The “inferred insert size” can be used to detect structural variants including:</a:t>
            </a:r>
          </a:p>
          <a:p>
            <a:pPr lvl="1"/>
            <a:r>
              <a:rPr lang="en-US" sz="2800" b="1" dirty="0">
                <a:latin typeface="Helvetica Neue Light" panose="020B0604020202020204" charset="0"/>
              </a:rPr>
              <a:t>Deletions</a:t>
            </a:r>
          </a:p>
          <a:p>
            <a:pPr lvl="1"/>
            <a:r>
              <a:rPr lang="en-US" sz="2800" b="1" dirty="0">
                <a:latin typeface="Helvetica Neue Light" panose="020B0604020202020204" charset="0"/>
              </a:rPr>
              <a:t>Insertions</a:t>
            </a:r>
          </a:p>
        </p:txBody>
      </p:sp>
    </p:spTree>
    <p:extLst>
      <p:ext uri="{BB962C8B-B14F-4D97-AF65-F5344CB8AC3E}">
        <p14:creationId xmlns:p14="http://schemas.microsoft.com/office/powerpoint/2010/main" val="10866534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 dirty="0"/>
              <a:t>Deletion</a:t>
            </a:r>
            <a:endParaRPr dirty="0"/>
          </a:p>
        </p:txBody>
      </p:sp>
      <p:sp>
        <p:nvSpPr>
          <p:cNvPr id="113" name="Google Shape;113;p5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050FBA-91CA-4EA6-A0D4-AB31DB7C796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1758" t="36075" r="20396" b="20665"/>
          <a:stretch/>
        </p:blipFill>
        <p:spPr>
          <a:xfrm>
            <a:off x="2652664" y="2516863"/>
            <a:ext cx="7052651" cy="2833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1767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 dirty="0"/>
              <a:t>Deletion</a:t>
            </a:r>
            <a:endParaRPr dirty="0"/>
          </a:p>
        </p:txBody>
      </p:sp>
      <p:sp>
        <p:nvSpPr>
          <p:cNvPr id="113" name="Google Shape;113;p5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D17A1F-E4BB-43A4-9666-F92C9321549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1609" t="38149" r="21733" b="18592"/>
          <a:stretch/>
        </p:blipFill>
        <p:spPr>
          <a:xfrm>
            <a:off x="2634558" y="2652665"/>
            <a:ext cx="6907794" cy="2833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83466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 dirty="0"/>
              <a:t>Deletion</a:t>
            </a:r>
            <a:endParaRPr dirty="0"/>
          </a:p>
        </p:txBody>
      </p:sp>
      <p:sp>
        <p:nvSpPr>
          <p:cNvPr id="113" name="Google Shape;113;p5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CF6855-7637-4545-BD15-EB4175AA0BF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1832" t="36075" r="21955" b="13617"/>
          <a:stretch/>
        </p:blipFill>
        <p:spPr>
          <a:xfrm>
            <a:off x="2661719" y="2516863"/>
            <a:ext cx="6853474" cy="3295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16832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 dirty="0"/>
              <a:t>Deletion</a:t>
            </a:r>
            <a:endParaRPr dirty="0"/>
          </a:p>
        </p:txBody>
      </p:sp>
      <p:sp>
        <p:nvSpPr>
          <p:cNvPr id="113" name="Google Shape;113;p5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2B3562-568B-4C18-AAB6-590FA45B2B3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1758" t="29718" r="21213" b="7950"/>
          <a:stretch/>
        </p:blipFill>
        <p:spPr>
          <a:xfrm>
            <a:off x="2652664" y="2100404"/>
            <a:ext cx="6953063" cy="4083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83043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 dirty="0" err="1"/>
              <a:t>Colour</a:t>
            </a:r>
            <a:r>
              <a:rPr lang="en-US" dirty="0"/>
              <a:t> by insert size</a:t>
            </a:r>
            <a:endParaRPr dirty="0"/>
          </a:p>
        </p:txBody>
      </p:sp>
      <p:sp>
        <p:nvSpPr>
          <p:cNvPr id="113" name="Google Shape;113;p5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C0CFB1-B962-4081-9C9B-EF33C6DF930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4133" t="31376" r="21584" b="10991"/>
          <a:stretch/>
        </p:blipFill>
        <p:spPr>
          <a:xfrm>
            <a:off x="2942376" y="2209046"/>
            <a:ext cx="6618083" cy="3775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85126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 dirty="0"/>
              <a:t>Deletion</a:t>
            </a:r>
            <a:endParaRPr dirty="0"/>
          </a:p>
        </p:txBody>
      </p:sp>
      <p:sp>
        <p:nvSpPr>
          <p:cNvPr id="113" name="Google Shape;113;p5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1D558E-2D89-49A9-B896-A2567F5E645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4059" t="30271" r="18911" b="6568"/>
          <a:stretch/>
        </p:blipFill>
        <p:spPr>
          <a:xfrm>
            <a:off x="2933323" y="2136618"/>
            <a:ext cx="6953062" cy="4137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89897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 dirty="0"/>
              <a:t>Insertion</a:t>
            </a:r>
            <a:endParaRPr dirty="0"/>
          </a:p>
        </p:txBody>
      </p:sp>
      <p:sp>
        <p:nvSpPr>
          <p:cNvPr id="113" name="Google Shape;113;p5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603A02-F658-42B7-AB62-154D9906862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1534" t="37734" r="21213" b="19007"/>
          <a:stretch/>
        </p:blipFill>
        <p:spPr>
          <a:xfrm>
            <a:off x="2625504" y="2625505"/>
            <a:ext cx="6980223" cy="2833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04316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 dirty="0"/>
              <a:t>Insertion</a:t>
            </a:r>
            <a:endParaRPr dirty="0"/>
          </a:p>
        </p:txBody>
      </p:sp>
      <p:sp>
        <p:nvSpPr>
          <p:cNvPr id="113" name="Google Shape;113;p5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42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3F8C3C-C8E4-4039-935A-6E219189172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1609" t="37320" r="21436" b="20389"/>
          <a:stretch/>
        </p:blipFill>
        <p:spPr>
          <a:xfrm>
            <a:off x="2634558" y="2598345"/>
            <a:ext cx="6944008" cy="277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4599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 dirty="0"/>
              <a:t>Insertion</a:t>
            </a:r>
            <a:endParaRPr dirty="0"/>
          </a:p>
        </p:txBody>
      </p:sp>
      <p:sp>
        <p:nvSpPr>
          <p:cNvPr id="113" name="Google Shape;113;p5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43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068180C-67BD-4341-BD33-67127B1F057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1980" t="29441" r="21361" b="9470"/>
          <a:stretch/>
        </p:blipFill>
        <p:spPr>
          <a:xfrm>
            <a:off x="2679826" y="2082297"/>
            <a:ext cx="6907794" cy="4001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18040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 dirty="0"/>
              <a:t>Insert size </a:t>
            </a:r>
            <a:r>
              <a:rPr lang="en-US" dirty="0" err="1"/>
              <a:t>colour</a:t>
            </a:r>
            <a:r>
              <a:rPr lang="en-US" dirty="0"/>
              <a:t> scheme</a:t>
            </a:r>
            <a:endParaRPr dirty="0"/>
          </a:p>
        </p:txBody>
      </p:sp>
      <p:sp>
        <p:nvSpPr>
          <p:cNvPr id="113" name="Google Shape;113;p5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44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CA5FF6-33B8-4334-8E2E-BCDB2555162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1683" t="33726" r="22401" b="22601"/>
          <a:stretch/>
        </p:blipFill>
        <p:spPr>
          <a:xfrm>
            <a:off x="2643612" y="2362955"/>
            <a:ext cx="6817259" cy="286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0673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 dirty="0"/>
              <a:t>Translocation</a:t>
            </a:r>
            <a:endParaRPr dirty="0"/>
          </a:p>
        </p:txBody>
      </p:sp>
      <p:sp>
        <p:nvSpPr>
          <p:cNvPr id="113" name="Google Shape;113;p5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45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16BB8E-7218-400A-918A-D6168EF68CF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614" t="28060" r="25817" b="6569"/>
          <a:stretch/>
        </p:blipFill>
        <p:spPr>
          <a:xfrm>
            <a:off x="2652665" y="1593409"/>
            <a:ext cx="6165410" cy="4282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38496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 dirty="0"/>
              <a:t>Interpreting read-pair orientations</a:t>
            </a:r>
          </a:p>
        </p:txBody>
      </p:sp>
      <p:sp>
        <p:nvSpPr>
          <p:cNvPr id="113" name="Google Shape;113;p5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46</a:t>
            </a:fld>
            <a:endParaRPr/>
          </a:p>
        </p:txBody>
      </p:sp>
      <p:sp>
        <p:nvSpPr>
          <p:cNvPr id="4" name="Google Shape;105;p4">
            <a:extLst>
              <a:ext uri="{FF2B5EF4-FFF2-40B4-BE49-F238E27FC236}">
                <a16:creationId xmlns:a16="http://schemas.microsoft.com/office/drawing/2014/main" id="{3D127625-E9BD-4D1C-9A9C-C57DF4AE4F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690687"/>
            <a:ext cx="10515600" cy="3939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l"/>
            <a:r>
              <a:rPr lang="en-US" sz="2400" dirty="0">
                <a:latin typeface="Helvetica Neue Light" panose="020B0604020202020204" charset="0"/>
              </a:rPr>
              <a:t>Orientation of paired reads can reveal structural events:</a:t>
            </a:r>
          </a:p>
          <a:p>
            <a:pPr lvl="1"/>
            <a:r>
              <a:rPr lang="en-US" dirty="0">
                <a:latin typeface="Helvetica Neue Light" panose="020B0604020202020204" charset="0"/>
              </a:rPr>
              <a:t>Inversions</a:t>
            </a:r>
          </a:p>
          <a:p>
            <a:pPr lvl="1"/>
            <a:r>
              <a:rPr lang="en-US" dirty="0">
                <a:latin typeface="Helvetica Neue Light" panose="020B0604020202020204" charset="0"/>
              </a:rPr>
              <a:t>Duplications</a:t>
            </a:r>
          </a:p>
          <a:p>
            <a:pPr lvl="1"/>
            <a:r>
              <a:rPr lang="en-US" dirty="0">
                <a:latin typeface="Helvetica Neue Light" panose="020B0604020202020204" charset="0"/>
              </a:rPr>
              <a:t>Translocations</a:t>
            </a:r>
          </a:p>
          <a:p>
            <a:pPr lvl="1"/>
            <a:r>
              <a:rPr lang="en-US" dirty="0">
                <a:latin typeface="Helvetica Neue Light" panose="020B0604020202020204" charset="0"/>
              </a:rPr>
              <a:t>Complex rearrangements</a:t>
            </a:r>
          </a:p>
          <a:p>
            <a:pPr algn="l"/>
            <a:endParaRPr lang="en-US" sz="2400" dirty="0">
              <a:latin typeface="Helvetica Neue Light" panose="020B0604020202020204" charset="0"/>
            </a:endParaRPr>
          </a:p>
          <a:p>
            <a:pPr algn="l"/>
            <a:r>
              <a:rPr lang="en-US" sz="2400" dirty="0">
                <a:latin typeface="Helvetica Neue Light" panose="020B0604020202020204" charset="0"/>
              </a:rPr>
              <a:t>Orientation is defined in terms of</a:t>
            </a:r>
          </a:p>
          <a:p>
            <a:pPr lvl="1"/>
            <a:r>
              <a:rPr lang="en-US" dirty="0">
                <a:latin typeface="Helvetica Neue Light" panose="020B0604020202020204" charset="0"/>
              </a:rPr>
              <a:t>read strand, left vs right, and</a:t>
            </a:r>
          </a:p>
          <a:p>
            <a:pPr lvl="1"/>
            <a:r>
              <a:rPr lang="en-US" dirty="0">
                <a:latin typeface="Helvetica Neue Light" panose="020B0604020202020204" charset="0"/>
              </a:rPr>
              <a:t>read order, first vs second</a:t>
            </a:r>
          </a:p>
        </p:txBody>
      </p:sp>
    </p:spTree>
    <p:extLst>
      <p:ext uri="{BB962C8B-B14F-4D97-AF65-F5344CB8AC3E}">
        <p14:creationId xmlns:p14="http://schemas.microsoft.com/office/powerpoint/2010/main" val="35131060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 dirty="0"/>
              <a:t>Inversion</a:t>
            </a:r>
            <a:endParaRPr dirty="0"/>
          </a:p>
        </p:txBody>
      </p:sp>
      <p:sp>
        <p:nvSpPr>
          <p:cNvPr id="113" name="Google Shape;113;p5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47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CACA4B9-5739-463E-8B6F-8972119C875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130" t="33726" r="21064" b="15967"/>
          <a:stretch/>
        </p:blipFill>
        <p:spPr>
          <a:xfrm>
            <a:off x="2697933" y="2362955"/>
            <a:ext cx="6925902" cy="3295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00354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 dirty="0"/>
              <a:t>Inversion</a:t>
            </a:r>
            <a:endParaRPr dirty="0"/>
          </a:p>
        </p:txBody>
      </p:sp>
      <p:sp>
        <p:nvSpPr>
          <p:cNvPr id="113" name="Google Shape;113;p5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48</a:t>
            </a:fld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DC8F91-CC75-4B98-AEB6-63419CDCDC6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1832" t="33311" r="20842" b="16105"/>
          <a:stretch/>
        </p:blipFill>
        <p:spPr>
          <a:xfrm>
            <a:off x="2661719" y="2335795"/>
            <a:ext cx="6989276" cy="3313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30578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 dirty="0"/>
              <a:t>Inversion</a:t>
            </a:r>
            <a:endParaRPr dirty="0"/>
          </a:p>
        </p:txBody>
      </p:sp>
      <p:sp>
        <p:nvSpPr>
          <p:cNvPr id="113" name="Google Shape;113;p5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49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631449-4E88-4046-9018-7AD3A3130DA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1758" t="33035" r="20545" b="37250"/>
          <a:stretch/>
        </p:blipFill>
        <p:spPr>
          <a:xfrm>
            <a:off x="2652665" y="2317687"/>
            <a:ext cx="7034544" cy="1946495"/>
          </a:xfrm>
          <a:prstGeom prst="rect">
            <a:avLst/>
          </a:prstGeom>
        </p:spPr>
      </p:pic>
      <p:sp>
        <p:nvSpPr>
          <p:cNvPr id="6" name="Google Shape;105;p4">
            <a:extLst>
              <a:ext uri="{FF2B5EF4-FFF2-40B4-BE49-F238E27FC236}">
                <a16:creationId xmlns:a16="http://schemas.microsoft.com/office/drawing/2014/main" id="{F0FFE672-2F24-4221-BAD7-F95DBC349E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4164594"/>
            <a:ext cx="10515600" cy="1465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l"/>
            <a:r>
              <a:rPr lang="en-US" sz="2400" dirty="0">
                <a:latin typeface="Helvetica Neue Light" panose="020B0604020202020204" charset="0"/>
              </a:rPr>
              <a:t>Change in read pair </a:t>
            </a:r>
            <a:r>
              <a:rPr lang="en-US" sz="2400" b="1" dirty="0">
                <a:latin typeface="Helvetica Neue Light" panose="020B0604020202020204" charset="0"/>
              </a:rPr>
              <a:t>orientation and insert size</a:t>
            </a:r>
          </a:p>
        </p:txBody>
      </p:sp>
    </p:spTree>
    <p:extLst>
      <p:ext uri="{BB962C8B-B14F-4D97-AF65-F5344CB8AC3E}">
        <p14:creationId xmlns:p14="http://schemas.microsoft.com/office/powerpoint/2010/main" val="52652327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 dirty="0" err="1"/>
              <a:t>Colour</a:t>
            </a:r>
            <a:r>
              <a:rPr lang="en-US" dirty="0"/>
              <a:t> by pair orientation</a:t>
            </a:r>
            <a:endParaRPr dirty="0"/>
          </a:p>
        </p:txBody>
      </p:sp>
      <p:sp>
        <p:nvSpPr>
          <p:cNvPr id="113" name="Google Shape;113;p5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50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B20650-5813-407E-90BB-0771D1F97C2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173" t="33173" r="21659" b="11267"/>
          <a:stretch/>
        </p:blipFill>
        <p:spPr>
          <a:xfrm>
            <a:off x="3069125" y="2326741"/>
            <a:ext cx="6482282" cy="3639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29725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 dirty="0"/>
              <a:t>Inversion</a:t>
            </a:r>
            <a:endParaRPr dirty="0"/>
          </a:p>
        </p:txBody>
      </p:sp>
      <p:sp>
        <p:nvSpPr>
          <p:cNvPr id="113" name="Google Shape;113;p5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51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3DEDFD-068F-4168-9F9F-AB2519FBE73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396" t="25710" r="23441" b="8089"/>
          <a:stretch/>
        </p:blipFill>
        <p:spPr>
          <a:xfrm>
            <a:off x="3096284" y="1837853"/>
            <a:ext cx="6237839" cy="4336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95299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 dirty="0"/>
              <a:t>Summary of SV interpretation</a:t>
            </a:r>
            <a:endParaRPr dirty="0"/>
          </a:p>
        </p:txBody>
      </p:sp>
      <p:sp>
        <p:nvSpPr>
          <p:cNvPr id="113" name="Google Shape;113;p5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52</a:t>
            </a:fld>
            <a:endParaRPr/>
          </a:p>
        </p:txBody>
      </p:sp>
      <p:pic>
        <p:nvPicPr>
          <p:cNvPr id="8194" name="Picture 2" descr="Fig. 1: Major SV types and their characteristic read-alignment patterns.">
            <a:extLst>
              <a:ext uri="{FF2B5EF4-FFF2-40B4-BE49-F238E27FC236}">
                <a16:creationId xmlns:a16="http://schemas.microsoft.com/office/drawing/2014/main" id="{8C0A67B6-D655-42E3-A15C-6C1DB3E233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8445" y="1547293"/>
            <a:ext cx="9412586" cy="4258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9B7B6F4-6232-49DB-95AC-D18C50E861CE}"/>
              </a:ext>
            </a:extLst>
          </p:cNvPr>
          <p:cNvSpPr txBox="1"/>
          <p:nvPr/>
        </p:nvSpPr>
        <p:spPr>
          <a:xfrm>
            <a:off x="471534" y="5900436"/>
            <a:ext cx="14938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Helvetica Neue Light" panose="020B0604020202020204" charset="0"/>
              </a:rPr>
              <a:t>PMID: 33654267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73408137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 dirty="0"/>
              <a:t>Online genome browsers: UCSC</a:t>
            </a:r>
            <a:endParaRPr dirty="0"/>
          </a:p>
        </p:txBody>
      </p:sp>
      <p:sp>
        <p:nvSpPr>
          <p:cNvPr id="113" name="Google Shape;113;p5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53</a:t>
            </a:fld>
            <a:endParaRPr/>
          </a:p>
        </p:txBody>
      </p:sp>
      <p:sp>
        <p:nvSpPr>
          <p:cNvPr id="14" name="Google Shape;105;p4">
            <a:extLst>
              <a:ext uri="{FF2B5EF4-FFF2-40B4-BE49-F238E27FC236}">
                <a16:creationId xmlns:a16="http://schemas.microsoft.com/office/drawing/2014/main" id="{ACDB7B4D-B6AE-4923-AC21-5498DB4C9C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690687"/>
            <a:ext cx="10515600" cy="4519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algn="l"/>
            <a:r>
              <a:rPr lang="en-US" sz="2400" b="1" dirty="0">
                <a:latin typeface="Helvetica Neue Light" panose="020B0604020202020204" charset="0"/>
              </a:rPr>
              <a:t>Rich annotations, easy web access</a:t>
            </a:r>
          </a:p>
          <a:p>
            <a:pPr algn="l"/>
            <a:r>
              <a:rPr lang="en-US" sz="2400" dirty="0">
                <a:latin typeface="Helvetica Neue Light" panose="020B0604020202020204" charset="0"/>
              </a:rPr>
              <a:t>Less suitable for detailed review of BAM/CRAM sequencing alignments</a:t>
            </a:r>
          </a:p>
          <a:p>
            <a:pPr algn="l"/>
            <a:endParaRPr lang="en-US" sz="2400" dirty="0">
              <a:latin typeface="Helvetica Neue Light" panose="020B0604020202020204" charset="0"/>
            </a:endParaRPr>
          </a:p>
          <a:p>
            <a:pPr algn="l">
              <a:lnSpc>
                <a:spcPct val="120000"/>
              </a:lnSpc>
            </a:pPr>
            <a:r>
              <a:rPr lang="en-US" sz="2400" dirty="0">
                <a:latin typeface="Helvetica Neue Light" panose="020B0604020202020204" charset="0"/>
              </a:rPr>
              <a:t>View genes, transcripts, variants, regulatory regions, conservation, and many other annotations</a:t>
            </a:r>
          </a:p>
          <a:p>
            <a:pPr algn="l">
              <a:lnSpc>
                <a:spcPct val="120000"/>
              </a:lnSpc>
            </a:pPr>
            <a:r>
              <a:rPr lang="en-US" sz="2400" dirty="0">
                <a:latin typeface="Helvetica Neue Light" panose="020B0604020202020204" charset="0"/>
              </a:rPr>
              <a:t>Navigate from whole chromosomes down to individual nucleotides</a:t>
            </a:r>
          </a:p>
          <a:p>
            <a:pPr algn="l">
              <a:lnSpc>
                <a:spcPct val="120000"/>
              </a:lnSpc>
            </a:pPr>
            <a:r>
              <a:rPr lang="en-US" sz="2400" dirty="0">
                <a:latin typeface="Helvetica Neue Light" panose="020B0604020202020204" charset="0"/>
              </a:rPr>
              <a:t>Integrates hundreds of public datasets (</a:t>
            </a:r>
            <a:r>
              <a:rPr lang="en-US" sz="2400" dirty="0" err="1">
                <a:latin typeface="Helvetica Neue Light" panose="020B0604020202020204" charset="0"/>
              </a:rPr>
              <a:t>ClinVar</a:t>
            </a:r>
            <a:r>
              <a:rPr lang="en-US" sz="2400" dirty="0">
                <a:latin typeface="Helvetica Neue Light" panose="020B0604020202020204" charset="0"/>
              </a:rPr>
              <a:t>, </a:t>
            </a:r>
            <a:r>
              <a:rPr lang="en-US" sz="2400" dirty="0" err="1">
                <a:latin typeface="Helvetica Neue Light" panose="020B0604020202020204" charset="0"/>
              </a:rPr>
              <a:t>dbSNP</a:t>
            </a:r>
            <a:r>
              <a:rPr lang="en-US" sz="2400" dirty="0">
                <a:latin typeface="Helvetica Neue Light" panose="020B0604020202020204" charset="0"/>
              </a:rPr>
              <a:t>, ENCODE, </a:t>
            </a:r>
            <a:r>
              <a:rPr lang="en-US" sz="2400" dirty="0" err="1">
                <a:latin typeface="Helvetica Neue Light" panose="020B0604020202020204" charset="0"/>
              </a:rPr>
              <a:t>GTEx</a:t>
            </a:r>
            <a:r>
              <a:rPr lang="en-US" sz="2400" dirty="0">
                <a:latin typeface="Helvetica Neue Light" panose="020B0604020202020204" charset="0"/>
              </a:rPr>
              <a:t>, etc.)</a:t>
            </a:r>
          </a:p>
          <a:p>
            <a:pPr algn="l">
              <a:lnSpc>
                <a:spcPct val="120000"/>
              </a:lnSpc>
            </a:pPr>
            <a:r>
              <a:rPr lang="en-US" sz="2400" dirty="0">
                <a:latin typeface="Helvetica Neue Light" panose="020B0604020202020204" charset="0"/>
              </a:rPr>
              <a:t>Supports custom tracks for visualizing your own BED, VCF, </a:t>
            </a:r>
            <a:r>
              <a:rPr lang="en-US" sz="2400" dirty="0" err="1">
                <a:latin typeface="Helvetica Neue Light" panose="020B0604020202020204" charset="0"/>
              </a:rPr>
              <a:t>BigWig</a:t>
            </a:r>
            <a:r>
              <a:rPr lang="en-US" sz="2400" dirty="0">
                <a:latin typeface="Helvetica Neue Light" panose="020B0604020202020204" charset="0"/>
              </a:rPr>
              <a:t>, and other data files</a:t>
            </a:r>
          </a:p>
          <a:p>
            <a:pPr algn="l">
              <a:lnSpc>
                <a:spcPct val="120000"/>
              </a:lnSpc>
            </a:pPr>
            <a:r>
              <a:rPr lang="en-US" sz="2400" dirty="0">
                <a:latin typeface="Helvetica Neue Light" panose="020B0604020202020204" charset="0"/>
              </a:rPr>
              <a:t>Includes tools for sequence retrieval, coordinate conversion (</a:t>
            </a:r>
            <a:r>
              <a:rPr lang="en-US" sz="2400" dirty="0" err="1">
                <a:latin typeface="Helvetica Neue Light" panose="020B0604020202020204" charset="0"/>
              </a:rPr>
              <a:t>liftOver</a:t>
            </a:r>
            <a:r>
              <a:rPr lang="en-US" sz="2400" dirty="0">
                <a:latin typeface="Helvetica Neue Light" panose="020B0604020202020204" charset="0"/>
              </a:rPr>
              <a:t>), and data mining (Table Browser)</a:t>
            </a:r>
          </a:p>
          <a:p>
            <a:pPr algn="l"/>
            <a:endParaRPr lang="en-US" sz="2400" dirty="0">
              <a:latin typeface="Helvetica Neue Light" panose="020B0604020202020204" charset="0"/>
            </a:endParaRPr>
          </a:p>
          <a:p>
            <a:pPr algn="l"/>
            <a:r>
              <a:rPr lang="en-US" sz="2400" dirty="0">
                <a:latin typeface="Helvetica Neue Light" panose="020B0604020202020204" charset="0"/>
                <a:hlinkClick r:id="rId3"/>
              </a:rPr>
              <a:t>https://genome.ucsc.edu</a:t>
            </a:r>
            <a:endParaRPr lang="en-US" sz="2400" dirty="0">
              <a:latin typeface="Helvetica Neue 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285123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 dirty="0"/>
              <a:t>Online genome browsers: UCSC</a:t>
            </a:r>
            <a:endParaRPr dirty="0"/>
          </a:p>
        </p:txBody>
      </p:sp>
      <p:sp>
        <p:nvSpPr>
          <p:cNvPr id="113" name="Google Shape;113;p5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54</a:t>
            </a:fld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1F7CEA-6C58-435E-9B46-8481C5A6BE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253" y="0"/>
            <a:ext cx="1193549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6379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 dirty="0"/>
              <a:t>Online genome browsers: UCSC</a:t>
            </a:r>
            <a:endParaRPr dirty="0"/>
          </a:p>
        </p:txBody>
      </p:sp>
      <p:sp>
        <p:nvSpPr>
          <p:cNvPr id="113" name="Google Shape;113;p5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55</a:t>
            </a:fld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1F7CEA-6C58-435E-9B46-8481C5A6BE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253" y="0"/>
            <a:ext cx="11935493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956CE0C-B353-4C29-91A1-BC8AA65FB9EF}"/>
              </a:ext>
            </a:extLst>
          </p:cNvPr>
          <p:cNvSpPr txBox="1"/>
          <p:nvPr/>
        </p:nvSpPr>
        <p:spPr>
          <a:xfrm>
            <a:off x="452673" y="1520982"/>
            <a:ext cx="1240325" cy="523220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ln>
            <a:solidFill>
              <a:schemeClr val="bg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2">
                    <a:lumMod val="75000"/>
                    <a:lumOff val="25000"/>
                  </a:schemeClr>
                </a:solidFill>
                <a:latin typeface="Helvetica Neue Light" panose="020B0604020202020204" charset="0"/>
              </a:rPr>
              <a:t>Genes and transcripts</a:t>
            </a:r>
            <a:endParaRPr lang="en-CA" b="1" dirty="0">
              <a:solidFill>
                <a:schemeClr val="bg2">
                  <a:lumMod val="75000"/>
                  <a:lumOff val="25000"/>
                </a:schemeClr>
              </a:solidFill>
              <a:latin typeface="Helvetica Neue Light" panose="020B060402020202020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DF4147-731F-4064-9A52-06618B77AE00}"/>
              </a:ext>
            </a:extLst>
          </p:cNvPr>
          <p:cNvSpPr txBox="1"/>
          <p:nvPr/>
        </p:nvSpPr>
        <p:spPr>
          <a:xfrm>
            <a:off x="51249" y="3411295"/>
            <a:ext cx="1132438" cy="307777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ln>
            <a:solidFill>
              <a:schemeClr val="bg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2">
                    <a:lumMod val="75000"/>
                    <a:lumOff val="25000"/>
                  </a:schemeClr>
                </a:solidFill>
                <a:latin typeface="Helvetica Neue Light" panose="020B0604020202020204" charset="0"/>
              </a:rPr>
              <a:t>Variation</a:t>
            </a:r>
            <a:endParaRPr lang="en-CA" b="1" dirty="0">
              <a:solidFill>
                <a:schemeClr val="bg2">
                  <a:lumMod val="75000"/>
                  <a:lumOff val="25000"/>
                </a:schemeClr>
              </a:solidFill>
              <a:latin typeface="Helvetica Neue Light" panose="020B060402020202020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EF2680-B2F6-4C66-86FC-C4140AD092BE}"/>
              </a:ext>
            </a:extLst>
          </p:cNvPr>
          <p:cNvSpPr txBox="1"/>
          <p:nvPr/>
        </p:nvSpPr>
        <p:spPr>
          <a:xfrm>
            <a:off x="51249" y="4289287"/>
            <a:ext cx="1132438" cy="307777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ln>
            <a:solidFill>
              <a:schemeClr val="bg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2">
                    <a:lumMod val="75000"/>
                    <a:lumOff val="25000"/>
                  </a:schemeClr>
                </a:solidFill>
                <a:latin typeface="Helvetica Neue Light" panose="020B0604020202020204" charset="0"/>
              </a:rPr>
              <a:t>Regulation</a:t>
            </a:r>
            <a:endParaRPr lang="en-CA" b="1" dirty="0">
              <a:solidFill>
                <a:schemeClr val="bg2">
                  <a:lumMod val="75000"/>
                  <a:lumOff val="25000"/>
                </a:schemeClr>
              </a:solidFill>
              <a:latin typeface="Helvetica Neue Light" panose="020B060402020202020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E2051A-5471-485D-8849-8B16E04F668E}"/>
              </a:ext>
            </a:extLst>
          </p:cNvPr>
          <p:cNvSpPr txBox="1"/>
          <p:nvPr/>
        </p:nvSpPr>
        <p:spPr>
          <a:xfrm>
            <a:off x="51249" y="5183129"/>
            <a:ext cx="1240324" cy="307777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ln>
            <a:solidFill>
              <a:schemeClr val="bg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2">
                    <a:lumMod val="75000"/>
                    <a:lumOff val="25000"/>
                  </a:schemeClr>
                </a:solidFill>
                <a:latin typeface="Helvetica Neue Light" panose="020B0604020202020204" charset="0"/>
              </a:rPr>
              <a:t>Conservation</a:t>
            </a:r>
            <a:endParaRPr lang="en-CA" b="1" dirty="0">
              <a:solidFill>
                <a:schemeClr val="bg2">
                  <a:lumMod val="75000"/>
                  <a:lumOff val="25000"/>
                </a:schemeClr>
              </a:solidFill>
              <a:latin typeface="Helvetica Neue Light" panose="020B060402020202020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6735F4-36AD-4C1D-929A-86AE64D88D84}"/>
              </a:ext>
            </a:extLst>
          </p:cNvPr>
          <p:cNvSpPr txBox="1"/>
          <p:nvPr/>
        </p:nvSpPr>
        <p:spPr>
          <a:xfrm>
            <a:off x="51249" y="5712787"/>
            <a:ext cx="1240324" cy="307777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ln>
            <a:solidFill>
              <a:schemeClr val="bg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2">
                    <a:lumMod val="75000"/>
                    <a:lumOff val="25000"/>
                  </a:schemeClr>
                </a:solidFill>
                <a:latin typeface="Helvetica Neue Light" panose="020B0604020202020204" charset="0"/>
              </a:rPr>
              <a:t>Repeats</a:t>
            </a:r>
            <a:endParaRPr lang="en-CA" b="1" dirty="0">
              <a:solidFill>
                <a:schemeClr val="bg2">
                  <a:lumMod val="75000"/>
                  <a:lumOff val="25000"/>
                </a:schemeClr>
              </a:solidFill>
              <a:latin typeface="Helvetica Neue 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131344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 dirty="0"/>
              <a:t>View variation</a:t>
            </a:r>
            <a:endParaRPr dirty="0"/>
          </a:p>
        </p:txBody>
      </p:sp>
      <p:sp>
        <p:nvSpPr>
          <p:cNvPr id="113" name="Google Shape;113;p5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56</a:t>
            </a:fld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666EF4-A842-47C4-8F51-60990EB6F47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214" t="15445" r="13388" b="15644"/>
          <a:stretch/>
        </p:blipFill>
        <p:spPr>
          <a:xfrm>
            <a:off x="1451572" y="1330859"/>
            <a:ext cx="8999145" cy="4725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76805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 dirty="0"/>
              <a:t>Load custom data tracks</a:t>
            </a:r>
            <a:endParaRPr dirty="0"/>
          </a:p>
        </p:txBody>
      </p:sp>
      <p:sp>
        <p:nvSpPr>
          <p:cNvPr id="113" name="Google Shape;113;p5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57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BED9E6-9EA2-4AFD-8C90-081C50BE66A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871" t="15445" r="11897" b="45611"/>
          <a:stretch/>
        </p:blipFill>
        <p:spPr>
          <a:xfrm>
            <a:off x="463175" y="1690688"/>
            <a:ext cx="11311725" cy="33203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B287C03-6842-4906-A3D0-CD4D544CC9D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2883" t="48713" r="26738" b="41386"/>
          <a:stretch/>
        </p:blipFill>
        <p:spPr>
          <a:xfrm>
            <a:off x="1122629" y="5321997"/>
            <a:ext cx="9807531" cy="924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14448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 dirty="0"/>
              <a:t>Table browser</a:t>
            </a:r>
            <a:endParaRPr dirty="0"/>
          </a:p>
        </p:txBody>
      </p:sp>
      <p:sp>
        <p:nvSpPr>
          <p:cNvPr id="113" name="Google Shape;113;p5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58</a:t>
            </a:fld>
            <a:endParaRPr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21F6FE86-E425-41F0-B84E-4E8B10D97F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301" y="1425786"/>
            <a:ext cx="10227398" cy="5067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0D3570E-0572-4424-A218-5019D6904500}"/>
              </a:ext>
            </a:extLst>
          </p:cNvPr>
          <p:cNvSpPr txBox="1"/>
          <p:nvPr/>
        </p:nvSpPr>
        <p:spPr>
          <a:xfrm>
            <a:off x="7335570" y="6108628"/>
            <a:ext cx="46874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solidFill>
                  <a:schemeClr val="tx2">
                    <a:lumMod val="50000"/>
                  </a:schemeClr>
                </a:solidFill>
                <a:latin typeface="Helvetica Neue Light" panose="020B0604020202020204" charset="0"/>
              </a:rPr>
              <a:t>https://genome.ucsc.edu/docs/tableBrowserTutorial.html</a:t>
            </a:r>
          </a:p>
        </p:txBody>
      </p:sp>
    </p:spTree>
    <p:extLst>
      <p:ext uri="{BB962C8B-B14F-4D97-AF65-F5344CB8AC3E}">
        <p14:creationId xmlns:p14="http://schemas.microsoft.com/office/powerpoint/2010/main" val="32987284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 dirty="0"/>
              <a:t>Visualization summary</a:t>
            </a:r>
            <a:endParaRPr dirty="0"/>
          </a:p>
        </p:txBody>
      </p:sp>
      <p:sp>
        <p:nvSpPr>
          <p:cNvPr id="113" name="Google Shape;113;p5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59</a:t>
            </a:fld>
            <a:endParaRPr/>
          </a:p>
        </p:txBody>
      </p:sp>
      <p:sp>
        <p:nvSpPr>
          <p:cNvPr id="14" name="Google Shape;105;p4">
            <a:extLst>
              <a:ext uri="{FF2B5EF4-FFF2-40B4-BE49-F238E27FC236}">
                <a16:creationId xmlns:a16="http://schemas.microsoft.com/office/drawing/2014/main" id="{ACDB7B4D-B6AE-4923-AC21-5498DB4C9C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690687"/>
            <a:ext cx="11021840" cy="4519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l"/>
            <a:r>
              <a:rPr lang="en-US" sz="2400" dirty="0">
                <a:latin typeface="Helvetica Neue Light" panose="020B0604020202020204" charset="0"/>
              </a:rPr>
              <a:t>No single visualization works for every genomic question</a:t>
            </a:r>
          </a:p>
          <a:p>
            <a:pPr algn="l"/>
            <a:r>
              <a:rPr lang="en-US" sz="2400" b="1" dirty="0">
                <a:latin typeface="Helvetica Neue Light" panose="020B0604020202020204" charset="0"/>
              </a:rPr>
              <a:t>IGV</a:t>
            </a:r>
            <a:r>
              <a:rPr lang="en-US" sz="2400" dirty="0">
                <a:latin typeface="Helvetica Neue Light" panose="020B0604020202020204" charset="0"/>
              </a:rPr>
              <a:t> for detailed sequencing review</a:t>
            </a:r>
          </a:p>
          <a:p>
            <a:pPr algn="l"/>
            <a:r>
              <a:rPr lang="en-US" sz="2400" b="1" dirty="0">
                <a:latin typeface="Helvetica Neue Light" panose="020B0604020202020204" charset="0"/>
              </a:rPr>
              <a:t>UCSC Genome Browser</a:t>
            </a:r>
            <a:r>
              <a:rPr lang="en-US" sz="2400" dirty="0">
                <a:latin typeface="Helvetica Neue Light" panose="020B0604020202020204" charset="0"/>
              </a:rPr>
              <a:t> or </a:t>
            </a:r>
            <a:r>
              <a:rPr lang="en-US" sz="2400" dirty="0" err="1">
                <a:latin typeface="Helvetica Neue Light" panose="020B0604020202020204" charset="0"/>
              </a:rPr>
              <a:t>Ensembl</a:t>
            </a:r>
            <a:r>
              <a:rPr lang="en-US" sz="2400" dirty="0">
                <a:latin typeface="Helvetica Neue Light" panose="020B0604020202020204" charset="0"/>
              </a:rPr>
              <a:t> for public annotations</a:t>
            </a:r>
          </a:p>
          <a:p>
            <a:pPr algn="l"/>
            <a:r>
              <a:rPr lang="en-US" sz="2400" b="1" dirty="0">
                <a:latin typeface="Helvetica Neue Light" panose="020B0604020202020204" charset="0"/>
              </a:rPr>
              <a:t>PCA, heatmaps, network diagrams </a:t>
            </a:r>
            <a:r>
              <a:rPr lang="en-US" sz="2400" dirty="0" err="1">
                <a:latin typeface="Helvetica Neue Light" panose="020B0604020202020204" charset="0"/>
              </a:rPr>
              <a:t>etc</a:t>
            </a:r>
            <a:r>
              <a:rPr lang="en-US" sz="2400" dirty="0">
                <a:latin typeface="Helvetica Neue Light" panose="020B0604020202020204" charset="0"/>
              </a:rPr>
              <a:t> for data analysis</a:t>
            </a:r>
          </a:p>
          <a:p>
            <a:pPr algn="l"/>
            <a:endParaRPr lang="en-US" sz="2400" dirty="0">
              <a:latin typeface="Helvetica Neue Light" panose="020B0604020202020204" charset="0"/>
            </a:endParaRPr>
          </a:p>
          <a:p>
            <a:pPr algn="l"/>
            <a:r>
              <a:rPr lang="en-US" sz="2400" b="1" dirty="0">
                <a:latin typeface="Helvetica Neue Light" panose="020B0604020202020204" charset="0"/>
              </a:rPr>
              <a:t>Choose the visualization that best answers the biological question</a:t>
            </a:r>
          </a:p>
          <a:p>
            <a:pPr algn="l"/>
            <a:endParaRPr lang="en-US" sz="2400" dirty="0">
              <a:latin typeface="Helvetica Neue 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486582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"/>
          <p:cNvSpPr txBox="1">
            <a:spLocks noGrp="1"/>
          </p:cNvSpPr>
          <p:nvPr>
            <p:ph type="title"/>
          </p:nvPr>
        </p:nvSpPr>
        <p:spPr>
          <a:xfrm>
            <a:off x="838200" y="210343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/>
              <a:t>Coffee Break &amp; Networking Session</a:t>
            </a:r>
            <a:endParaRPr/>
          </a:p>
        </p:txBody>
      </p:sp>
      <p:sp>
        <p:nvSpPr>
          <p:cNvPr id="120" name="Google Shape;120;p6"/>
          <p:cNvSpPr txBox="1">
            <a:spLocks noGrp="1"/>
          </p:cNvSpPr>
          <p:nvPr>
            <p:ph type="body" idx="1"/>
          </p:nvPr>
        </p:nvSpPr>
        <p:spPr>
          <a:xfrm>
            <a:off x="4386275" y="4087063"/>
            <a:ext cx="3419400" cy="5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Workshop Sponsors</a:t>
            </a:r>
            <a:endParaRPr/>
          </a:p>
        </p:txBody>
      </p:sp>
      <p:pic>
        <p:nvPicPr>
          <p:cNvPr id="121" name="Google Shape;121;p6" title="cihr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8890" y="4826757"/>
            <a:ext cx="3500780" cy="833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6" title="oicr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18232" y="4787446"/>
            <a:ext cx="1256757" cy="91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6" title="genomecanada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98627" y="4826745"/>
            <a:ext cx="1724888" cy="8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6" title="ontariogenomics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42488" y="4852281"/>
            <a:ext cx="1956783" cy="782704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6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60</a:t>
            </a:fld>
            <a:endParaRPr/>
          </a:p>
        </p:txBody>
      </p:sp>
      <p:pic>
        <p:nvPicPr>
          <p:cNvPr id="126" name="Google Shape;126;p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493962" y="4944438"/>
            <a:ext cx="2519149" cy="59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Custom Design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ustom Design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4417</TotalTime>
  <Words>1191</Words>
  <Application>Microsoft Office PowerPoint</Application>
  <PresentationFormat>Widescreen</PresentationFormat>
  <Paragraphs>293</Paragraphs>
  <Slides>60</Slides>
  <Notes>60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60</vt:i4>
      </vt:variant>
    </vt:vector>
  </HeadingPairs>
  <TitlesOfParts>
    <vt:vector size="68" baseType="lpstr">
      <vt:lpstr>Helvetica Neue Light</vt:lpstr>
      <vt:lpstr>Manrope</vt:lpstr>
      <vt:lpstr>Courier New</vt:lpstr>
      <vt:lpstr>Arial</vt:lpstr>
      <vt:lpstr>Helvetica Neue</vt:lpstr>
      <vt:lpstr>1_Custom Design</vt:lpstr>
      <vt:lpstr>Office Theme</vt:lpstr>
      <vt:lpstr>Custom Design</vt:lpstr>
      <vt:lpstr>PowerPoint Presentation</vt:lpstr>
      <vt:lpstr>PowerPoint Presentation</vt:lpstr>
      <vt:lpstr>Module 2: Genome Visualization</vt:lpstr>
      <vt:lpstr>Learning Objectives</vt:lpstr>
      <vt:lpstr>Overview</vt:lpstr>
      <vt:lpstr>Why visualize?</vt:lpstr>
      <vt:lpstr>Data interpretation</vt:lpstr>
      <vt:lpstr>Data interpretation</vt:lpstr>
      <vt:lpstr>Data interpretation</vt:lpstr>
      <vt:lpstr>Data size &amp; complexity</vt:lpstr>
      <vt:lpstr>PCA/tSNE/UMAP</vt:lpstr>
      <vt:lpstr>Heatmaps / oncoplots</vt:lpstr>
      <vt:lpstr>Circos diagrams</vt:lpstr>
      <vt:lpstr>Pathways/networks</vt:lpstr>
      <vt:lpstr>Genome browsers</vt:lpstr>
      <vt:lpstr>Popular genome browsers</vt:lpstr>
      <vt:lpstr>Integrative Genomics Viewer (IGV)</vt:lpstr>
      <vt:lpstr>Features</vt:lpstr>
      <vt:lpstr>A note about genome assemblies</vt:lpstr>
      <vt:lpstr>IGV data sources</vt:lpstr>
      <vt:lpstr>Using IGV: The basics</vt:lpstr>
      <vt:lpstr>Launch IGV and select genome</vt:lpstr>
      <vt:lpstr>Load data</vt:lpstr>
      <vt:lpstr>Screen layout</vt:lpstr>
      <vt:lpstr>File formats and track types</vt:lpstr>
      <vt:lpstr>Viewing alignments</vt:lpstr>
      <vt:lpstr>Viewing alignments – Zoom in</vt:lpstr>
      <vt:lpstr>Viewing alignments – Zoom in</vt:lpstr>
      <vt:lpstr>SNVs and structural variants</vt:lpstr>
      <vt:lpstr>Viewing SNPs and SNVs</vt:lpstr>
      <vt:lpstr>Viewing SNPs and SNVs</vt:lpstr>
      <vt:lpstr>Viewing structural variants</vt:lpstr>
      <vt:lpstr>Paired-end sequencing</vt:lpstr>
      <vt:lpstr>Interpreting inferred insert size</vt:lpstr>
      <vt:lpstr>Deletion</vt:lpstr>
      <vt:lpstr>Deletion</vt:lpstr>
      <vt:lpstr>Deletion</vt:lpstr>
      <vt:lpstr>Deletion</vt:lpstr>
      <vt:lpstr>Colour by insert size</vt:lpstr>
      <vt:lpstr>Deletion</vt:lpstr>
      <vt:lpstr>Insertion</vt:lpstr>
      <vt:lpstr>Insertion</vt:lpstr>
      <vt:lpstr>Insertion</vt:lpstr>
      <vt:lpstr>Insert size colour scheme</vt:lpstr>
      <vt:lpstr>Translocation</vt:lpstr>
      <vt:lpstr>Interpreting read-pair orientations</vt:lpstr>
      <vt:lpstr>Inversion</vt:lpstr>
      <vt:lpstr>Inversion</vt:lpstr>
      <vt:lpstr>Inversion</vt:lpstr>
      <vt:lpstr>Colour by pair orientation</vt:lpstr>
      <vt:lpstr>Inversion</vt:lpstr>
      <vt:lpstr>Summary of SV interpretation</vt:lpstr>
      <vt:lpstr>Online genome browsers: UCSC</vt:lpstr>
      <vt:lpstr>Online genome browsers: UCSC</vt:lpstr>
      <vt:lpstr>Online genome browsers: UCSC</vt:lpstr>
      <vt:lpstr>View variation</vt:lpstr>
      <vt:lpstr>Load custom data tracks</vt:lpstr>
      <vt:lpstr>Table browser</vt:lpstr>
      <vt:lpstr>Visualization summary</vt:lpstr>
      <vt:lpstr>Coffee Break &amp; Networking Session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Nia Hughes</dc:creator>
  <cp:lastModifiedBy>Erin Pleasance</cp:lastModifiedBy>
  <cp:revision>46</cp:revision>
  <dcterms:created xsi:type="dcterms:W3CDTF">2025-05-15T14:28:53Z</dcterms:created>
  <dcterms:modified xsi:type="dcterms:W3CDTF">2026-10-22T18:10:41Z</dcterms:modified>
</cp:coreProperties>
</file>